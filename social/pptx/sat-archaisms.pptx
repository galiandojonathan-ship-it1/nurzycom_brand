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24320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2093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АРХАИЗМЫ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1014413"/>
            <a:ext cx="6300216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0"/>
              </a:lnSpc>
              <a:buNone/>
            </a:pPr>
            <a:r>
              <a:rPr lang="en-US" sz="44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Знакомые слова, которые </a:t>
            </a:r>
            <a:pPr algn="l" indent="0" marL="0">
              <a:lnSpc>
                <a:spcPts val="4490"/>
              </a:lnSpc>
              <a:buNone/>
            </a:pPr>
            <a:r>
              <a:rPr lang="en-US" sz="50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врут</a:t>
            </a:r>
            <a:pPr algn="l" indent="0" marL="0">
              <a:lnSpc>
                <a:spcPts val="4490"/>
              </a:lnSpc>
              <a:buNone/>
            </a:pPr>
            <a:r>
              <a:rPr lang="en-US" sz="44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на SAT</a:t>
            </a:r>
            <a:endParaRPr lang="en-US" sz="4400" dirty="0"/>
          </a:p>
        </p:txBody>
      </p:sp>
      <p:sp>
        <p:nvSpPr>
          <p:cNvPr id="7" name="text-6"/>
          <p:cNvSpPr txBox="1"/>
          <p:nvPr/>
        </p:nvSpPr>
        <p:spPr>
          <a:xfrm>
            <a:off x="457845" y="2410817"/>
            <a:ext cx="542518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 слов, которые в старых текстах значат совсем другое.</a:t>
            </a:r>
            <a:endParaRPr lang="en-US" sz="1600" dirty="0"/>
          </a:p>
        </p:txBody>
      </p:sp>
      <p:sp>
        <p:nvSpPr>
          <p:cNvPr id="8" name="shape-7"/>
          <p:cNvSpPr/>
          <p:nvPr/>
        </p:nvSpPr>
        <p:spPr>
          <a:xfrm rot="-120000">
            <a:off x="571500" y="3556595"/>
            <a:ext cx="5715000" cy="22987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300000">
            <a:off x="2913504" y="3442385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0" name="text-9"/>
          <p:cNvSpPr txBox="1"/>
          <p:nvPr/>
        </p:nvSpPr>
        <p:spPr>
          <a:xfrm rot="-120000">
            <a:off x="886831" y="3861060"/>
            <a:ext cx="535787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O Romeo, Romeo! </a:t>
            </a:r>
            <a:pPr algn="l" indent="0" marL="0">
              <a:lnSpc>
                <a:spcPts val="3300"/>
              </a:lnSpc>
              <a:buNone/>
            </a:pPr>
            <a:r>
              <a:rPr lang="en-US" sz="3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Wherefore</a:t>
            </a:r>
            <a:pPr algn="l" indent="0" marL="0">
              <a:lnSpc>
                <a:spcPts val="3300"/>
              </a:lnSpc>
              <a:buNone/>
            </a:pPr>
            <a:r>
              <a:rPr lang="en-US" sz="3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art thou Romeo?</a:t>
            </a:r>
            <a:endParaRPr lang="en-US" sz="3000" dirty="0"/>
          </a:p>
        </p:txBody>
      </p:sp>
      <p:sp>
        <p:nvSpPr>
          <p:cNvPr id="11" name="text-10"/>
          <p:cNvSpPr txBox="1"/>
          <p:nvPr/>
        </p:nvSpPr>
        <p:spPr>
          <a:xfrm rot="-120000">
            <a:off x="907109" y="4787805"/>
            <a:ext cx="535787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1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ШЕКСПИР · «РОМЕО И ДЖУЛЬЕТТА»</a:t>
            </a:r>
            <a:endParaRPr lang="en-US" sz="900" dirty="0"/>
          </a:p>
        </p:txBody>
      </p:sp>
      <p:sp>
        <p:nvSpPr>
          <p:cNvPr id="12" name="text-11"/>
          <p:cNvSpPr txBox="1"/>
          <p:nvPr/>
        </p:nvSpPr>
        <p:spPr>
          <a:xfrm rot="-120000">
            <a:off x="923750" y="5073860"/>
            <a:ext cx="5357876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Джульетта спрашивает не «где ты», а «почему ты Ромео».</a:t>
            </a:r>
            <a:endParaRPr lang="en-US" sz="1600" dirty="0"/>
          </a:p>
        </p:txBody>
      </p:sp>
      <p:pic>
        <p:nvPicPr>
          <p:cNvPr id="13" name="svg-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00" y="3556000"/>
            <a:ext cx="279400" cy="279400"/>
          </a:xfrm>
          <a:prstGeom prst="rect">
            <a:avLst/>
          </a:prstGeom>
        </p:spPr>
      </p:pic>
      <p:pic>
        <p:nvPicPr>
          <p:cNvPr id="14" name="svg-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7493000"/>
            <a:ext cx="190500" cy="190500"/>
          </a:xfrm>
          <a:prstGeom prst="rect">
            <a:avLst/>
          </a:prstGeom>
        </p:spPr>
      </p:pic>
      <p:sp>
        <p:nvSpPr>
          <p:cNvPr id="15" name="text-14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6" name="shape-15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7" name="text-16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19" name="shape-18"/>
          <p:cNvSpPr/>
          <p:nvPr/>
        </p:nvSpPr>
        <p:spPr>
          <a:xfrm rot="300000">
            <a:off x="4223445" y="6096000"/>
            <a:ext cx="2127250" cy="4254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0" name="text-19"/>
          <p:cNvSpPr txBox="1"/>
          <p:nvPr/>
        </p:nvSpPr>
        <p:spPr>
          <a:xfrm rot="300000">
            <a:off x="4375845" y="6184900"/>
            <a:ext cx="193179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1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wherefore = почему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30861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27866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ЗАЧЕМ ЭТО ЗНАТЬ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0913"/>
            <a:ext cx="6300216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0"/>
              </a:lnSpc>
              <a:buNone/>
            </a:pPr>
            <a:r>
              <a:rPr lang="en-US" sz="44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Откуда на SAT </a:t>
            </a:r>
            <a:pPr algn="l" indent="0" marL="0">
              <a:lnSpc>
                <a:spcPts val="4490"/>
              </a:lnSpc>
              <a:buNone/>
            </a:pPr>
            <a:r>
              <a:rPr lang="en-US" sz="50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старые</a:t>
            </a:r>
            <a:pPr algn="l" indent="0" marL="0">
              <a:lnSpc>
                <a:spcPts val="4490"/>
              </a:lnSpc>
              <a:buNone/>
            </a:pPr>
            <a:r>
              <a:rPr lang="en-US" sz="44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слова</a:t>
            </a:r>
            <a:endParaRPr lang="en-US" sz="4400" dirty="0"/>
          </a:p>
        </p:txBody>
      </p:sp>
      <p:sp>
        <p:nvSpPr>
          <p:cNvPr id="7" name="text-6"/>
          <p:cNvSpPr txBox="1"/>
          <p:nvPr/>
        </p:nvSpPr>
        <p:spPr>
          <a:xfrm>
            <a:off x="457398" y="2334865"/>
            <a:ext cx="5997321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 литературных отрывках SAT часто берёт классику XIX и начала XX века. Тогда многие обычные слова значили другое.</a:t>
            </a:r>
            <a:endParaRPr lang="en-US" sz="1600" dirty="0"/>
          </a:p>
        </p:txBody>
      </p:sp>
      <p:sp>
        <p:nvSpPr>
          <p:cNvPr id="8" name="text-7"/>
          <p:cNvSpPr txBox="1"/>
          <p:nvPr/>
        </p:nvSpPr>
        <p:spPr>
          <a:xfrm>
            <a:off x="457398" y="3300661"/>
            <a:ext cx="59973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А вопрос звучит так:</a:t>
            </a:r>
            <a:endParaRPr lang="en-US" sz="1600" dirty="0"/>
          </a:p>
        </p:txBody>
      </p:sp>
      <p:sp>
        <p:nvSpPr>
          <p:cNvPr id="9" name="shape-8"/>
          <p:cNvSpPr/>
          <p:nvPr/>
        </p:nvSpPr>
        <p:spPr>
          <a:xfrm rot="-90000">
            <a:off x="457200" y="3874691"/>
            <a:ext cx="5943600" cy="1441450"/>
          </a:xfrm>
          <a:prstGeom prst="roundRect">
            <a:avLst>
              <a:gd name="adj" fmla="val 13216"/>
            </a:avLst>
          </a:prstGeom>
          <a:solidFill>
            <a:srgbClr val="0A0A0A"/>
          </a:solidFill>
          <a:ln/>
        </p:spPr>
      </p:sp>
      <p:sp>
        <p:nvSpPr>
          <p:cNvPr id="10" name="text-9"/>
          <p:cNvSpPr txBox="1"/>
          <p:nvPr/>
        </p:nvSpPr>
        <p:spPr>
          <a:xfrm rot="-90000">
            <a:off x="738963" y="4127635"/>
            <a:ext cx="568096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ТИПИЧНЫЙ ВОПРОС</a:t>
            </a:r>
            <a:endParaRPr lang="en-US" sz="900" dirty="0"/>
          </a:p>
        </p:txBody>
      </p:sp>
      <p:sp>
        <p:nvSpPr>
          <p:cNvPr id="11" name="text-10"/>
          <p:cNvSpPr txBox="1"/>
          <p:nvPr/>
        </p:nvSpPr>
        <p:spPr>
          <a:xfrm rot="-90000">
            <a:off x="752375" y="4363600"/>
            <a:ext cx="568096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As used in the text, what does the word «…» most nearly mean?</a:t>
            </a:r>
            <a:endParaRPr lang="en-US" sz="2300" dirty="0"/>
          </a:p>
        </p:txBody>
      </p:sp>
      <p:sp>
        <p:nvSpPr>
          <p:cNvPr id="12" name="text-11"/>
          <p:cNvSpPr txBox="1"/>
          <p:nvPr/>
        </p:nvSpPr>
        <p:spPr>
          <a:xfrm rot="-180000">
            <a:off x="572889" y="6094710"/>
            <a:ext cx="5768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ловушка: выбрать современное значение</a:t>
            </a:r>
            <a:endParaRPr lang="en-US" sz="2200" dirty="0"/>
          </a:p>
        </p:txBody>
      </p:sp>
      <p:pic>
        <p:nvPicPr>
          <p:cNvPr id="13" name="svg-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3619500"/>
            <a:ext cx="279400" cy="279400"/>
          </a:xfrm>
          <a:prstGeom prst="rect">
            <a:avLst/>
          </a:prstGeom>
        </p:spPr>
      </p:pic>
      <p:pic>
        <p:nvPicPr>
          <p:cNvPr id="14" name="svg-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0" y="7112000"/>
            <a:ext cx="190500" cy="190500"/>
          </a:xfrm>
          <a:prstGeom prst="rect">
            <a:avLst/>
          </a:prstGeom>
        </p:spPr>
      </p:pic>
      <p:sp>
        <p:nvSpPr>
          <p:cNvPr id="15" name="text-14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6" name="shape-15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7" name="text-16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8" name="svg-1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7114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23895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АРХАИЗМ 1/8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500"/>
            <a:ext cx="634060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i="1" spc="-15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want</a:t>
            </a:r>
            <a:endParaRPr lang="en-US" sz="75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076450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[wont]</a:t>
            </a:r>
            <a:endParaRPr lang="en-US" sz="1250" dirty="0"/>
          </a:p>
        </p:txBody>
      </p:sp>
      <p:sp>
        <p:nvSpPr>
          <p:cNvPr id="8" name="shape-7"/>
          <p:cNvSpPr/>
          <p:nvPr/>
        </p:nvSpPr>
        <p:spPr>
          <a:xfrm rot="-90000">
            <a:off x="457200" y="2968377"/>
            <a:ext cx="2901950" cy="838200"/>
          </a:xfrm>
          <a:prstGeom prst="roundRect">
            <a:avLst>
              <a:gd name="adj" fmla="val 19697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 rot="-90000">
            <a:off x="643312" y="3146879"/>
            <a:ext cx="2672207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КАЖЕТСЯ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650277" y="3355693"/>
            <a:ext cx="2672207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5A5852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хотеть</a:t>
            </a:r>
            <a:endParaRPr lang="en-US" sz="1700" dirty="0"/>
          </a:p>
        </p:txBody>
      </p:sp>
      <p:sp>
        <p:nvSpPr>
          <p:cNvPr id="11" name="shape-10"/>
          <p:cNvSpPr/>
          <p:nvPr/>
        </p:nvSpPr>
        <p:spPr>
          <a:xfrm rot="90000">
            <a:off x="3498850" y="2968377"/>
            <a:ext cx="2901950" cy="838200"/>
          </a:xfrm>
          <a:prstGeom prst="roundRect">
            <a:avLst>
              <a:gd name="adj" fmla="val 19697"/>
            </a:avLst>
          </a:prstGeom>
          <a:solidFill>
            <a:srgbClr val="0A0A0A"/>
          </a:solidFill>
          <a:ln/>
        </p:spPr>
      </p:sp>
      <p:sp>
        <p:nvSpPr>
          <p:cNvPr id="12" name="text-11"/>
          <p:cNvSpPr txBox="1"/>
          <p:nvPr/>
        </p:nvSpPr>
        <p:spPr>
          <a:xfrm rot="90000">
            <a:off x="3681370" y="3134184"/>
            <a:ext cx="2699131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 КЛАССИКЕ</a:t>
            </a:r>
            <a:endParaRPr lang="en-US" sz="900" dirty="0"/>
          </a:p>
        </p:txBody>
      </p:sp>
      <p:sp>
        <p:nvSpPr>
          <p:cNvPr id="13" name="text-12"/>
          <p:cNvSpPr txBox="1"/>
          <p:nvPr/>
        </p:nvSpPr>
        <p:spPr>
          <a:xfrm rot="90000">
            <a:off x="3674406" y="3342998"/>
            <a:ext cx="2699131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нехватка, нужда</a:t>
            </a:r>
            <a:endParaRPr lang="en-US" sz="1700" dirty="0"/>
          </a:p>
        </p:txBody>
      </p:sp>
      <p:sp>
        <p:nvSpPr>
          <p:cNvPr id="14" name="shape-13"/>
          <p:cNvSpPr/>
          <p:nvPr/>
        </p:nvSpPr>
        <p:spPr>
          <a:xfrm rot="-72000">
            <a:off x="457200" y="4488954"/>
            <a:ext cx="5943600" cy="1968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5" name="shape-14"/>
          <p:cNvSpPr/>
          <p:nvPr/>
        </p:nvSpPr>
        <p:spPr>
          <a:xfrm rot="-252000">
            <a:off x="2932669" y="4374864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6" name="text-15"/>
          <p:cNvSpPr txBox="1"/>
          <p:nvPr/>
        </p:nvSpPr>
        <p:spPr>
          <a:xfrm rot="-72000">
            <a:off x="744247" y="4755707"/>
            <a:ext cx="568096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It is a truth universally acknowledged, that a single man in possession of a good fortune, must be in 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want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of a wife.</a:t>
            </a:r>
            <a:endParaRPr lang="en-US" sz="2000" dirty="0"/>
          </a:p>
        </p:txBody>
      </p:sp>
      <p:sp>
        <p:nvSpPr>
          <p:cNvPr id="17" name="text-16"/>
          <p:cNvSpPr txBox="1"/>
          <p:nvPr/>
        </p:nvSpPr>
        <p:spPr>
          <a:xfrm rot="-72000">
            <a:off x="757346" y="5784270"/>
            <a:ext cx="568096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9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ДЖЕЙН ОСТИН · «ГОРДОСТЬ И ПРЕДУБЕЖДЕНИЕ», 1813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-72000">
            <a:off x="763064" y="6019160"/>
            <a:ext cx="56809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Богатому холостяку непременно нужна жена.</a:t>
            </a:r>
            <a:endParaRPr lang="en-US" sz="1250" dirty="0"/>
          </a:p>
        </p:txBody>
      </p:sp>
      <p:sp>
        <p:nvSpPr>
          <p:cNvPr id="19" name="text-18"/>
          <p:cNvSpPr txBox="1"/>
          <p:nvPr/>
        </p:nvSpPr>
        <p:spPr>
          <a:xfrm>
            <a:off x="457200" y="7140476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НЕ ПОПАСТЬСЯ</a:t>
            </a:r>
            <a:endParaRPr lang="en-US" sz="900" dirty="0"/>
          </a:p>
        </p:txBody>
      </p:sp>
      <p:sp>
        <p:nvSpPr>
          <p:cNvPr id="20" name="text-19"/>
          <p:cNvSpPr txBox="1"/>
          <p:nvPr/>
        </p:nvSpPr>
        <p:spPr>
          <a:xfrm>
            <a:off x="457002" y="7361138"/>
            <a:ext cx="6158865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Видишь 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 want of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или 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wanting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думай «не хватает».</a:t>
            </a:r>
            <a:endParaRPr lang="en-US" sz="1500" dirty="0"/>
          </a:p>
        </p:txBody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43000"/>
            <a:ext cx="279400" cy="279400"/>
          </a:xfrm>
          <a:prstGeom prst="rect">
            <a:avLst/>
          </a:prstGeom>
        </p:spPr>
      </p:pic>
      <p:sp>
        <p:nvSpPr>
          <p:cNvPr id="22" name="text-21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3" name="shape-22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4" name="text-23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7114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23895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АРХАИЗМ 2/8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500"/>
            <a:ext cx="634060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i="1" spc="-15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presently</a:t>
            </a:r>
            <a:endParaRPr lang="en-US" sz="75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076450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[PREZ-unt-lee]</a:t>
            </a:r>
            <a:endParaRPr lang="en-US" sz="1250" dirty="0"/>
          </a:p>
        </p:txBody>
      </p:sp>
      <p:sp>
        <p:nvSpPr>
          <p:cNvPr id="8" name="shape-7"/>
          <p:cNvSpPr/>
          <p:nvPr/>
        </p:nvSpPr>
        <p:spPr>
          <a:xfrm rot="-90000">
            <a:off x="457200" y="3062536"/>
            <a:ext cx="2901950" cy="838200"/>
          </a:xfrm>
          <a:prstGeom prst="roundRect">
            <a:avLst>
              <a:gd name="adj" fmla="val 19697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 rot="-90000">
            <a:off x="643312" y="3241038"/>
            <a:ext cx="2672207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КАЖЕТСЯ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650277" y="3449852"/>
            <a:ext cx="2672207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5A5852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сейчас</a:t>
            </a:r>
            <a:endParaRPr lang="en-US" sz="1700" dirty="0"/>
          </a:p>
        </p:txBody>
      </p:sp>
      <p:sp>
        <p:nvSpPr>
          <p:cNvPr id="11" name="shape-10"/>
          <p:cNvSpPr/>
          <p:nvPr/>
        </p:nvSpPr>
        <p:spPr>
          <a:xfrm rot="90000">
            <a:off x="3498850" y="3062536"/>
            <a:ext cx="2901950" cy="838200"/>
          </a:xfrm>
          <a:prstGeom prst="roundRect">
            <a:avLst>
              <a:gd name="adj" fmla="val 19697"/>
            </a:avLst>
          </a:prstGeom>
          <a:solidFill>
            <a:srgbClr val="0A0A0A"/>
          </a:solidFill>
          <a:ln/>
        </p:spPr>
      </p:sp>
      <p:sp>
        <p:nvSpPr>
          <p:cNvPr id="12" name="text-11"/>
          <p:cNvSpPr txBox="1"/>
          <p:nvPr/>
        </p:nvSpPr>
        <p:spPr>
          <a:xfrm rot="90000">
            <a:off x="3681370" y="3228342"/>
            <a:ext cx="2699131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 КЛАССИКЕ</a:t>
            </a:r>
            <a:endParaRPr lang="en-US" sz="900" dirty="0"/>
          </a:p>
        </p:txBody>
      </p:sp>
      <p:sp>
        <p:nvSpPr>
          <p:cNvPr id="13" name="text-12"/>
          <p:cNvSpPr txBox="1"/>
          <p:nvPr/>
        </p:nvSpPr>
        <p:spPr>
          <a:xfrm rot="90000">
            <a:off x="3674406" y="3437156"/>
            <a:ext cx="2699131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скоро, вскоре</a:t>
            </a:r>
            <a:endParaRPr lang="en-US" sz="1700" dirty="0"/>
          </a:p>
        </p:txBody>
      </p:sp>
      <p:sp>
        <p:nvSpPr>
          <p:cNvPr id="14" name="shape-13"/>
          <p:cNvSpPr/>
          <p:nvPr/>
        </p:nvSpPr>
        <p:spPr>
          <a:xfrm rot="72000">
            <a:off x="457200" y="4677271"/>
            <a:ext cx="5943600" cy="1428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5" name="shape-14"/>
          <p:cNvSpPr/>
          <p:nvPr/>
        </p:nvSpPr>
        <p:spPr>
          <a:xfrm rot="-108000">
            <a:off x="2967179" y="4563122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6" name="text-15"/>
          <p:cNvSpPr txBox="1"/>
          <p:nvPr/>
        </p:nvSpPr>
        <p:spPr>
          <a:xfrm rot="72000">
            <a:off x="752026" y="4944000"/>
            <a:ext cx="568096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 doctor will be with you 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presently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, said the maid.</a:t>
            </a:r>
            <a:endParaRPr lang="en-US" sz="2000" dirty="0"/>
          </a:p>
        </p:txBody>
      </p:sp>
      <p:sp>
        <p:nvSpPr>
          <p:cNvPr id="17" name="text-16"/>
          <p:cNvSpPr txBox="1"/>
          <p:nvPr/>
        </p:nvSpPr>
        <p:spPr>
          <a:xfrm rot="72000">
            <a:off x="741188" y="5667786"/>
            <a:ext cx="56809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Доктор скоро к вам выйдет, сказала служанка.</a:t>
            </a:r>
            <a:endParaRPr lang="en-US" sz="1250" dirty="0"/>
          </a:p>
        </p:txBody>
      </p:sp>
      <p:sp>
        <p:nvSpPr>
          <p:cNvPr id="18" name="text-17"/>
          <p:cNvSpPr txBox="1"/>
          <p:nvPr/>
        </p:nvSpPr>
        <p:spPr>
          <a:xfrm>
            <a:off x="457200" y="6883202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НЕ ПОПАСТЬСЯ</a:t>
            </a:r>
            <a:endParaRPr lang="en-US" sz="900" dirty="0"/>
          </a:p>
        </p:txBody>
      </p:sp>
      <p:sp>
        <p:nvSpPr>
          <p:cNvPr id="19" name="text-18"/>
          <p:cNvSpPr txBox="1"/>
          <p:nvPr/>
        </p:nvSpPr>
        <p:spPr>
          <a:xfrm>
            <a:off x="457002" y="7105452"/>
            <a:ext cx="615886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Если по контексту действие ещё впереди, 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presently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значит «скоро».</a:t>
            </a:r>
            <a:endParaRPr lang="en-US" sz="1500" dirty="0"/>
          </a:p>
        </p:txBody>
      </p:sp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43000"/>
            <a:ext cx="279400" cy="2794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2" name="shape-2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3" name="text-2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7114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23895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АРХАИЗМ 3/8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500"/>
            <a:ext cx="634060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i="1" spc="-15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sensible</a:t>
            </a:r>
            <a:endParaRPr lang="en-US" sz="75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076450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[SEN-suh-bul]</a:t>
            </a:r>
            <a:endParaRPr lang="en-US" sz="1250" dirty="0"/>
          </a:p>
        </p:txBody>
      </p:sp>
      <p:sp>
        <p:nvSpPr>
          <p:cNvPr id="8" name="shape-7"/>
          <p:cNvSpPr/>
          <p:nvPr/>
        </p:nvSpPr>
        <p:spPr>
          <a:xfrm rot="-90000">
            <a:off x="457200" y="3069729"/>
            <a:ext cx="2901950" cy="1073150"/>
          </a:xfrm>
          <a:prstGeom prst="roundRect">
            <a:avLst>
              <a:gd name="adj" fmla="val 15385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 rot="-90000">
            <a:off x="640254" y="3248916"/>
            <a:ext cx="2672207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КАЖЕТСЯ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647218" y="3457730"/>
            <a:ext cx="2672207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5A5852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разумный</a:t>
            </a:r>
            <a:endParaRPr lang="en-US" sz="1700" dirty="0"/>
          </a:p>
        </p:txBody>
      </p:sp>
      <p:sp>
        <p:nvSpPr>
          <p:cNvPr id="11" name="shape-10"/>
          <p:cNvSpPr/>
          <p:nvPr/>
        </p:nvSpPr>
        <p:spPr>
          <a:xfrm rot="90000">
            <a:off x="3498850" y="3069729"/>
            <a:ext cx="2901950" cy="1073150"/>
          </a:xfrm>
          <a:prstGeom prst="roundRect">
            <a:avLst>
              <a:gd name="adj" fmla="val 15385"/>
            </a:avLst>
          </a:prstGeom>
          <a:solidFill>
            <a:srgbClr val="0A0A0A"/>
          </a:solidFill>
          <a:ln/>
        </p:spPr>
      </p:sp>
      <p:sp>
        <p:nvSpPr>
          <p:cNvPr id="12" name="text-11"/>
          <p:cNvSpPr txBox="1"/>
          <p:nvPr/>
        </p:nvSpPr>
        <p:spPr>
          <a:xfrm rot="90000">
            <a:off x="3684429" y="3236220"/>
            <a:ext cx="2699131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 КЛАССИКЕ</a:t>
            </a:r>
            <a:endParaRPr lang="en-US" sz="900" dirty="0"/>
          </a:p>
        </p:txBody>
      </p:sp>
      <p:sp>
        <p:nvSpPr>
          <p:cNvPr id="13" name="text-12"/>
          <p:cNvSpPr txBox="1"/>
          <p:nvPr/>
        </p:nvSpPr>
        <p:spPr>
          <a:xfrm rot="90000">
            <a:off x="3674074" y="3444345"/>
            <a:ext cx="269913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осознающий, чувствующий</a:t>
            </a:r>
            <a:endParaRPr lang="en-US" sz="1700" dirty="0"/>
          </a:p>
        </p:txBody>
      </p:sp>
      <p:sp>
        <p:nvSpPr>
          <p:cNvPr id="14" name="shape-13"/>
          <p:cNvSpPr/>
          <p:nvPr/>
        </p:nvSpPr>
        <p:spPr>
          <a:xfrm rot="-72000">
            <a:off x="457200" y="4926608"/>
            <a:ext cx="5943600" cy="1428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5" name="shape-14"/>
          <p:cNvSpPr/>
          <p:nvPr/>
        </p:nvSpPr>
        <p:spPr>
          <a:xfrm rot="-252000">
            <a:off x="2938321" y="4812459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6" name="text-15"/>
          <p:cNvSpPr txBox="1"/>
          <p:nvPr/>
        </p:nvSpPr>
        <p:spPr>
          <a:xfrm rot="-72000">
            <a:off x="746574" y="5193336"/>
            <a:ext cx="568096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She was 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sensible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of the honour, yet she declined it.</a:t>
            </a:r>
            <a:endParaRPr lang="en-US" sz="2000" dirty="0"/>
          </a:p>
        </p:txBody>
      </p:sp>
      <p:sp>
        <p:nvSpPr>
          <p:cNvPr id="17" name="text-16"/>
          <p:cNvSpPr txBox="1"/>
          <p:nvPr/>
        </p:nvSpPr>
        <p:spPr>
          <a:xfrm rot="-72000">
            <a:off x="757412" y="5917123"/>
            <a:ext cx="56809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Она понимала, какая это честь, и всё же отказалась.</a:t>
            </a:r>
            <a:endParaRPr lang="en-US" sz="1250" dirty="0"/>
          </a:p>
        </p:txBody>
      </p:sp>
      <p:sp>
        <p:nvSpPr>
          <p:cNvPr id="18" name="text-17"/>
          <p:cNvSpPr txBox="1"/>
          <p:nvPr/>
        </p:nvSpPr>
        <p:spPr>
          <a:xfrm>
            <a:off x="457200" y="7140377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НЕ ПОПАСТЬСЯ</a:t>
            </a:r>
            <a:endParaRPr lang="en-US" sz="900" dirty="0"/>
          </a:p>
        </p:txBody>
      </p:sp>
      <p:sp>
        <p:nvSpPr>
          <p:cNvPr id="19" name="text-18"/>
          <p:cNvSpPr txBox="1"/>
          <p:nvPr/>
        </p:nvSpPr>
        <p:spPr>
          <a:xfrm>
            <a:off x="457002" y="7361039"/>
            <a:ext cx="6158865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Конструкция 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sensible of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почти всегда значит «осознавать».</a:t>
            </a:r>
            <a:endParaRPr lang="en-US" sz="1500" dirty="0"/>
          </a:p>
        </p:txBody>
      </p:sp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43000"/>
            <a:ext cx="279400" cy="2794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2" name="shape-2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3" name="text-2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7114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23895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АРХАИЗМ 4/8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500"/>
            <a:ext cx="634060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i="1" spc="-15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countenance</a:t>
            </a:r>
            <a:endParaRPr lang="en-US" sz="75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076450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[KOWN-tuh-nuns]</a:t>
            </a:r>
            <a:endParaRPr lang="en-US" sz="1250" dirty="0"/>
          </a:p>
        </p:txBody>
      </p:sp>
      <p:sp>
        <p:nvSpPr>
          <p:cNvPr id="8" name="shape-7"/>
          <p:cNvSpPr/>
          <p:nvPr/>
        </p:nvSpPr>
        <p:spPr>
          <a:xfrm rot="-90000">
            <a:off x="457200" y="3081437"/>
            <a:ext cx="2901950" cy="1098550"/>
          </a:xfrm>
          <a:prstGeom prst="roundRect">
            <a:avLst>
              <a:gd name="adj" fmla="val 15029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 rot="-90000">
            <a:off x="639921" y="3260628"/>
            <a:ext cx="2672207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КАЖЕТСЯ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650276" y="3468753"/>
            <a:ext cx="267220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5A5852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что-то про count, «счёт»</a:t>
            </a:r>
            <a:endParaRPr lang="en-US" sz="1700" dirty="0"/>
          </a:p>
        </p:txBody>
      </p:sp>
      <p:sp>
        <p:nvSpPr>
          <p:cNvPr id="11" name="shape-10"/>
          <p:cNvSpPr/>
          <p:nvPr/>
        </p:nvSpPr>
        <p:spPr>
          <a:xfrm rot="90000">
            <a:off x="3498850" y="3081437"/>
            <a:ext cx="2901950" cy="1098550"/>
          </a:xfrm>
          <a:prstGeom prst="roundRect">
            <a:avLst>
              <a:gd name="adj" fmla="val 15029"/>
            </a:avLst>
          </a:prstGeom>
          <a:solidFill>
            <a:srgbClr val="0A0A0A"/>
          </a:solidFill>
          <a:ln/>
        </p:spPr>
      </p:sp>
      <p:sp>
        <p:nvSpPr>
          <p:cNvPr id="12" name="text-11"/>
          <p:cNvSpPr txBox="1"/>
          <p:nvPr/>
        </p:nvSpPr>
        <p:spPr>
          <a:xfrm rot="90000">
            <a:off x="3684761" y="3247933"/>
            <a:ext cx="2699131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 КЛАССИКЕ</a:t>
            </a:r>
            <a:endParaRPr lang="en-US" sz="900" dirty="0"/>
          </a:p>
        </p:txBody>
      </p:sp>
      <p:sp>
        <p:nvSpPr>
          <p:cNvPr id="13" name="text-12"/>
          <p:cNvSpPr txBox="1"/>
          <p:nvPr/>
        </p:nvSpPr>
        <p:spPr>
          <a:xfrm rot="90000">
            <a:off x="3674406" y="3456057"/>
            <a:ext cx="269913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лицо, выражение лица; одобрять</a:t>
            </a:r>
            <a:endParaRPr lang="en-US" sz="1700" dirty="0"/>
          </a:p>
        </p:txBody>
      </p:sp>
      <p:sp>
        <p:nvSpPr>
          <p:cNvPr id="14" name="shape-13"/>
          <p:cNvSpPr/>
          <p:nvPr/>
        </p:nvSpPr>
        <p:spPr>
          <a:xfrm rot="72000">
            <a:off x="457200" y="4975423"/>
            <a:ext cx="5943600" cy="11112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5" name="shape-14"/>
          <p:cNvSpPr/>
          <p:nvPr/>
        </p:nvSpPr>
        <p:spPr>
          <a:xfrm rot="-108000">
            <a:off x="2963854" y="486124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6" name="text-15"/>
          <p:cNvSpPr txBox="1"/>
          <p:nvPr/>
        </p:nvSpPr>
        <p:spPr>
          <a:xfrm rot="72000">
            <a:off x="752026" y="5242152"/>
            <a:ext cx="568096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His 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countenance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fell as he read the letter.</a:t>
            </a:r>
            <a:endParaRPr lang="en-US" sz="2000" dirty="0"/>
          </a:p>
        </p:txBody>
      </p:sp>
      <p:sp>
        <p:nvSpPr>
          <p:cNvPr id="17" name="text-16"/>
          <p:cNvSpPr txBox="1"/>
          <p:nvPr/>
        </p:nvSpPr>
        <p:spPr>
          <a:xfrm rot="72000">
            <a:off x="744513" y="5648473"/>
            <a:ext cx="56809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Пока он читал письмо, его лицо помрачнело.</a:t>
            </a:r>
            <a:endParaRPr lang="en-US" sz="1250" dirty="0"/>
          </a:p>
        </p:txBody>
      </p:sp>
      <p:sp>
        <p:nvSpPr>
          <p:cNvPr id="18" name="text-17"/>
          <p:cNvSpPr txBox="1"/>
          <p:nvPr/>
        </p:nvSpPr>
        <p:spPr>
          <a:xfrm>
            <a:off x="457200" y="6883400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НЕ ПОПАСТЬСЯ</a:t>
            </a:r>
            <a:endParaRPr lang="en-US" sz="900" dirty="0"/>
          </a:p>
        </p:txBody>
      </p:sp>
      <p:sp>
        <p:nvSpPr>
          <p:cNvPr id="19" name="text-18"/>
          <p:cNvSpPr txBox="1"/>
          <p:nvPr/>
        </p:nvSpPr>
        <p:spPr>
          <a:xfrm>
            <a:off x="457002" y="7105650"/>
            <a:ext cx="615886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Глагол тоже встречается: 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 cannot countenance it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значит «не могу это одобрить».</a:t>
            </a:r>
            <a:endParaRPr lang="en-US" sz="1500" dirty="0"/>
          </a:p>
        </p:txBody>
      </p:sp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43000"/>
            <a:ext cx="279400" cy="2794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2" name="shape-2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3" name="text-2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7114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23895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АРХАИЗМ 5/8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500"/>
            <a:ext cx="634060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i="1" spc="-15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nice</a:t>
            </a:r>
            <a:endParaRPr lang="en-US" sz="75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076450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[nyse]</a:t>
            </a:r>
            <a:endParaRPr lang="en-US" sz="1250" dirty="0"/>
          </a:p>
        </p:txBody>
      </p:sp>
      <p:sp>
        <p:nvSpPr>
          <p:cNvPr id="8" name="shape-7"/>
          <p:cNvSpPr/>
          <p:nvPr/>
        </p:nvSpPr>
        <p:spPr>
          <a:xfrm rot="-90000">
            <a:off x="457200" y="3062536"/>
            <a:ext cx="2901950" cy="838200"/>
          </a:xfrm>
          <a:prstGeom prst="roundRect">
            <a:avLst>
              <a:gd name="adj" fmla="val 19697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 rot="-90000">
            <a:off x="643312" y="3241038"/>
            <a:ext cx="2672207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КАЖЕТСЯ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650277" y="3449852"/>
            <a:ext cx="2672207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5A5852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милый</a:t>
            </a:r>
            <a:endParaRPr lang="en-US" sz="1700" dirty="0"/>
          </a:p>
        </p:txBody>
      </p:sp>
      <p:sp>
        <p:nvSpPr>
          <p:cNvPr id="11" name="shape-10"/>
          <p:cNvSpPr/>
          <p:nvPr/>
        </p:nvSpPr>
        <p:spPr>
          <a:xfrm rot="90000">
            <a:off x="3498850" y="3062536"/>
            <a:ext cx="2901950" cy="838200"/>
          </a:xfrm>
          <a:prstGeom prst="roundRect">
            <a:avLst>
              <a:gd name="adj" fmla="val 19697"/>
            </a:avLst>
          </a:prstGeom>
          <a:solidFill>
            <a:srgbClr val="0A0A0A"/>
          </a:solidFill>
          <a:ln/>
        </p:spPr>
      </p:sp>
      <p:sp>
        <p:nvSpPr>
          <p:cNvPr id="12" name="text-11"/>
          <p:cNvSpPr txBox="1"/>
          <p:nvPr/>
        </p:nvSpPr>
        <p:spPr>
          <a:xfrm rot="90000">
            <a:off x="3681370" y="3228342"/>
            <a:ext cx="2699131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 КЛАССИКЕ</a:t>
            </a:r>
            <a:endParaRPr lang="en-US" sz="900" dirty="0"/>
          </a:p>
        </p:txBody>
      </p:sp>
      <p:sp>
        <p:nvSpPr>
          <p:cNvPr id="13" name="text-12"/>
          <p:cNvSpPr txBox="1"/>
          <p:nvPr/>
        </p:nvSpPr>
        <p:spPr>
          <a:xfrm rot="90000">
            <a:off x="3674406" y="3437156"/>
            <a:ext cx="2699131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тонкий, точный</a:t>
            </a:r>
            <a:endParaRPr lang="en-US" sz="1700" dirty="0"/>
          </a:p>
        </p:txBody>
      </p:sp>
      <p:sp>
        <p:nvSpPr>
          <p:cNvPr id="14" name="shape-13"/>
          <p:cNvSpPr/>
          <p:nvPr/>
        </p:nvSpPr>
        <p:spPr>
          <a:xfrm rot="-72000">
            <a:off x="457200" y="4677271"/>
            <a:ext cx="5943600" cy="1428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5" name="shape-14"/>
          <p:cNvSpPr/>
          <p:nvPr/>
        </p:nvSpPr>
        <p:spPr>
          <a:xfrm rot="-252000">
            <a:off x="2938321" y="4563122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6" name="text-15"/>
          <p:cNvSpPr txBox="1"/>
          <p:nvPr/>
        </p:nvSpPr>
        <p:spPr>
          <a:xfrm rot="-72000">
            <a:off x="746574" y="4944000"/>
            <a:ext cx="568096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It was a 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nice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distinction, and few in the room could see it.</a:t>
            </a:r>
            <a:endParaRPr lang="en-US" sz="2000" dirty="0"/>
          </a:p>
        </p:txBody>
      </p:sp>
      <p:sp>
        <p:nvSpPr>
          <p:cNvPr id="17" name="text-16"/>
          <p:cNvSpPr txBox="1"/>
          <p:nvPr/>
        </p:nvSpPr>
        <p:spPr>
          <a:xfrm rot="-72000">
            <a:off x="757412" y="5667786"/>
            <a:ext cx="56809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Различие было тонким, и мало кто в зале его заметил.</a:t>
            </a:r>
            <a:endParaRPr lang="en-US" sz="1250" dirty="0"/>
          </a:p>
        </p:txBody>
      </p:sp>
      <p:sp>
        <p:nvSpPr>
          <p:cNvPr id="18" name="text-17"/>
          <p:cNvSpPr txBox="1"/>
          <p:nvPr/>
        </p:nvSpPr>
        <p:spPr>
          <a:xfrm>
            <a:off x="457200" y="6883202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НЕ ПОПАСТЬСЯ</a:t>
            </a:r>
            <a:endParaRPr lang="en-US" sz="900" dirty="0"/>
          </a:p>
        </p:txBody>
      </p:sp>
      <p:sp>
        <p:nvSpPr>
          <p:cNvPr id="19" name="text-18"/>
          <p:cNvSpPr txBox="1"/>
          <p:nvPr/>
        </p:nvSpPr>
        <p:spPr>
          <a:xfrm>
            <a:off x="457002" y="7105452"/>
            <a:ext cx="615886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nice point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или 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nice distinction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значит «тонкий», а не «приятный».</a:t>
            </a:r>
            <a:endParaRPr lang="en-US" sz="1500" dirty="0"/>
          </a:p>
        </p:txBody>
      </p:sp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43000"/>
            <a:ext cx="279400" cy="2794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2" name="shape-2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3" name="text-2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7114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23895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АРХАИЗМ 6/8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500"/>
            <a:ext cx="634060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i="1" spc="-15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awful</a:t>
            </a:r>
            <a:endParaRPr lang="en-US" sz="75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076450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[AW-ful]</a:t>
            </a:r>
            <a:endParaRPr lang="en-US" sz="1250" dirty="0"/>
          </a:p>
        </p:txBody>
      </p:sp>
      <p:sp>
        <p:nvSpPr>
          <p:cNvPr id="8" name="shape-7"/>
          <p:cNvSpPr/>
          <p:nvPr/>
        </p:nvSpPr>
        <p:spPr>
          <a:xfrm rot="-90000">
            <a:off x="457200" y="2984004"/>
            <a:ext cx="2901950" cy="1073150"/>
          </a:xfrm>
          <a:prstGeom prst="roundRect">
            <a:avLst>
              <a:gd name="adj" fmla="val 15385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 rot="-90000">
            <a:off x="640254" y="3163191"/>
            <a:ext cx="2672207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КАЖЕТСЯ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647218" y="3372005"/>
            <a:ext cx="2672207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5A5852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ужасный</a:t>
            </a:r>
            <a:endParaRPr lang="en-US" sz="1700" dirty="0"/>
          </a:p>
        </p:txBody>
      </p:sp>
      <p:sp>
        <p:nvSpPr>
          <p:cNvPr id="11" name="shape-10"/>
          <p:cNvSpPr/>
          <p:nvPr/>
        </p:nvSpPr>
        <p:spPr>
          <a:xfrm rot="90000">
            <a:off x="3498850" y="2984004"/>
            <a:ext cx="2901950" cy="1073150"/>
          </a:xfrm>
          <a:prstGeom prst="roundRect">
            <a:avLst>
              <a:gd name="adj" fmla="val 15385"/>
            </a:avLst>
          </a:prstGeom>
          <a:solidFill>
            <a:srgbClr val="0A0A0A"/>
          </a:solidFill>
          <a:ln/>
        </p:spPr>
      </p:sp>
      <p:sp>
        <p:nvSpPr>
          <p:cNvPr id="12" name="text-11"/>
          <p:cNvSpPr txBox="1"/>
          <p:nvPr/>
        </p:nvSpPr>
        <p:spPr>
          <a:xfrm rot="90000">
            <a:off x="3684429" y="3150495"/>
            <a:ext cx="2699131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 КЛАССИКЕ</a:t>
            </a:r>
            <a:endParaRPr lang="en-US" sz="900" dirty="0"/>
          </a:p>
        </p:txBody>
      </p:sp>
      <p:sp>
        <p:nvSpPr>
          <p:cNvPr id="13" name="text-12"/>
          <p:cNvSpPr txBox="1"/>
          <p:nvPr/>
        </p:nvSpPr>
        <p:spPr>
          <a:xfrm rot="90000">
            <a:off x="3674074" y="3358620"/>
            <a:ext cx="269913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внушающий благоговение</a:t>
            </a:r>
            <a:endParaRPr lang="en-US" sz="1700" dirty="0"/>
          </a:p>
        </p:txBody>
      </p:sp>
      <p:sp>
        <p:nvSpPr>
          <p:cNvPr id="14" name="shape-13"/>
          <p:cNvSpPr/>
          <p:nvPr/>
        </p:nvSpPr>
        <p:spPr>
          <a:xfrm rot="72000">
            <a:off x="457200" y="4755158"/>
            <a:ext cx="5943600" cy="14287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5" name="shape-14"/>
          <p:cNvSpPr/>
          <p:nvPr/>
        </p:nvSpPr>
        <p:spPr>
          <a:xfrm rot="-108000">
            <a:off x="2967179" y="4641009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6" name="text-15"/>
          <p:cNvSpPr txBox="1"/>
          <p:nvPr/>
        </p:nvSpPr>
        <p:spPr>
          <a:xfrm rot="72000">
            <a:off x="752026" y="5021886"/>
            <a:ext cx="568096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They stood in the 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awful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silence of the mountains.</a:t>
            </a:r>
            <a:endParaRPr lang="en-US" sz="2000" dirty="0"/>
          </a:p>
        </p:txBody>
      </p:sp>
      <p:sp>
        <p:nvSpPr>
          <p:cNvPr id="17" name="text-16"/>
          <p:cNvSpPr txBox="1"/>
          <p:nvPr/>
        </p:nvSpPr>
        <p:spPr>
          <a:xfrm rot="72000">
            <a:off x="741188" y="5745673"/>
            <a:ext cx="56809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Они стояли в величественной тишине гор.</a:t>
            </a:r>
            <a:endParaRPr lang="en-US" sz="1250" dirty="0"/>
          </a:p>
        </p:txBody>
      </p:sp>
      <p:sp>
        <p:nvSpPr>
          <p:cNvPr id="18" name="text-17"/>
          <p:cNvSpPr txBox="1"/>
          <p:nvPr/>
        </p:nvSpPr>
        <p:spPr>
          <a:xfrm>
            <a:off x="457200" y="6883202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НЕ ПОПАСТЬСЯ</a:t>
            </a:r>
            <a:endParaRPr lang="en-US" sz="900" dirty="0"/>
          </a:p>
        </p:txBody>
      </p:sp>
      <p:sp>
        <p:nvSpPr>
          <p:cNvPr id="19" name="text-18"/>
          <p:cNvSpPr txBox="1"/>
          <p:nvPr/>
        </p:nvSpPr>
        <p:spPr>
          <a:xfrm>
            <a:off x="457002" y="7105452"/>
            <a:ext cx="615886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Корень 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awe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«благоговение». В классике awful часто про величие.</a:t>
            </a:r>
            <a:endParaRPr lang="en-US" sz="1500" dirty="0"/>
          </a:p>
        </p:txBody>
      </p:sp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43000"/>
            <a:ext cx="279400" cy="2794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2" name="shape-2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3" name="text-2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7114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23895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АРХАИЗМ 7/8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500"/>
            <a:ext cx="634060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i="1" spc="-15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apprehend</a:t>
            </a:r>
            <a:endParaRPr lang="en-US" sz="75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076450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[ap-rih-HEND]</a:t>
            </a:r>
            <a:endParaRPr lang="en-US" sz="1250" dirty="0"/>
          </a:p>
        </p:txBody>
      </p:sp>
      <p:sp>
        <p:nvSpPr>
          <p:cNvPr id="8" name="shape-7"/>
          <p:cNvSpPr/>
          <p:nvPr/>
        </p:nvSpPr>
        <p:spPr>
          <a:xfrm rot="-90000">
            <a:off x="457200" y="3089870"/>
            <a:ext cx="2901950" cy="1073150"/>
          </a:xfrm>
          <a:prstGeom prst="roundRect">
            <a:avLst>
              <a:gd name="adj" fmla="val 15385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 rot="-90000">
            <a:off x="640254" y="3269058"/>
            <a:ext cx="2672207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КАЖЕТСЯ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647218" y="3477872"/>
            <a:ext cx="2672207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5A5852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арестовать</a:t>
            </a:r>
            <a:endParaRPr lang="en-US" sz="1700" dirty="0"/>
          </a:p>
        </p:txBody>
      </p:sp>
      <p:sp>
        <p:nvSpPr>
          <p:cNvPr id="11" name="shape-10"/>
          <p:cNvSpPr/>
          <p:nvPr/>
        </p:nvSpPr>
        <p:spPr>
          <a:xfrm rot="90000">
            <a:off x="3498850" y="3089870"/>
            <a:ext cx="2901950" cy="1073150"/>
          </a:xfrm>
          <a:prstGeom prst="roundRect">
            <a:avLst>
              <a:gd name="adj" fmla="val 15385"/>
            </a:avLst>
          </a:prstGeom>
          <a:solidFill>
            <a:srgbClr val="0A0A0A"/>
          </a:solidFill>
          <a:ln/>
        </p:spPr>
      </p:sp>
      <p:sp>
        <p:nvSpPr>
          <p:cNvPr id="12" name="text-11"/>
          <p:cNvSpPr txBox="1"/>
          <p:nvPr/>
        </p:nvSpPr>
        <p:spPr>
          <a:xfrm rot="90000">
            <a:off x="3684429" y="3256362"/>
            <a:ext cx="2699131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 КЛАССИКЕ</a:t>
            </a:r>
            <a:endParaRPr lang="en-US" sz="900" dirty="0"/>
          </a:p>
        </p:txBody>
      </p:sp>
      <p:sp>
        <p:nvSpPr>
          <p:cNvPr id="13" name="text-12"/>
          <p:cNvSpPr txBox="1"/>
          <p:nvPr/>
        </p:nvSpPr>
        <p:spPr>
          <a:xfrm rot="90000">
            <a:off x="3674074" y="3464487"/>
            <a:ext cx="269913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понять; тревожно ждать</a:t>
            </a:r>
            <a:endParaRPr lang="en-US" sz="1700" dirty="0"/>
          </a:p>
        </p:txBody>
      </p:sp>
      <p:sp>
        <p:nvSpPr>
          <p:cNvPr id="14" name="shape-13"/>
          <p:cNvSpPr/>
          <p:nvPr/>
        </p:nvSpPr>
        <p:spPr>
          <a:xfrm rot="-72000">
            <a:off x="457200" y="4966891"/>
            <a:ext cx="5943600" cy="11112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5" name="shape-14"/>
          <p:cNvSpPr/>
          <p:nvPr/>
        </p:nvSpPr>
        <p:spPr>
          <a:xfrm rot="-252000">
            <a:off x="2941646" y="4852707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6" name="text-15"/>
          <p:cNvSpPr txBox="1"/>
          <p:nvPr/>
        </p:nvSpPr>
        <p:spPr>
          <a:xfrm rot="-72000">
            <a:off x="746574" y="5233619"/>
            <a:ext cx="568096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He did not at first 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apprehend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her meaning.</a:t>
            </a:r>
            <a:endParaRPr lang="en-US" sz="2000" dirty="0"/>
          </a:p>
        </p:txBody>
      </p:sp>
      <p:sp>
        <p:nvSpPr>
          <p:cNvPr id="17" name="text-16"/>
          <p:cNvSpPr txBox="1"/>
          <p:nvPr/>
        </p:nvSpPr>
        <p:spPr>
          <a:xfrm rot="-72000">
            <a:off x="754088" y="5639941"/>
            <a:ext cx="56809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Он не сразу понял, что она имела в виду.</a:t>
            </a:r>
            <a:endParaRPr lang="en-US" sz="1250" dirty="0"/>
          </a:p>
        </p:txBody>
      </p:sp>
      <p:sp>
        <p:nvSpPr>
          <p:cNvPr id="18" name="text-17"/>
          <p:cNvSpPr txBox="1"/>
          <p:nvPr/>
        </p:nvSpPr>
        <p:spPr>
          <a:xfrm>
            <a:off x="457200" y="6883301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НЕ ПОПАСТЬСЯ</a:t>
            </a:r>
            <a:endParaRPr lang="en-US" sz="900" dirty="0"/>
          </a:p>
        </p:txBody>
      </p:sp>
      <p:sp>
        <p:nvSpPr>
          <p:cNvPr id="19" name="text-18"/>
          <p:cNvSpPr txBox="1"/>
          <p:nvPr/>
        </p:nvSpPr>
        <p:spPr>
          <a:xfrm>
            <a:off x="457002" y="7105551"/>
            <a:ext cx="615886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Отсюда 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apprehension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«тревога», и 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apprehensive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«встревоженный».</a:t>
            </a:r>
            <a:endParaRPr lang="en-US" sz="1500" dirty="0"/>
          </a:p>
        </p:txBody>
      </p:sp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43000"/>
            <a:ext cx="279400" cy="2794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2" name="shape-2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3" name="text-2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7114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23895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АРХАИЗМ 8/8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19100" y="952500"/>
            <a:ext cx="6340602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50"/>
              </a:lnSpc>
              <a:buNone/>
            </a:pPr>
            <a:r>
              <a:rPr lang="en-US" sz="7500" i="1" spc="-15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fancy</a:t>
            </a:r>
            <a:endParaRPr lang="en-US" sz="7500" dirty="0"/>
          </a:p>
        </p:txBody>
      </p:sp>
      <p:sp>
        <p:nvSpPr>
          <p:cNvPr id="7" name="text-6"/>
          <p:cNvSpPr txBox="1"/>
          <p:nvPr/>
        </p:nvSpPr>
        <p:spPr>
          <a:xfrm>
            <a:off x="457200" y="2076450"/>
            <a:ext cx="63002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spc="5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[FAN-see]</a:t>
            </a:r>
            <a:endParaRPr lang="en-US" sz="1250" dirty="0"/>
          </a:p>
        </p:txBody>
      </p:sp>
      <p:sp>
        <p:nvSpPr>
          <p:cNvPr id="8" name="shape-7"/>
          <p:cNvSpPr/>
          <p:nvPr/>
        </p:nvSpPr>
        <p:spPr>
          <a:xfrm rot="-90000">
            <a:off x="457200" y="3254127"/>
            <a:ext cx="2901950" cy="838200"/>
          </a:xfrm>
          <a:prstGeom prst="roundRect">
            <a:avLst>
              <a:gd name="adj" fmla="val 19697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-8"/>
          <p:cNvSpPr txBox="1"/>
          <p:nvPr/>
        </p:nvSpPr>
        <p:spPr>
          <a:xfrm rot="-90000">
            <a:off x="643312" y="3432629"/>
            <a:ext cx="2672207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КАЖЕТСЯ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650277" y="3641443"/>
            <a:ext cx="2672207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5A5852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модный, нарядный</a:t>
            </a:r>
            <a:endParaRPr lang="en-US" sz="1700" dirty="0"/>
          </a:p>
        </p:txBody>
      </p:sp>
      <p:sp>
        <p:nvSpPr>
          <p:cNvPr id="11" name="shape-10"/>
          <p:cNvSpPr/>
          <p:nvPr/>
        </p:nvSpPr>
        <p:spPr>
          <a:xfrm rot="90000">
            <a:off x="3498850" y="3254127"/>
            <a:ext cx="2901950" cy="838200"/>
          </a:xfrm>
          <a:prstGeom prst="roundRect">
            <a:avLst>
              <a:gd name="adj" fmla="val 19697"/>
            </a:avLst>
          </a:prstGeom>
          <a:solidFill>
            <a:srgbClr val="0A0A0A"/>
          </a:solidFill>
          <a:ln/>
        </p:spPr>
      </p:sp>
      <p:sp>
        <p:nvSpPr>
          <p:cNvPr id="12" name="text-11"/>
          <p:cNvSpPr txBox="1"/>
          <p:nvPr/>
        </p:nvSpPr>
        <p:spPr>
          <a:xfrm rot="90000">
            <a:off x="3681370" y="3419934"/>
            <a:ext cx="2699131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 КЛАССИКЕ</a:t>
            </a:r>
            <a:endParaRPr lang="en-US" sz="900" dirty="0"/>
          </a:p>
        </p:txBody>
      </p:sp>
      <p:sp>
        <p:nvSpPr>
          <p:cNvPr id="13" name="text-12"/>
          <p:cNvSpPr txBox="1"/>
          <p:nvPr/>
        </p:nvSpPr>
        <p:spPr>
          <a:xfrm rot="90000">
            <a:off x="3674406" y="3628748"/>
            <a:ext cx="2699131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spc="-20" kern="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вообразить, показаться</a:t>
            </a:r>
            <a:endParaRPr lang="en-US" sz="1700" dirty="0"/>
          </a:p>
        </p:txBody>
      </p:sp>
      <p:sp>
        <p:nvSpPr>
          <p:cNvPr id="14" name="shape-13"/>
          <p:cNvSpPr/>
          <p:nvPr/>
        </p:nvSpPr>
        <p:spPr>
          <a:xfrm rot="72000">
            <a:off x="457200" y="5060454"/>
            <a:ext cx="5943600" cy="11112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5" name="shape-14"/>
          <p:cNvSpPr/>
          <p:nvPr/>
        </p:nvSpPr>
        <p:spPr>
          <a:xfrm rot="-108000">
            <a:off x="2963854" y="494627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6" name="text-15"/>
          <p:cNvSpPr txBox="1"/>
          <p:nvPr/>
        </p:nvSpPr>
        <p:spPr>
          <a:xfrm rot="72000">
            <a:off x="752026" y="5327183"/>
            <a:ext cx="568096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She 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fancied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she heard footsteps on the stairs.</a:t>
            </a:r>
            <a:endParaRPr lang="en-US" sz="2000" dirty="0"/>
          </a:p>
        </p:txBody>
      </p:sp>
      <p:sp>
        <p:nvSpPr>
          <p:cNvPr id="17" name="text-16"/>
          <p:cNvSpPr txBox="1"/>
          <p:nvPr/>
        </p:nvSpPr>
        <p:spPr>
          <a:xfrm rot="72000">
            <a:off x="744513" y="5733504"/>
            <a:ext cx="568096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A585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Ей показалось, что на лестнице шаги.</a:t>
            </a:r>
            <a:endParaRPr lang="en-US" sz="1250" dirty="0"/>
          </a:p>
        </p:txBody>
      </p:sp>
      <p:sp>
        <p:nvSpPr>
          <p:cNvPr id="18" name="text-17"/>
          <p:cNvSpPr txBox="1"/>
          <p:nvPr/>
        </p:nvSpPr>
        <p:spPr>
          <a:xfrm>
            <a:off x="457200" y="7140476"/>
            <a:ext cx="6300216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КАК НЕ ПОПАСТЬСЯ</a:t>
            </a:r>
            <a:endParaRPr lang="en-US" sz="900" dirty="0"/>
          </a:p>
        </p:txBody>
      </p:sp>
      <p:sp>
        <p:nvSpPr>
          <p:cNvPr id="19" name="text-18"/>
          <p:cNvSpPr txBox="1"/>
          <p:nvPr/>
        </p:nvSpPr>
        <p:spPr>
          <a:xfrm>
            <a:off x="457002" y="7361138"/>
            <a:ext cx="6158865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Глагол </a:t>
            </a:r>
            <a:pPr algn="l" indent="0" marL="0">
              <a:lnSpc>
                <a:spcPts val="203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fancy</a:t>
            </a:r>
            <a:pPr algn="l" indent="0" marL="0">
              <a:lnSpc>
                <a:spcPts val="203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в старых текстах значит «думать, воображать».</a:t>
            </a:r>
            <a:endParaRPr lang="en-US" sz="1500" dirty="0"/>
          </a:p>
        </p:txBody>
      </p:sp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43000"/>
            <a:ext cx="279400" cy="279400"/>
          </a:xfrm>
          <a:prstGeom prst="rect">
            <a:avLst/>
          </a:prstGeom>
        </p:spPr>
      </p:pic>
      <p:sp>
        <p:nvSpPr>
          <p:cNvPr id="21" name="text-20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2" name="shape-21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3" name="text-22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4" name="svg-2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200" y="406400"/>
            <a:ext cx="28067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7400" y="482600"/>
            <a:ext cx="2490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МИНИ-СЛОВАРЬ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706"/>
            <a:ext cx="630021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0"/>
              </a:lnSpc>
              <a:buNone/>
            </a:pPr>
            <a:r>
              <a:rPr lang="en-US" sz="44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Ещё 8 </a:t>
            </a:r>
            <a:pPr algn="l" indent="0" marL="0">
              <a:lnSpc>
                <a:spcPts val="4490"/>
              </a:lnSpc>
              <a:buNone/>
            </a:pPr>
            <a:r>
              <a:rPr lang="en-US" sz="50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коротких</a:t>
            </a:r>
            <a:endParaRPr lang="en-US" sz="44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1738312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Эти слова почти не встречаются сегодня, но в классике попадаются постоянно.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60000">
            <a:off x="457200" y="2983210"/>
            <a:ext cx="2901950" cy="927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text-8"/>
          <p:cNvSpPr txBox="1"/>
          <p:nvPr/>
        </p:nvSpPr>
        <p:spPr>
          <a:xfrm rot="-60000">
            <a:off x="632695" y="3136920"/>
            <a:ext cx="269913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ere</a:t>
            </a:r>
            <a:endParaRPr lang="en-US" sz="2800" dirty="0"/>
          </a:p>
        </p:txBody>
      </p:sp>
      <p:sp>
        <p:nvSpPr>
          <p:cNvPr id="10" name="text-9"/>
          <p:cNvSpPr txBox="1"/>
          <p:nvPr/>
        </p:nvSpPr>
        <p:spPr>
          <a:xfrm rot="-60000">
            <a:off x="638546" y="3541979"/>
            <a:ext cx="269913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до, прежде чем</a:t>
            </a:r>
            <a:endParaRPr lang="en-US" sz="1400" dirty="0"/>
          </a:p>
        </p:txBody>
      </p:sp>
      <p:sp>
        <p:nvSpPr>
          <p:cNvPr id="11" name="shape-10"/>
          <p:cNvSpPr/>
          <p:nvPr/>
        </p:nvSpPr>
        <p:spPr>
          <a:xfrm rot="60000">
            <a:off x="3498850" y="2983210"/>
            <a:ext cx="2901950" cy="927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2" name="text-11"/>
          <p:cNvSpPr txBox="1"/>
          <p:nvPr/>
        </p:nvSpPr>
        <p:spPr>
          <a:xfrm rot="60000">
            <a:off x="3678955" y="3136920"/>
            <a:ext cx="269913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lest</a:t>
            </a:r>
            <a:endParaRPr lang="en-US" sz="2800" dirty="0"/>
          </a:p>
        </p:txBody>
      </p:sp>
      <p:sp>
        <p:nvSpPr>
          <p:cNvPr id="13" name="text-12"/>
          <p:cNvSpPr txBox="1"/>
          <p:nvPr/>
        </p:nvSpPr>
        <p:spPr>
          <a:xfrm rot="60000">
            <a:off x="3673104" y="3541979"/>
            <a:ext cx="269913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чтобы не</a:t>
            </a:r>
            <a:endParaRPr lang="en-US" sz="1400" dirty="0"/>
          </a:p>
        </p:txBody>
      </p:sp>
      <p:sp>
        <p:nvSpPr>
          <p:cNvPr id="14" name="shape-13"/>
          <p:cNvSpPr/>
          <p:nvPr/>
        </p:nvSpPr>
        <p:spPr>
          <a:xfrm rot="60000">
            <a:off x="457200" y="4034730"/>
            <a:ext cx="2901950" cy="927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5" name="text-14"/>
          <p:cNvSpPr txBox="1"/>
          <p:nvPr/>
        </p:nvSpPr>
        <p:spPr>
          <a:xfrm rot="60000">
            <a:off x="637305" y="4188440"/>
            <a:ext cx="269913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whence</a:t>
            </a:r>
            <a:endParaRPr lang="en-US" sz="2800" dirty="0"/>
          </a:p>
        </p:txBody>
      </p:sp>
      <p:sp>
        <p:nvSpPr>
          <p:cNvPr id="16" name="text-15"/>
          <p:cNvSpPr txBox="1"/>
          <p:nvPr/>
        </p:nvSpPr>
        <p:spPr>
          <a:xfrm rot="60000">
            <a:off x="631454" y="4593499"/>
            <a:ext cx="269913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откуда</a:t>
            </a:r>
            <a:endParaRPr lang="en-US" sz="1400" dirty="0"/>
          </a:p>
        </p:txBody>
      </p:sp>
      <p:sp>
        <p:nvSpPr>
          <p:cNvPr id="17" name="shape-16"/>
          <p:cNvSpPr/>
          <p:nvPr/>
        </p:nvSpPr>
        <p:spPr>
          <a:xfrm rot="-60000">
            <a:off x="3498850" y="4034730"/>
            <a:ext cx="2901950" cy="927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8" name="text-17"/>
          <p:cNvSpPr txBox="1"/>
          <p:nvPr/>
        </p:nvSpPr>
        <p:spPr>
          <a:xfrm rot="-60000">
            <a:off x="3674345" y="4188440"/>
            <a:ext cx="269913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hither</a:t>
            </a:r>
            <a:endParaRPr lang="en-US" sz="2800" dirty="0"/>
          </a:p>
        </p:txBody>
      </p:sp>
      <p:sp>
        <p:nvSpPr>
          <p:cNvPr id="19" name="text-18"/>
          <p:cNvSpPr txBox="1"/>
          <p:nvPr/>
        </p:nvSpPr>
        <p:spPr>
          <a:xfrm rot="-60000">
            <a:off x="3680196" y="4593499"/>
            <a:ext cx="269913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сюда</a:t>
            </a:r>
            <a:endParaRPr lang="en-US" sz="1400" dirty="0"/>
          </a:p>
        </p:txBody>
      </p:sp>
      <p:sp>
        <p:nvSpPr>
          <p:cNvPr id="20" name="shape-19"/>
          <p:cNvSpPr/>
          <p:nvPr/>
        </p:nvSpPr>
        <p:spPr>
          <a:xfrm rot="-60000">
            <a:off x="457200" y="5086251"/>
            <a:ext cx="2901950" cy="927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1" name="text-20"/>
          <p:cNvSpPr txBox="1"/>
          <p:nvPr/>
        </p:nvSpPr>
        <p:spPr>
          <a:xfrm rot="-60000">
            <a:off x="632695" y="5239961"/>
            <a:ext cx="269913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thence</a:t>
            </a:r>
            <a:endParaRPr lang="en-US" sz="2800" dirty="0"/>
          </a:p>
        </p:txBody>
      </p:sp>
      <p:sp>
        <p:nvSpPr>
          <p:cNvPr id="22" name="text-21"/>
          <p:cNvSpPr txBox="1"/>
          <p:nvPr/>
        </p:nvSpPr>
        <p:spPr>
          <a:xfrm rot="-60000">
            <a:off x="638546" y="5645020"/>
            <a:ext cx="269913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оттуда</a:t>
            </a:r>
            <a:endParaRPr lang="en-US" sz="1400" dirty="0"/>
          </a:p>
        </p:txBody>
      </p:sp>
      <p:sp>
        <p:nvSpPr>
          <p:cNvPr id="23" name="shape-22"/>
          <p:cNvSpPr/>
          <p:nvPr/>
        </p:nvSpPr>
        <p:spPr>
          <a:xfrm rot="60000">
            <a:off x="3498850" y="5086251"/>
            <a:ext cx="2901950" cy="927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4" name="text-23"/>
          <p:cNvSpPr txBox="1"/>
          <p:nvPr/>
        </p:nvSpPr>
        <p:spPr>
          <a:xfrm rot="60000">
            <a:off x="3678955" y="5239961"/>
            <a:ext cx="269913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fain</a:t>
            </a:r>
            <a:endParaRPr lang="en-US" sz="2800" dirty="0"/>
          </a:p>
        </p:txBody>
      </p:sp>
      <p:sp>
        <p:nvSpPr>
          <p:cNvPr id="25" name="text-24"/>
          <p:cNvSpPr txBox="1"/>
          <p:nvPr/>
        </p:nvSpPr>
        <p:spPr>
          <a:xfrm rot="60000">
            <a:off x="3673104" y="5645020"/>
            <a:ext cx="269913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охотно</a:t>
            </a:r>
            <a:endParaRPr lang="en-US" sz="1400" dirty="0"/>
          </a:p>
        </p:txBody>
      </p:sp>
      <p:sp>
        <p:nvSpPr>
          <p:cNvPr id="26" name="shape-25"/>
          <p:cNvSpPr/>
          <p:nvPr/>
        </p:nvSpPr>
        <p:spPr>
          <a:xfrm rot="60000">
            <a:off x="457200" y="6137771"/>
            <a:ext cx="2901950" cy="927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7" name="text-26"/>
          <p:cNvSpPr txBox="1"/>
          <p:nvPr/>
        </p:nvSpPr>
        <p:spPr>
          <a:xfrm rot="60000">
            <a:off x="637305" y="6291481"/>
            <a:ext cx="269913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betwixt</a:t>
            </a:r>
            <a:endParaRPr lang="en-US" sz="2800" dirty="0"/>
          </a:p>
        </p:txBody>
      </p:sp>
      <p:sp>
        <p:nvSpPr>
          <p:cNvPr id="28" name="text-27"/>
          <p:cNvSpPr txBox="1"/>
          <p:nvPr/>
        </p:nvSpPr>
        <p:spPr>
          <a:xfrm rot="60000">
            <a:off x="631454" y="6696540"/>
            <a:ext cx="269913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между</a:t>
            </a:r>
            <a:endParaRPr lang="en-US" sz="1400" dirty="0"/>
          </a:p>
        </p:txBody>
      </p:sp>
      <p:sp>
        <p:nvSpPr>
          <p:cNvPr id="29" name="shape-28"/>
          <p:cNvSpPr/>
          <p:nvPr/>
        </p:nvSpPr>
        <p:spPr>
          <a:xfrm rot="-60000">
            <a:off x="3498850" y="6137771"/>
            <a:ext cx="2901950" cy="927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30" name="text-29"/>
          <p:cNvSpPr txBox="1"/>
          <p:nvPr/>
        </p:nvSpPr>
        <p:spPr>
          <a:xfrm rot="-60000">
            <a:off x="3674345" y="6291481"/>
            <a:ext cx="269913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anon</a:t>
            </a:r>
            <a:endParaRPr lang="en-US" sz="2800" dirty="0"/>
          </a:p>
        </p:txBody>
      </p:sp>
      <p:sp>
        <p:nvSpPr>
          <p:cNvPr id="31" name="text-30"/>
          <p:cNvSpPr txBox="1"/>
          <p:nvPr/>
        </p:nvSpPr>
        <p:spPr>
          <a:xfrm rot="-60000">
            <a:off x="3680196" y="6696540"/>
            <a:ext cx="269913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вскоре</a:t>
            </a:r>
            <a:endParaRPr lang="en-US" sz="1400" dirty="0"/>
          </a:p>
        </p:txBody>
      </p:sp>
      <p:sp>
        <p:nvSpPr>
          <p:cNvPr id="32" name="text-31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33" name="shape-32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34" name="text-33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35" name="svg-3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24320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2093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VERBAL · ПРОВЕРКА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12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706"/>
            <a:ext cx="630021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0"/>
              </a:lnSpc>
              <a:buNone/>
            </a:pPr>
            <a:r>
              <a:rPr lang="en-US" sz="44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Проверь </a:t>
            </a:r>
            <a:pPr algn="l" indent="0" marL="0">
              <a:lnSpc>
                <a:spcPts val="4490"/>
              </a:lnSpc>
              <a:buNone/>
            </a:pPr>
            <a:r>
              <a:rPr lang="en-US" sz="50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себя</a:t>
            </a:r>
            <a:endParaRPr lang="en-US" sz="4400" dirty="0"/>
          </a:p>
        </p:txBody>
      </p:sp>
      <p:sp>
        <p:nvSpPr>
          <p:cNvPr id="7" name="shape-6"/>
          <p:cNvSpPr/>
          <p:nvPr/>
        </p:nvSpPr>
        <p:spPr>
          <a:xfrm rot="-60000">
            <a:off x="457200" y="2094210"/>
            <a:ext cx="5943600" cy="3479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shape-7"/>
          <p:cNvSpPr/>
          <p:nvPr/>
        </p:nvSpPr>
        <p:spPr>
          <a:xfrm rot="-240000">
            <a:off x="2922850" y="1981461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9" name="text-8"/>
          <p:cNvSpPr txBox="1"/>
          <p:nvPr/>
        </p:nvSpPr>
        <p:spPr>
          <a:xfrm rot="-60000">
            <a:off x="745067" y="2387748"/>
            <a:ext cx="565404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Though Margaret said nothing, she was perfectly 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sensible</a:t>
            </a:r>
            <a:pPr algn="l" indent="0" marL="0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 of the slight, and it stayed with her for many days.</a:t>
            </a:r>
            <a:endParaRPr lang="en-US" sz="2000" dirty="0"/>
          </a:p>
        </p:txBody>
      </p:sp>
      <p:sp>
        <p:nvSpPr>
          <p:cNvPr id="10" name="text-9"/>
          <p:cNvSpPr txBox="1"/>
          <p:nvPr/>
        </p:nvSpPr>
        <p:spPr>
          <a:xfrm rot="-60000">
            <a:off x="760448" y="3503924"/>
            <a:ext cx="565404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As used in the text, what does the word «sensible» most nearly mean?</a:t>
            </a:r>
            <a:endParaRPr lang="en-US" sz="1400" dirty="0"/>
          </a:p>
        </p:txBody>
      </p:sp>
      <p:sp>
        <p:nvSpPr>
          <p:cNvPr id="11" name="text-10"/>
          <p:cNvSpPr txBox="1"/>
          <p:nvPr/>
        </p:nvSpPr>
        <p:spPr>
          <a:xfrm rot="-60000">
            <a:off x="768793" y="4099461"/>
            <a:ext cx="5654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A)</a:t>
            </a:r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practical</a:t>
            </a:r>
            <a:endParaRPr lang="en-US" sz="1500" dirty="0"/>
          </a:p>
        </p:txBody>
      </p:sp>
      <p:sp>
        <p:nvSpPr>
          <p:cNvPr id="12" name="text-11"/>
          <p:cNvSpPr txBox="1"/>
          <p:nvPr/>
        </p:nvSpPr>
        <p:spPr>
          <a:xfrm rot="-60000">
            <a:off x="774445" y="4423262"/>
            <a:ext cx="5654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B)</a:t>
            </a:r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aware</a:t>
            </a:r>
            <a:endParaRPr lang="en-US" sz="1500" dirty="0"/>
          </a:p>
        </p:txBody>
      </p:sp>
      <p:sp>
        <p:nvSpPr>
          <p:cNvPr id="13" name="text-12"/>
          <p:cNvSpPr txBox="1"/>
          <p:nvPr/>
        </p:nvSpPr>
        <p:spPr>
          <a:xfrm rot="-60000">
            <a:off x="780097" y="4747062"/>
            <a:ext cx="5654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C)</a:t>
            </a:r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reasonable</a:t>
            </a:r>
            <a:endParaRPr lang="en-US" sz="1500" dirty="0"/>
          </a:p>
        </p:txBody>
      </p:sp>
      <p:sp>
        <p:nvSpPr>
          <p:cNvPr id="14" name="text-13"/>
          <p:cNvSpPr txBox="1"/>
          <p:nvPr/>
        </p:nvSpPr>
        <p:spPr>
          <a:xfrm rot="-60000">
            <a:off x="785749" y="5070863"/>
            <a:ext cx="56540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D)</a:t>
            </a:r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logical</a:t>
            </a:r>
            <a:endParaRPr lang="en-US" sz="1500" dirty="0"/>
          </a:p>
        </p:txBody>
      </p:sp>
      <p:sp>
        <p:nvSpPr>
          <p:cNvPr id="15" name="text-14"/>
          <p:cNvSpPr txBox="1"/>
          <p:nvPr/>
        </p:nvSpPr>
        <p:spPr>
          <a:xfrm rot="10800000">
            <a:off x="338328" y="7340600"/>
            <a:ext cx="6181344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ОТВЕТ</a:t>
            </a:r>
            <a:endParaRPr lang="en-US" sz="900" dirty="0"/>
          </a:p>
        </p:txBody>
      </p:sp>
      <p:sp>
        <p:nvSpPr>
          <p:cNvPr id="16" name="text-15"/>
          <p:cNvSpPr txBox="1"/>
          <p:nvPr/>
        </p:nvSpPr>
        <p:spPr>
          <a:xfrm rot="10800000">
            <a:off x="338328" y="7112000"/>
            <a:ext cx="6181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150" spc="3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B) aware · «sensible of» = осознавать</a:t>
            </a:r>
            <a:endParaRPr lang="en-US" sz="1150" dirty="0"/>
          </a:p>
        </p:txBody>
      </p:sp>
      <p:sp>
        <p:nvSpPr>
          <p:cNvPr id="17" name="text-16"/>
          <p:cNvSpPr txBox="1"/>
          <p:nvPr/>
        </p:nvSpPr>
        <p:spPr>
          <a:xfrm>
            <a:off x="457845" y="80454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 отказался от 170 000 000 ₸</dc:title>
  <dc:subject>PptxGenJS Presentation</dc:subject>
  <dc:creator>PptxGenJS</dc:creator>
  <cp:lastModifiedBy>PptxGenJS</cp:lastModifiedBy>
  <cp:revision>1</cp:revision>
  <dcterms:created xsi:type="dcterms:W3CDTF">2026-10-19T10:42:26Z</dcterms:created>
  <dcterms:modified xsi:type="dcterms:W3CDTF">2026-10-19T10:42:26Z</dcterms:modified>
</cp:coreProperties>
</file>