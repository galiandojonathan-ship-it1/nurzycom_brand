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6858000" cy="8572500"/>
  <p:notesSz cx="8572500" cy="6858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image" Target="../media/image-1-3.jpe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image" Target="../media/image-1-7.png"/><Relationship Id="rId8" Type="http://schemas.openxmlformats.org/officeDocument/2006/relationships/image" Target="../media/image-1-8.png"/><Relationship Id="rId9" Type="http://schemas.openxmlformats.org/officeDocument/2006/relationships/image" Target="../media/image-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jpeg"/><Relationship Id="rId7" Type="http://schemas.openxmlformats.org/officeDocument/2006/relationships/image" Target="../media/image-2-7.jpeg"/><Relationship Id="rId8" Type="http://schemas.openxmlformats.org/officeDocument/2006/relationships/image" Target="../media/image-2-8.png"/><Relationship Id="rId9" Type="http://schemas.openxmlformats.org/officeDocument/2006/relationships/image" Target="../media/image-2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e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slideLayout" Target="../slideLayouts/slideLayout1.xml"/><Relationship Id="rId1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 · УЧЕНИК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01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1085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500"/>
              </a:lnSpc>
              <a:buNone/>
            </a:pPr>
            <a:r>
              <a:rPr lang="en-US" sz="7500" b="1" spc="-34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1300 → </a:t>
            </a:r>
            <a:pPr algn="l" indent="0" marL="0">
              <a:lnSpc>
                <a:spcPts val="7500"/>
              </a:lnSpc>
              <a:buNone/>
            </a:pPr>
            <a:r>
              <a:rPr lang="en-US" sz="8400" i="1" spc="-17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1580</a:t>
            </a:r>
            <a:endParaRPr lang="en-US" sz="7500" dirty="0"/>
          </a:p>
        </p:txBody>
      </p:sp>
      <p:sp>
        <p:nvSpPr>
          <p:cNvPr id="7" name="text-6"/>
          <p:cNvSpPr txBox="1"/>
          <p:nvPr/>
        </p:nvSpPr>
        <p:spPr>
          <a:xfrm>
            <a:off x="457002" y="2139950"/>
            <a:ext cx="6158865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Это Юсуф, мой первый ученик и близкий друг. Я сопровождаю его поступление, и вот как вырос его SAT.</a:t>
            </a:r>
            <a:endParaRPr lang="en-US" sz="1500" dirty="0"/>
          </a:p>
        </p:txBody>
      </p:sp>
      <p:sp>
        <p:nvSpPr>
          <p:cNvPr id="8" name="shape-7"/>
          <p:cNvSpPr/>
          <p:nvPr/>
        </p:nvSpPr>
        <p:spPr>
          <a:xfrm rot="-180000">
            <a:off x="1460500" y="2984500"/>
            <a:ext cx="3810000" cy="4330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1980000">
            <a:off x="1096810" y="2961201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shape-9"/>
          <p:cNvSpPr/>
          <p:nvPr/>
        </p:nvSpPr>
        <p:spPr>
          <a:xfrm rot="1380000">
            <a:off x="4483727" y="2796418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1" name="shape-10"/>
          <p:cNvSpPr/>
          <p:nvPr/>
        </p:nvSpPr>
        <p:spPr>
          <a:xfrm rot="-180000">
            <a:off x="1567156" y="3099000"/>
            <a:ext cx="3581400" cy="3810000"/>
          </a:xfrm>
          <a:prstGeom prst="rect">
            <a:avLst/>
          </a:prstGeom>
          <a:solidFill>
            <a:srgbClr val="D5D5D4"/>
          </a:solidFill>
          <a:ln/>
        </p:spPr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80000">
            <a:off x="1567156" y="3099000"/>
            <a:ext cx="3581400" cy="38100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 rot="-180000">
            <a:off x="1485329" y="6931554"/>
            <a:ext cx="396240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Юсуф</a:t>
            </a:r>
            <a:endParaRPr lang="en-US" sz="17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00" y="2984500"/>
            <a:ext cx="279400" cy="279400"/>
          </a:xfrm>
          <a:prstGeom prst="rect">
            <a:avLst/>
          </a:prstGeom>
        </p:spPr>
      </p:pic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69000" y="5588000"/>
            <a:ext cx="190500" cy="1905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shape-19"/>
          <p:cNvSpPr/>
          <p:nvPr/>
        </p:nvSpPr>
        <p:spPr>
          <a:xfrm rot="360000">
            <a:off x="4737745" y="3429000"/>
            <a:ext cx="18034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360000">
            <a:off x="4894334" y="3472489"/>
            <a:ext cx="203200" cy="2032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 rot="360000">
            <a:off x="5168780" y="3532503"/>
            <a:ext cx="129235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+280 баллов</a:t>
            </a:r>
            <a:endParaRPr lang="en-US" sz="1500" dirty="0"/>
          </a:p>
        </p:txBody>
      </p:sp>
      <p:sp>
        <p:nvSpPr>
          <p:cNvPr id="23" name="shape-22"/>
          <p:cNvSpPr/>
          <p:nvPr/>
        </p:nvSpPr>
        <p:spPr>
          <a:xfrm rot="-240000">
            <a:off x="4127847" y="6191250"/>
            <a:ext cx="247650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4" name="svg-23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-240000">
            <a:off x="4295660" y="6382823"/>
            <a:ext cx="203200" cy="203200"/>
          </a:xfrm>
          <a:prstGeom prst="rect">
            <a:avLst/>
          </a:prstGeom>
        </p:spPr>
      </p:pic>
      <p:sp>
        <p:nvSpPr>
          <p:cNvPr id="25" name="text-24"/>
          <p:cNvSpPr txBox="1"/>
          <p:nvPr/>
        </p:nvSpPr>
        <p:spPr>
          <a:xfrm rot="-240000">
            <a:off x="4572007" y="6283105"/>
            <a:ext cx="1978914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эссе · академ часть</a:t>
            </a:r>
            <a:endParaRPr lang="en-US" sz="1500" dirty="0"/>
          </a:p>
        </p:txBody>
      </p:sp>
      <p:sp>
        <p:nvSpPr>
          <p:cNvPr id="26" name="shape-25"/>
          <p:cNvSpPr/>
          <p:nvPr/>
        </p:nvSpPr>
        <p:spPr>
          <a:xfrm rot="-300000">
            <a:off x="280095" y="6096000"/>
            <a:ext cx="23050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7" name="svg-26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300000">
            <a:off x="447873" y="6297090"/>
            <a:ext cx="203200" cy="203200"/>
          </a:xfrm>
          <a:prstGeom prst="rect">
            <a:avLst/>
          </a:prstGeom>
        </p:spPr>
      </p:pic>
      <p:sp>
        <p:nvSpPr>
          <p:cNvPr id="28" name="text-27"/>
          <p:cNvSpPr txBox="1"/>
          <p:nvPr/>
        </p:nvSpPr>
        <p:spPr>
          <a:xfrm rot="-300000">
            <a:off x="724063" y="6185424"/>
            <a:ext cx="1797177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&gt;99-й перцентиль</a:t>
            </a:r>
            <a:endParaRPr lang="en-US" sz="1500" dirty="0"/>
          </a:p>
        </p:txBody>
      </p:sp>
      <p:sp>
        <p:nvSpPr>
          <p:cNvPr id="29" name="text-28"/>
          <p:cNvSpPr txBox="1"/>
          <p:nvPr/>
        </p:nvSpPr>
        <p:spPr>
          <a:xfrm rot="-180000">
            <a:off x="3556149" y="7301309"/>
            <a:ext cx="1972183" cy="514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 его разрешения,</a:t>
            </a:r>
            <a:endParaRPr lang="en-US" sz="1800" dirty="0"/>
          </a:p>
          <a:p>
            <a:pPr algn="l" indent="0" marL="0">
              <a:lnSpc>
                <a:spcPts val="2020"/>
              </a:lnSpc>
              <a:buNone/>
            </a:pPr>
            <a:r>
              <a:rPr lang="en-US" sz="18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конечно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639" y="406400"/>
            <a:ext cx="16764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839" y="482600"/>
            <a:ext cx="129235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ЯНВАРЬ → ИЮНЬ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02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8890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Было 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стало</a:t>
            </a:r>
            <a:endParaRPr lang="en-US" sz="4600" dirty="0"/>
          </a:p>
        </p:txBody>
      </p:sp>
      <p:pic>
        <p:nvPicPr>
          <p:cNvPr id="7" name="svg-6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9600" y="2095500"/>
            <a:ext cx="279400" cy="279400"/>
          </a:xfrm>
          <a:prstGeom prst="rect">
            <a:avLst/>
          </a:prstGeom>
        </p:spPr>
      </p:pic>
      <p:pic>
        <p:nvPicPr>
          <p:cNvPr id="8" name="svg-7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500" y="7683500"/>
            <a:ext cx="190500" cy="190500"/>
          </a:xfrm>
          <a:prstGeom prst="rect">
            <a:avLst/>
          </a:prstGeom>
        </p:spPr>
      </p:pic>
      <p:sp>
        <p:nvSpPr>
          <p:cNvPr id="9" name="text-8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0" name="shape-9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1" name="text-10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13" name="shape-12"/>
          <p:cNvSpPr/>
          <p:nvPr/>
        </p:nvSpPr>
        <p:spPr>
          <a:xfrm rot="-180000">
            <a:off x="355600" y="1841698"/>
            <a:ext cx="3937000" cy="28448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4" name="shape-13"/>
          <p:cNvSpPr/>
          <p:nvPr/>
        </p:nvSpPr>
        <p:spPr>
          <a:xfrm rot="-420000">
            <a:off x="1774726" y="1729115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5" name="img-1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rot="-180000">
            <a:off x="451550" y="1943446"/>
            <a:ext cx="3733800" cy="24257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 rot="-180000">
            <a:off x="522680" y="4443682"/>
            <a:ext cx="3957828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spc="12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ПРОБНЫЙ ТЕСТ BLUEBOOK · 10.01.2026</a:t>
            </a:r>
            <a:endParaRPr lang="en-US" sz="850" dirty="0"/>
          </a:p>
        </p:txBody>
      </p:sp>
      <p:sp>
        <p:nvSpPr>
          <p:cNvPr id="17" name="shape-16"/>
          <p:cNvSpPr/>
          <p:nvPr/>
        </p:nvSpPr>
        <p:spPr>
          <a:xfrm rot="120000">
            <a:off x="2108200" y="4698702"/>
            <a:ext cx="4445000" cy="2895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18" name="shape-17"/>
          <p:cNvSpPr/>
          <p:nvPr/>
        </p:nvSpPr>
        <p:spPr>
          <a:xfrm rot="-120000">
            <a:off x="3904081" y="4585566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pic>
        <p:nvPicPr>
          <p:cNvPr id="19" name="img-1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120000">
            <a:off x="2213567" y="4800368"/>
            <a:ext cx="4241800" cy="24765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 rot="120000">
            <a:off x="2165266" y="7351928"/>
            <a:ext cx="4496308" cy="139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0"/>
              </a:lnSpc>
              <a:buNone/>
            </a:pPr>
            <a:r>
              <a:rPr lang="en-US" sz="850" spc="12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ОФИЦИАЛЬНЫЙ SAT · 06.06.2026</a:t>
            </a:r>
            <a:endParaRPr lang="en-US" sz="850" dirty="0"/>
          </a:p>
        </p:txBody>
      </p:sp>
      <p:sp>
        <p:nvSpPr>
          <p:cNvPr id="21" name="shape-20"/>
          <p:cNvSpPr/>
          <p:nvPr/>
        </p:nvSpPr>
        <p:spPr>
          <a:xfrm rot="300000">
            <a:off x="4330700" y="2159000"/>
            <a:ext cx="220980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2" name="svg-2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rot="300000">
            <a:off x="4486338" y="2195964"/>
            <a:ext cx="203200" cy="203200"/>
          </a:xfrm>
          <a:prstGeom prst="rect">
            <a:avLst/>
          </a:prstGeom>
        </p:spPr>
      </p:pic>
      <p:sp>
        <p:nvSpPr>
          <p:cNvPr id="23" name="text-22"/>
          <p:cNvSpPr txBox="1"/>
          <p:nvPr/>
        </p:nvSpPr>
        <p:spPr>
          <a:xfrm rot="300000">
            <a:off x="4761968" y="2260076"/>
            <a:ext cx="17231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Verbal 620 → 780</a:t>
            </a:r>
            <a:endParaRPr lang="en-US" sz="1500" dirty="0"/>
          </a:p>
        </p:txBody>
      </p:sp>
      <p:sp>
        <p:nvSpPr>
          <p:cNvPr id="24" name="shape-23"/>
          <p:cNvSpPr/>
          <p:nvPr/>
        </p:nvSpPr>
        <p:spPr>
          <a:xfrm rot="-180000">
            <a:off x="4272707" y="3175000"/>
            <a:ext cx="2139950" cy="450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80000">
            <a:off x="4438065" y="3340909"/>
            <a:ext cx="203200" cy="2032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180000">
            <a:off x="4717015" y="3269289"/>
            <a:ext cx="1622171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Math 680 → 800</a:t>
            </a:r>
            <a:endParaRPr lang="en-US" sz="1500" dirty="0"/>
          </a:p>
        </p:txBody>
      </p:sp>
      <p:sp>
        <p:nvSpPr>
          <p:cNvPr id="27" name="text-26"/>
          <p:cNvSpPr txBox="1"/>
          <p:nvPr/>
        </p:nvSpPr>
        <p:spPr>
          <a:xfrm rot="-240000">
            <a:off x="379611" y="5588992"/>
            <a:ext cx="1447165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1300 был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пробником.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1580 уже</a:t>
            </a:r>
            <a:endParaRPr lang="en-US" sz="1600" dirty="0"/>
          </a:p>
          <a:p>
            <a:pPr algn="l" indent="0" marL="0">
              <a:lnSpc>
                <a:spcPts val="1790"/>
              </a:lnSpc>
              <a:buNone/>
            </a:pPr>
            <a:r>
              <a:rPr lang="en-US" sz="16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официальный.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7845" y="406400"/>
            <a:ext cx="177165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045" y="482600"/>
            <a:ext cx="139331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ЛЕТО · ФРАНЦИЯ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03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Открыли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вместе</a:t>
            </a:r>
            <a:endParaRPr lang="en-US" sz="46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1751905"/>
            <a:ext cx="6300216" cy="774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5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Летом Юсуф поехал в Европу на международный стартап‑конкурс со своим проектом OnAiTynys. Во Франции мы вместе открыли его результат.</a:t>
            </a:r>
            <a:endParaRPr lang="en-US" sz="1450" dirty="0"/>
          </a:p>
        </p:txBody>
      </p:sp>
      <p:sp>
        <p:nvSpPr>
          <p:cNvPr id="8" name="shape-7"/>
          <p:cNvSpPr/>
          <p:nvPr/>
        </p:nvSpPr>
        <p:spPr>
          <a:xfrm rot="120000">
            <a:off x="952500" y="3175000"/>
            <a:ext cx="4699000" cy="36957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9" name="shape-8"/>
          <p:cNvSpPr/>
          <p:nvPr/>
        </p:nvSpPr>
        <p:spPr>
          <a:xfrm rot="-1680000">
            <a:off x="763399" y="2987570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0" name="shape-9"/>
          <p:cNvSpPr/>
          <p:nvPr/>
        </p:nvSpPr>
        <p:spPr>
          <a:xfrm rot="1680000">
            <a:off x="5040248" y="3149629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11" name="shape-10"/>
          <p:cNvSpPr/>
          <p:nvPr/>
        </p:nvSpPr>
        <p:spPr>
          <a:xfrm rot="120000">
            <a:off x="1071897" y="3289389"/>
            <a:ext cx="4470400" cy="3175000"/>
          </a:xfrm>
          <a:prstGeom prst="rect">
            <a:avLst/>
          </a:prstGeom>
          <a:solidFill>
            <a:srgbClr val="D5D5D4"/>
          </a:solidFill>
          <a:ln/>
        </p:spPr>
      </p:sp>
      <p:pic>
        <p:nvPicPr>
          <p:cNvPr id="12" name="img-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20000">
            <a:off x="1071897" y="3289389"/>
            <a:ext cx="4470400" cy="31750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 rot="120000">
            <a:off x="802231" y="6488717"/>
            <a:ext cx="4886960" cy="292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40"/>
              </a:lnSpc>
              <a:buNone/>
            </a:pPr>
            <a:r>
              <a:rPr lang="en-US" sz="17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Франция, лето 2026</a:t>
            </a:r>
            <a:endParaRPr lang="en-US" sz="1700" dirty="0"/>
          </a:p>
        </p:txBody>
      </p:sp>
      <p:pic>
        <p:nvPicPr>
          <p:cNvPr id="14" name="svg-1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15000" y="7175500"/>
            <a:ext cx="279400" cy="279400"/>
          </a:xfrm>
          <a:prstGeom prst="rect">
            <a:avLst/>
          </a:prstGeom>
        </p:spPr>
      </p:pic>
      <p:pic>
        <p:nvPicPr>
          <p:cNvPr id="15" name="svg-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500" y="2984500"/>
            <a:ext cx="190500" cy="190500"/>
          </a:xfrm>
          <a:prstGeom prst="rect">
            <a:avLst/>
          </a:prstGeom>
        </p:spPr>
      </p:pic>
      <p:sp>
        <p:nvSpPr>
          <p:cNvPr id="16" name="text-15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17" name="shape-16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18" name="text-17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0" name="shape-19"/>
          <p:cNvSpPr/>
          <p:nvPr/>
        </p:nvSpPr>
        <p:spPr>
          <a:xfrm rot="-360000">
            <a:off x="5036741" y="2984500"/>
            <a:ext cx="1441450" cy="4254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1" name="svg-20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rot="-360000">
            <a:off x="5192881" y="3144287"/>
            <a:ext cx="203200" cy="203200"/>
          </a:xfrm>
          <a:prstGeom prst="rect">
            <a:avLst/>
          </a:prstGeom>
        </p:spPr>
      </p:pic>
      <p:sp>
        <p:nvSpPr>
          <p:cNvPr id="22" name="text-21"/>
          <p:cNvSpPr txBox="1"/>
          <p:nvPr/>
        </p:nvSpPr>
        <p:spPr>
          <a:xfrm rot="-360000">
            <a:off x="5467775" y="3058797"/>
            <a:ext cx="908685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spc="-1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1580</a:t>
            </a:r>
            <a:endParaRPr lang="en-US" sz="1500" dirty="0"/>
          </a:p>
        </p:txBody>
      </p:sp>
      <p:sp>
        <p:nvSpPr>
          <p:cNvPr id="23" name="text-22"/>
          <p:cNvSpPr txBox="1"/>
          <p:nvPr/>
        </p:nvSpPr>
        <p:spPr>
          <a:xfrm rot="-180000">
            <a:off x="508645" y="7047210"/>
            <a:ext cx="2954909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2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один из самых ярких</a:t>
            </a:r>
            <a:endParaRPr lang="en-US" sz="2000" dirty="0"/>
          </a:p>
          <a:p>
            <a:pPr algn="l" indent="0" marL="0">
              <a:lnSpc>
                <a:spcPts val="2240"/>
              </a:lnSpc>
              <a:buNone/>
            </a:pPr>
            <a:r>
              <a:rPr lang="en-US" sz="2000" i="1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моментов моего лета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8490" y="406400"/>
            <a:ext cx="26162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8690" y="482600"/>
            <a:ext cx="228854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2025–2026 · ПОСТУПЛЕНИЕ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04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Больше, чем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SAT</a:t>
            </a:r>
            <a:endParaRPr lang="en-US" sz="4600" dirty="0"/>
          </a:p>
        </p:txBody>
      </p:sp>
      <p:sp>
        <p:nvSpPr>
          <p:cNvPr id="7" name="text-6"/>
          <p:cNvSpPr txBox="1"/>
          <p:nvPr/>
        </p:nvSpPr>
        <p:spPr>
          <a:xfrm>
            <a:off x="457200" y="1815405"/>
            <a:ext cx="6300216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С прошлого года я сопровождаю Юсуфа в поступлении. Мы вместе работаем над эссе и над академической частью заявки.</a:t>
            </a:r>
            <a:endParaRPr lang="en-US" sz="1700" dirty="0"/>
          </a:p>
        </p:txBody>
      </p:sp>
      <p:sp>
        <p:nvSpPr>
          <p:cNvPr id="8" name="text-7"/>
          <p:cNvSpPr txBox="1"/>
          <p:nvPr/>
        </p:nvSpPr>
        <p:spPr>
          <a:xfrm>
            <a:off x="457200" y="2836366"/>
            <a:ext cx="6300216" cy="908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80"/>
              </a:lnSpc>
              <a:buNone/>
            </a:pPr>
            <a:r>
              <a:rPr lang="en-US" sz="1700" dirty="0">
                <a:solidFill>
                  <a:srgbClr val="2B2A27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SAT был одной из частей. С марта по май мы занимались в основном Verbal, немного Math. Ещё больше он работал сам. 1580 это его труд.</a:t>
            </a:r>
            <a:endParaRPr lang="en-US" sz="1700" dirty="0"/>
          </a:p>
        </p:txBody>
      </p:sp>
      <p:sp>
        <p:nvSpPr>
          <p:cNvPr id="9" name="shape-8"/>
          <p:cNvSpPr/>
          <p:nvPr/>
        </p:nvSpPr>
        <p:spPr>
          <a:xfrm rot="-120000">
            <a:off x="457051" y="5715000"/>
            <a:ext cx="236220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0" name="svg-9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-120000">
            <a:off x="597484" y="5862758"/>
            <a:ext cx="165100" cy="165100"/>
          </a:xfrm>
          <a:prstGeom prst="rect">
            <a:avLst/>
          </a:prstGeom>
        </p:spPr>
      </p:pic>
      <p:sp>
        <p:nvSpPr>
          <p:cNvPr id="11" name="text-10"/>
          <p:cNvSpPr txBox="1"/>
          <p:nvPr/>
        </p:nvSpPr>
        <p:spPr>
          <a:xfrm rot="-120000">
            <a:off x="837978" y="5799689"/>
            <a:ext cx="195199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январь · пробник 1300</a:t>
            </a:r>
            <a:endParaRPr lang="en-US" sz="1300" dirty="0"/>
          </a:p>
        </p:txBody>
      </p:sp>
      <p:sp>
        <p:nvSpPr>
          <p:cNvPr id="12" name="shape-11"/>
          <p:cNvSpPr/>
          <p:nvPr/>
        </p:nvSpPr>
        <p:spPr>
          <a:xfrm rot="120000">
            <a:off x="1217811" y="6223000"/>
            <a:ext cx="227965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3" name="svg-1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20000">
            <a:off x="1359458" y="6305325"/>
            <a:ext cx="165100" cy="165100"/>
          </a:xfrm>
          <a:prstGeom prst="rect">
            <a:avLst/>
          </a:prstGeom>
        </p:spPr>
      </p:pic>
      <p:sp>
        <p:nvSpPr>
          <p:cNvPr id="14" name="text-13"/>
          <p:cNvSpPr txBox="1"/>
          <p:nvPr/>
        </p:nvSpPr>
        <p:spPr>
          <a:xfrm rot="120000">
            <a:off x="1598737" y="6316111"/>
            <a:ext cx="1864487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март–май · уроки SAT</a:t>
            </a:r>
            <a:endParaRPr lang="en-US" sz="1300" dirty="0"/>
          </a:p>
        </p:txBody>
      </p:sp>
      <p:sp>
        <p:nvSpPr>
          <p:cNvPr id="15" name="shape-14"/>
          <p:cNvSpPr/>
          <p:nvPr/>
        </p:nvSpPr>
        <p:spPr>
          <a:xfrm rot="-120000">
            <a:off x="1979811" y="6731000"/>
            <a:ext cx="1803400" cy="39370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16" name="svg-15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-120000">
            <a:off x="2121313" y="6868964"/>
            <a:ext cx="165100" cy="165100"/>
          </a:xfrm>
          <a:prstGeom prst="rect">
            <a:avLst/>
          </a:prstGeom>
        </p:spPr>
      </p:pic>
      <p:sp>
        <p:nvSpPr>
          <p:cNvPr id="17" name="text-16"/>
          <p:cNvSpPr txBox="1"/>
          <p:nvPr/>
        </p:nvSpPr>
        <p:spPr>
          <a:xfrm rot="-120000">
            <a:off x="2360737" y="6815689"/>
            <a:ext cx="1359662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60"/>
              </a:lnSpc>
              <a:buNone/>
            </a:pPr>
            <a:r>
              <a:rPr lang="en-US" sz="1300" b="1" spc="-1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июнь · SAT 1580</a:t>
            </a:r>
            <a:endParaRPr lang="en-US" sz="1300" dirty="0"/>
          </a:p>
        </p:txBody>
      </p:sp>
      <p:pic>
        <p:nvPicPr>
          <p:cNvPr id="18" name="svg-17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7100" y="4064000"/>
            <a:ext cx="279400" cy="279400"/>
          </a:xfrm>
          <a:prstGeom prst="rect">
            <a:avLst/>
          </a:prstGeom>
        </p:spPr>
      </p:pic>
      <p:pic>
        <p:nvPicPr>
          <p:cNvPr id="19" name="svg-18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61000" y="7302500"/>
            <a:ext cx="190500" cy="190500"/>
          </a:xfrm>
          <a:prstGeom prst="rect">
            <a:avLst/>
          </a:prstGeom>
        </p:spPr>
      </p:pic>
      <p:sp>
        <p:nvSpPr>
          <p:cNvPr id="20" name="text-19"/>
          <p:cNvSpPr txBox="1"/>
          <p:nvPr/>
        </p:nvSpPr>
        <p:spPr>
          <a:xfrm>
            <a:off x="457845" y="79692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  <p:sp>
        <p:nvSpPr>
          <p:cNvPr id="21" name="shape-20"/>
          <p:cNvSpPr/>
          <p:nvPr/>
        </p:nvSpPr>
        <p:spPr>
          <a:xfrm>
            <a:off x="5340945" y="7893050"/>
            <a:ext cx="1060450" cy="32385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</p:spPr>
      </p:sp>
      <p:sp>
        <p:nvSpPr>
          <p:cNvPr id="22" name="text-21"/>
          <p:cNvSpPr txBox="1"/>
          <p:nvPr/>
        </p:nvSpPr>
        <p:spPr>
          <a:xfrm>
            <a:off x="5480645" y="7969250"/>
            <a:ext cx="59905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FAF8F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ЛИСТАЙ</a:t>
            </a:r>
            <a:endParaRPr lang="en-US" sz="1000" dirty="0"/>
          </a:p>
        </p:txBody>
      </p:sp>
      <p:pic>
        <p:nvPicPr>
          <p:cNvPr id="23" name="svg-2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21400" y="7985125"/>
            <a:ext cx="139700" cy="139700"/>
          </a:xfrm>
          <a:prstGeom prst="rect">
            <a:avLst/>
          </a:prstGeom>
        </p:spPr>
      </p:pic>
      <p:sp>
        <p:nvSpPr>
          <p:cNvPr id="24" name="shape-23"/>
          <p:cNvSpPr/>
          <p:nvPr/>
        </p:nvSpPr>
        <p:spPr>
          <a:xfrm rot="-180000">
            <a:off x="455811" y="4635500"/>
            <a:ext cx="1308100" cy="5588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5" name="svg-24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 rot="-180000">
            <a:off x="648159" y="4805441"/>
            <a:ext cx="254000" cy="254000"/>
          </a:xfrm>
          <a:prstGeom prst="rect">
            <a:avLst/>
          </a:prstGeom>
        </p:spPr>
      </p:pic>
      <p:sp>
        <p:nvSpPr>
          <p:cNvPr id="26" name="text-25"/>
          <p:cNvSpPr txBox="1"/>
          <p:nvPr/>
        </p:nvSpPr>
        <p:spPr>
          <a:xfrm rot="-180000">
            <a:off x="976285" y="4741159"/>
            <a:ext cx="632714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эссе</a:t>
            </a:r>
            <a:endParaRPr lang="en-US" sz="2000" dirty="0"/>
          </a:p>
        </p:txBody>
      </p:sp>
      <p:sp>
        <p:nvSpPr>
          <p:cNvPr id="27" name="shape-26"/>
          <p:cNvSpPr/>
          <p:nvPr/>
        </p:nvSpPr>
        <p:spPr>
          <a:xfrm rot="180000">
            <a:off x="2666256" y="4699000"/>
            <a:ext cx="3492500" cy="558800"/>
          </a:xfrm>
          <a:prstGeom prst="roundRect">
            <a:avLst>
              <a:gd name="adj" fmla="val 50000"/>
            </a:avLst>
          </a:prstGeom>
          <a:solidFill>
            <a:srgbClr val="0A0A0A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pic>
        <p:nvPicPr>
          <p:cNvPr id="28" name="svg-27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 rot="180000">
            <a:off x="2859457" y="4776664"/>
            <a:ext cx="254000" cy="254000"/>
          </a:xfrm>
          <a:prstGeom prst="rect">
            <a:avLst/>
          </a:prstGeom>
        </p:spPr>
      </p:pic>
      <p:sp>
        <p:nvSpPr>
          <p:cNvPr id="29" name="text-28"/>
          <p:cNvSpPr txBox="1"/>
          <p:nvPr/>
        </p:nvSpPr>
        <p:spPr>
          <a:xfrm rot="180000">
            <a:off x="3186730" y="4821941"/>
            <a:ext cx="2948178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2000" b="1" spc="-20" kern="0" dirty="0">
                <a:solidFill>
                  <a:srgbClr val="FAF8F3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академическая часть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-1"/>
          <p:cNvSpPr/>
          <p:nvPr/>
        </p:nvSpPr>
        <p:spPr>
          <a:xfrm>
            <a:off x="455960" y="406400"/>
            <a:ext cx="1587500" cy="323850"/>
          </a:xfrm>
          <a:prstGeom prst="roundRect">
            <a:avLst>
              <a:gd name="adj" fmla="val 50000"/>
            </a:avLst>
          </a:prstGeom>
          <a:solidFill>
            <a:srgbClr val="FAF8F3"/>
          </a:solidFill>
          <a:ln w="12700">
            <a:solidFill>
              <a:srgbClr val="0A0A0A"/>
            </a:solidFill>
            <a:prstDash val="solid"/>
          </a:ln>
        </p:spPr>
      </p:sp>
      <p:pic>
        <p:nvPicPr>
          <p:cNvPr id="3" name="svg-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200" y="498475"/>
            <a:ext cx="139700" cy="139700"/>
          </a:xfrm>
          <a:prstGeom prst="rect">
            <a:avLst/>
          </a:prstGeom>
        </p:spPr>
      </p:pic>
      <p:sp>
        <p:nvSpPr>
          <p:cNvPr id="4" name="text-3"/>
          <p:cNvSpPr txBox="1"/>
          <p:nvPr/>
        </p:nvSpPr>
        <p:spPr>
          <a:xfrm>
            <a:off x="786160" y="482600"/>
            <a:ext cx="119811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ОТЗЫВ · ЮСУФ</a:t>
            </a:r>
            <a:endParaRPr lang="en-US" sz="1000" dirty="0"/>
          </a:p>
        </p:txBody>
      </p:sp>
      <p:sp>
        <p:nvSpPr>
          <p:cNvPr id="5" name="text-4"/>
          <p:cNvSpPr txBox="1"/>
          <p:nvPr/>
        </p:nvSpPr>
        <p:spPr>
          <a:xfrm>
            <a:off x="5741640" y="482600"/>
            <a:ext cx="70002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05 / 05</a:t>
            </a:r>
            <a:endParaRPr lang="en-US" sz="1000" dirty="0"/>
          </a:p>
        </p:txBody>
      </p:sp>
      <p:sp>
        <p:nvSpPr>
          <p:cNvPr id="6" name="text-5"/>
          <p:cNvSpPr txBox="1"/>
          <p:nvPr/>
        </p:nvSpPr>
        <p:spPr>
          <a:xfrm>
            <a:off x="457200" y="952500"/>
            <a:ext cx="6300216" cy="673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600"/>
              </a:lnSpc>
              <a:buNone/>
            </a:pPr>
            <a:r>
              <a:rPr lang="en-US" sz="4600" b="1" spc="-160" kern="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Его </a:t>
            </a:r>
            <a:pPr algn="l" indent="0" marL="0">
              <a:lnSpc>
                <a:spcPts val="4600"/>
              </a:lnSpc>
              <a:buNone/>
            </a:pPr>
            <a:r>
              <a:rPr lang="en-US" sz="5200" i="1" spc="-100" kern="0" dirty="0">
                <a:solidFill>
                  <a:srgbClr val="0A0A0A"/>
                </a:solidFill>
                <a:latin typeface="Noto Serif Display Light" pitchFamily="34" charset="0"/>
                <a:ea typeface="Noto Serif Display Light" pitchFamily="34" charset="-122"/>
                <a:cs typeface="Noto Serif Display Light" pitchFamily="34" charset="-120"/>
              </a:rPr>
              <a:t>слова</a:t>
            </a:r>
            <a:endParaRPr lang="en-US" sz="4600" dirty="0"/>
          </a:p>
        </p:txBody>
      </p:sp>
      <p:sp>
        <p:nvSpPr>
          <p:cNvPr id="7" name="shape-6"/>
          <p:cNvSpPr/>
          <p:nvPr/>
        </p:nvSpPr>
        <p:spPr>
          <a:xfrm rot="-72000">
            <a:off x="457200" y="2520950"/>
            <a:ext cx="5943600" cy="3530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77800" dist="76200" dir="5400000">
              <a:srgbClr val="000000">
                <a:alpha val="22000"/>
              </a:srgbClr>
            </a:outerShdw>
          </a:effectLst>
        </p:spPr>
      </p:sp>
      <p:sp>
        <p:nvSpPr>
          <p:cNvPr id="8" name="shape-7"/>
          <p:cNvSpPr/>
          <p:nvPr/>
        </p:nvSpPr>
        <p:spPr>
          <a:xfrm rot="-252000">
            <a:off x="2916329" y="2407825"/>
            <a:ext cx="952500" cy="279400"/>
          </a:xfrm>
          <a:prstGeom prst="rect">
            <a:avLst/>
          </a:prstGeom>
          <a:solidFill>
            <a:srgbClr val="D5D5D4">
              <a:alpha val="90000"/>
            </a:srgbClr>
          </a:solidFill>
          <a:ln/>
        </p:spPr>
      </p:sp>
      <p:sp>
        <p:nvSpPr>
          <p:cNvPr id="9" name="text-8"/>
          <p:cNvSpPr txBox="1"/>
          <p:nvPr/>
        </p:nvSpPr>
        <p:spPr>
          <a:xfrm rot="-72000">
            <a:off x="835208" y="2927381"/>
            <a:ext cx="5492496" cy="2432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90"/>
              </a:lnSpc>
              <a:buNone/>
            </a:pPr>
            <a:r>
              <a:rPr lang="en-US" sz="1650" dirty="0">
                <a:solidFill>
                  <a:srgbClr val="0A0A0A"/>
                </a:solidFill>
                <a:latin typeface="Geist" pitchFamily="34" charset="0"/>
                <a:ea typeface="Geist" pitchFamily="34" charset="-122"/>
                <a:cs typeface="Geist" pitchFamily="34" charset="-120"/>
              </a:rPr>
              <a:t>«Я честно говорю, тьютора лучше Нурасыла вряд ли можно найти. В потоке бесконечных компаний, реклам и т.д. Нурасыл — это личность, а не просто лого. Он один из самых умных людей, которых я встречал, и он буквально излучает теплоту и поддержку, ведь сам он очень добрый! Я многому научился у него, и благодарен, что именно он сопровождает меня на моем пути.»</a:t>
            </a:r>
            <a:endParaRPr lang="en-US" sz="1650" dirty="0"/>
          </a:p>
        </p:txBody>
      </p:sp>
      <p:sp>
        <p:nvSpPr>
          <p:cNvPr id="10" name="text-9"/>
          <p:cNvSpPr txBox="1"/>
          <p:nvPr/>
        </p:nvSpPr>
        <p:spPr>
          <a:xfrm rot="-72000">
            <a:off x="866443" y="5548811"/>
            <a:ext cx="5492496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5A585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ЮСУФ · SAT 1580</a:t>
            </a:r>
            <a:endParaRPr lang="en-US" sz="1000" dirty="0"/>
          </a:p>
        </p:txBody>
      </p:sp>
      <p:pic>
        <p:nvPicPr>
          <p:cNvPr id="11" name="svg-1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100" y="1841500"/>
            <a:ext cx="279400" cy="279400"/>
          </a:xfrm>
          <a:prstGeom prst="rect">
            <a:avLst/>
          </a:prstGeom>
        </p:spPr>
      </p:pic>
      <p:pic>
        <p:nvPicPr>
          <p:cNvPr id="12" name="svg-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2000" y="7620000"/>
            <a:ext cx="190500" cy="190500"/>
          </a:xfrm>
          <a:prstGeom prst="rect">
            <a:avLst/>
          </a:prstGeom>
        </p:spPr>
      </p:pic>
      <p:sp>
        <p:nvSpPr>
          <p:cNvPr id="13" name="text-12"/>
          <p:cNvSpPr txBox="1"/>
          <p:nvPr/>
        </p:nvSpPr>
        <p:spPr>
          <a:xfrm>
            <a:off x="457845" y="8045450"/>
            <a:ext cx="89522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spc="140" kern="0" dirty="0">
                <a:solidFill>
                  <a:srgbClr val="0A0A0A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@NURZYCOM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is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eis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Я отказался от 170 000 000 ₸</dc:title>
  <dc:subject>PptxGenJS Presentation</dc:subject>
  <dc:creator>PptxGenJS</dc:creator>
  <cp:lastModifiedBy>PptxGenJS</cp:lastModifiedBy>
  <cp:revision>1</cp:revision>
  <dcterms:created xsi:type="dcterms:W3CDTF">2026-10-15T17:33:24Z</dcterms:created>
  <dcterms:modified xsi:type="dcterms:W3CDTF">2026-10-15T17:33:24Z</dcterms:modified>
</cp:coreProperties>
</file>