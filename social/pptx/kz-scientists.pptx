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6858000" cy="8572500"/>
  <p:notesSz cx="85725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jpeg"/><Relationship Id="rId4" Type="http://schemas.openxmlformats.org/officeDocument/2006/relationships/image" Target="../media/image-1-4.jpeg"/><Relationship Id="rId5" Type="http://schemas.openxmlformats.org/officeDocument/2006/relationships/image" Target="../media/image-1-5.jpeg"/><Relationship Id="rId6" Type="http://schemas.openxmlformats.org/officeDocument/2006/relationships/image" Target="../media/image-1-6.jpeg"/><Relationship Id="rId7" Type="http://schemas.openxmlformats.org/officeDocument/2006/relationships/image" Target="../media/image-1-7.jpe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845" y="406400"/>
            <a:ext cx="27114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045" y="482600"/>
            <a:ext cx="23895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· ЕЛЕСТЕТІП КӨРЕЙІК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/ 8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3740"/>
            <a:ext cx="6300216" cy="193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90"/>
              </a:lnSpc>
              <a:buNone/>
            </a:pPr>
            <a:r>
              <a:rPr lang="en-US" sz="45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Ұлы ғалымдарымыз 2026 жылы </a:t>
            </a:r>
            <a:pPr algn="l" indent="0" marL="0">
              <a:lnSpc>
                <a:spcPts val="459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17 жаста</a:t>
            </a:r>
            <a:pPr algn="l" indent="0" marL="0">
              <a:lnSpc>
                <a:spcPts val="4590"/>
              </a:lnSpc>
              <a:buNone/>
            </a:pPr>
            <a:r>
              <a:rPr lang="en-US" sz="45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болса</a:t>
            </a:r>
            <a:endParaRPr lang="en-US" sz="4500" dirty="0"/>
          </a:p>
        </p:txBody>
      </p:sp>
      <p:sp>
        <p:nvSpPr>
          <p:cNvPr id="7" name="text-6"/>
          <p:cNvSpPr txBox="1"/>
          <p:nvPr/>
        </p:nvSpPr>
        <p:spPr>
          <a:xfrm>
            <a:off x="457696" y="3018730"/>
            <a:ext cx="58896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Олардың академиялық портфолиосы қандай болар еді және қай мамандыққа оқыр еді?</a:t>
            </a:r>
            <a:endParaRPr lang="en-US" sz="1500" dirty="0"/>
          </a:p>
        </p:txBody>
      </p:sp>
      <p:pic>
        <p:nvPicPr>
          <p:cNvPr id="8" name="img-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556000"/>
            <a:ext cx="520700" cy="5207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1880791" y="3581400"/>
            <a:ext cx="1857756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500" i="1" dirty="0">
                <a:solidFill>
                  <a:srgbClr val="9C4F22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Сәтбаев</a:t>
            </a:r>
            <a:endParaRPr lang="en-US" sz="3500" dirty="0"/>
          </a:p>
        </p:txBody>
      </p:sp>
      <p:pic>
        <p:nvPicPr>
          <p:cNvPr id="10" name="img-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200" y="4152900"/>
            <a:ext cx="520700" cy="520700"/>
          </a:xfrm>
          <a:prstGeom prst="rect">
            <a:avLst/>
          </a:prstGeom>
        </p:spPr>
      </p:pic>
      <p:sp>
        <p:nvSpPr>
          <p:cNvPr id="11" name="text-10"/>
          <p:cNvSpPr txBox="1"/>
          <p:nvPr/>
        </p:nvSpPr>
        <p:spPr>
          <a:xfrm>
            <a:off x="2641501" y="4178300"/>
            <a:ext cx="2322195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500" i="1" dirty="0">
                <a:solidFill>
                  <a:srgbClr val="1B6676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Уәлиханов</a:t>
            </a:r>
            <a:endParaRPr lang="en-US" sz="3500" dirty="0"/>
          </a:p>
        </p:txBody>
      </p:sp>
      <p:pic>
        <p:nvPicPr>
          <p:cNvPr id="12" name="img-1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749800"/>
            <a:ext cx="520700" cy="520700"/>
          </a:xfrm>
          <a:prstGeom prst="rect">
            <a:avLst/>
          </a:prstGeom>
        </p:spPr>
      </p:pic>
      <p:sp>
        <p:nvSpPr>
          <p:cNvPr id="13" name="text-12"/>
          <p:cNvSpPr txBox="1"/>
          <p:nvPr/>
        </p:nvSpPr>
        <p:spPr>
          <a:xfrm>
            <a:off x="1880939" y="4775200"/>
            <a:ext cx="188468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500" i="1" dirty="0">
                <a:solidFill>
                  <a:srgbClr val="5B2E91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Бөкетов</a:t>
            </a:r>
            <a:endParaRPr lang="en-US" sz="3500" dirty="0"/>
          </a:p>
        </p:txBody>
      </p:sp>
      <p:pic>
        <p:nvPicPr>
          <p:cNvPr id="14" name="img-1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9200" y="5346700"/>
            <a:ext cx="520700" cy="520700"/>
          </a:xfrm>
          <a:prstGeom prst="rect">
            <a:avLst/>
          </a:prstGeom>
        </p:spPr>
      </p:pic>
      <p:sp>
        <p:nvSpPr>
          <p:cNvPr id="15" name="text-14"/>
          <p:cNvSpPr txBox="1"/>
          <p:nvPr/>
        </p:nvSpPr>
        <p:spPr>
          <a:xfrm>
            <a:off x="2640112" y="5372100"/>
            <a:ext cx="2941447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500" i="1" dirty="0">
                <a:solidFill>
                  <a:srgbClr val="2338A0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Сұлтанғазин</a:t>
            </a:r>
            <a:endParaRPr lang="en-US" sz="3500" dirty="0"/>
          </a:p>
        </p:txBody>
      </p:sp>
      <p:pic>
        <p:nvPicPr>
          <p:cNvPr id="16" name="img-1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5943600"/>
            <a:ext cx="520700" cy="520700"/>
          </a:xfrm>
          <a:prstGeom prst="rect">
            <a:avLst/>
          </a:prstGeom>
        </p:spPr>
      </p:pic>
      <p:sp>
        <p:nvSpPr>
          <p:cNvPr id="17" name="text-16"/>
          <p:cNvSpPr txBox="1"/>
          <p:nvPr/>
        </p:nvSpPr>
        <p:spPr>
          <a:xfrm>
            <a:off x="1879749" y="5969000"/>
            <a:ext cx="2436622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500" i="1" dirty="0">
                <a:solidFill>
                  <a:srgbClr val="2F7A3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Айтхожин</a:t>
            </a:r>
            <a:endParaRPr lang="en-US" sz="3500" dirty="0"/>
          </a:p>
        </p:txBody>
      </p:sp>
      <p:sp>
        <p:nvSpPr>
          <p:cNvPr id="18" name="text-17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9" name="shape-18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0" name="text-19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1" name="svg-20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2" name="shape-21"/>
          <p:cNvSpPr/>
          <p:nvPr/>
        </p:nvSpPr>
        <p:spPr>
          <a:xfrm rot="360000">
            <a:off x="4567138" y="3810000"/>
            <a:ext cx="1847850" cy="4254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3" name="text-22"/>
          <p:cNvSpPr txBox="1"/>
          <p:nvPr/>
        </p:nvSpPr>
        <p:spPr>
          <a:xfrm rot="360000">
            <a:off x="4719538" y="3898900"/>
            <a:ext cx="163563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5 ғалым · 5 сала</a:t>
            </a:r>
            <a:endParaRPr lang="en-US" sz="1500" dirty="0"/>
          </a:p>
        </p:txBody>
      </p:sp>
      <p:sp>
        <p:nvSpPr>
          <p:cNvPr id="24" name="text-23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алдымен ойынның ережесі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5960" y="406400"/>
            <a:ext cx="15875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6160" y="482600"/>
            <a:ext cx="11981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· ЕРЕЖЕ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8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Ойынның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ережесі</a:t>
            </a:r>
            <a:endParaRPr lang="en-US" sz="4200" dirty="0"/>
          </a:p>
        </p:txBody>
      </p:sp>
      <p:sp>
        <p:nvSpPr>
          <p:cNvPr id="7" name="text-6"/>
          <p:cNvSpPr txBox="1"/>
          <p:nvPr/>
        </p:nvSpPr>
        <p:spPr>
          <a:xfrm>
            <a:off x="457696" y="1706066"/>
            <a:ext cx="588962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Әр ғалымның шын өмірбаянынан екі дерек аламыз. Сол деректерге сүйеніп, бүгінгі 17 жастағы оқушының портфолиосын елестетеміз.</a:t>
            </a:r>
            <a:endParaRPr lang="en-US" sz="1500" dirty="0"/>
          </a:p>
        </p:txBody>
      </p:sp>
      <p:sp>
        <p:nvSpPr>
          <p:cNvPr id="8" name="shape-7"/>
          <p:cNvSpPr/>
          <p:nvPr/>
        </p:nvSpPr>
        <p:spPr>
          <a:xfrm rot="-72000">
            <a:off x="457200" y="2985095"/>
            <a:ext cx="5943600" cy="9017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-8"/>
          <p:cNvSpPr/>
          <p:nvPr/>
        </p:nvSpPr>
        <p:spPr>
          <a:xfrm rot="-252000">
            <a:off x="2943827" y="2870293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0" name="text-9"/>
          <p:cNvSpPr txBox="1"/>
          <p:nvPr/>
        </p:nvSpPr>
        <p:spPr>
          <a:xfrm rot="-72000">
            <a:off x="721028" y="3225830"/>
            <a:ext cx="573481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АҚ КАРТА</a:t>
            </a:r>
            <a:endParaRPr lang="en-US" sz="900" dirty="0"/>
          </a:p>
        </p:txBody>
      </p:sp>
      <p:sp>
        <p:nvSpPr>
          <p:cNvPr id="11" name="text-10"/>
          <p:cNvSpPr txBox="1"/>
          <p:nvPr/>
        </p:nvSpPr>
        <p:spPr>
          <a:xfrm rot="-72000">
            <a:off x="726493" y="3435918"/>
            <a:ext cx="573481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Шын деректер. Бәрі тексерілген.</a:t>
            </a:r>
            <a:endParaRPr lang="en-US" sz="1400" dirty="0"/>
          </a:p>
        </p:txBody>
      </p:sp>
      <p:sp>
        <p:nvSpPr>
          <p:cNvPr id="12" name="shape-11"/>
          <p:cNvSpPr/>
          <p:nvPr/>
        </p:nvSpPr>
        <p:spPr>
          <a:xfrm rot="72000">
            <a:off x="457200" y="4826099"/>
            <a:ext cx="5943600" cy="1123950"/>
          </a:xfrm>
          <a:prstGeom prst="roundRect">
            <a:avLst>
              <a:gd name="adj" fmla="val 15819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 rot="72000">
            <a:off x="704486" y="5029263"/>
            <a:ext cx="578866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ҚАРА КАРТА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 rot="72000">
            <a:off x="696306" y="5238826"/>
            <a:ext cx="578866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Біздің болжамымыз: 2026 жылы олар қандай олимпиадаға қатысып, нені зерттеп, қайда оқыр еді.</a:t>
            </a:r>
            <a:endParaRPr lang="en-US" sz="1450" dirty="0"/>
          </a:p>
        </p:txBody>
      </p:sp>
      <p:sp>
        <p:nvSpPr>
          <p:cNvPr id="15" name="text-14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6" name="shape-15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7" name="text-16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18" name="svg-1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9" name="text-18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бірінші кейіпкер жер астын зерттеген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200" y="406400"/>
            <a:ext cx="18669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9C4F22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7400" y="482600"/>
            <a:ext cx="14942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9C4F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1899 · ГЕОЛОГИЯ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8</a:t>
            </a:r>
            <a:endParaRPr lang="en-US" sz="1000" dirty="0"/>
          </a:p>
        </p:txBody>
      </p:sp>
      <p:sp>
        <p:nvSpPr>
          <p:cNvPr id="6" name="shape-5"/>
          <p:cNvSpPr/>
          <p:nvPr/>
        </p:nvSpPr>
        <p:spPr>
          <a:xfrm>
            <a:off x="0" y="0"/>
            <a:ext cx="6858000" cy="88900"/>
          </a:xfrm>
          <a:prstGeom prst="rect">
            <a:avLst/>
          </a:prstGeom>
          <a:solidFill>
            <a:srgbClr val="9C4F22"/>
          </a:solidFill>
          <a:ln/>
        </p:spPr>
      </p:sp>
      <p:sp>
        <p:nvSpPr>
          <p:cNvPr id="7" name="text-6"/>
          <p:cNvSpPr txBox="1"/>
          <p:nvPr/>
        </p:nvSpPr>
        <p:spPr>
          <a:xfrm>
            <a:off x="457200" y="953591"/>
            <a:ext cx="4092448" cy="1212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Қаныш </a:t>
            </a:r>
            <a:pPr algn="l" indent="0" marL="0">
              <a:lnSpc>
                <a:spcPts val="4280"/>
              </a:lnSpc>
              <a:buNone/>
            </a:pPr>
            <a:r>
              <a:rPr lang="en-US" sz="5200" i="1" spc="-100" kern="0" dirty="0">
                <a:solidFill>
                  <a:srgbClr val="9C4F22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Сәтбаев</a:t>
            </a:r>
            <a:endParaRPr lang="en-US" sz="4200" dirty="0"/>
          </a:p>
        </p:txBody>
      </p:sp>
      <p:sp>
        <p:nvSpPr>
          <p:cNvPr id="8" name="shape-7"/>
          <p:cNvSpPr/>
          <p:nvPr/>
        </p:nvSpPr>
        <p:spPr>
          <a:xfrm rot="-60000">
            <a:off x="457200" y="3174603"/>
            <a:ext cx="5943600" cy="1651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-8"/>
          <p:cNvSpPr/>
          <p:nvPr/>
        </p:nvSpPr>
        <p:spPr>
          <a:xfrm rot="-240000">
            <a:off x="2938793" y="3060822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0" name="text-9"/>
          <p:cNvSpPr txBox="1"/>
          <p:nvPr/>
        </p:nvSpPr>
        <p:spPr>
          <a:xfrm rot="-60000">
            <a:off x="675999" y="3365585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ШЫН ӨМІРДЕ</a:t>
            </a:r>
            <a:endParaRPr lang="en-US" sz="900" dirty="0"/>
          </a:p>
        </p:txBody>
      </p:sp>
      <p:sp>
        <p:nvSpPr>
          <p:cNvPr id="11" name="text-10"/>
          <p:cNvSpPr txBox="1"/>
          <p:nvPr/>
        </p:nvSpPr>
        <p:spPr>
          <a:xfrm rot="-60000">
            <a:off x="873394" y="3601864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Томск технологиялық институтын тау-кен инженер-геологы ретінде бітірген.</a:t>
            </a:r>
            <a:endParaRPr lang="en-US" sz="1350" dirty="0"/>
          </a:p>
        </p:txBody>
      </p:sp>
      <p:sp>
        <p:nvSpPr>
          <p:cNvPr id="12" name="text-11"/>
          <p:cNvSpPr txBox="1"/>
          <p:nvPr/>
        </p:nvSpPr>
        <p:spPr>
          <a:xfrm rot="-60000">
            <a:off x="883306" y="4169706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Жезқазған кен орнын зерттеген. Қазақ КСР Ғылым академиясының тұңғыш президенті болған.</a:t>
            </a:r>
            <a:endParaRPr lang="en-US" sz="1350" dirty="0"/>
          </a:p>
        </p:txBody>
      </p:sp>
      <p:sp>
        <p:nvSpPr>
          <p:cNvPr id="13" name="shape-12"/>
          <p:cNvSpPr/>
          <p:nvPr/>
        </p:nvSpPr>
        <p:spPr>
          <a:xfrm rot="60000">
            <a:off x="457200" y="4977209"/>
            <a:ext cx="5943600" cy="1765300"/>
          </a:xfrm>
          <a:prstGeom prst="roundRect">
            <a:avLst>
              <a:gd name="adj" fmla="val 10072"/>
            </a:avLst>
          </a:prstGeom>
          <a:solidFill>
            <a:srgbClr val="9C4F22"/>
          </a:solidFill>
          <a:ln/>
        </p:spPr>
      </p:sp>
      <p:sp>
        <p:nvSpPr>
          <p:cNvPr id="14" name="shape-13"/>
          <p:cNvSpPr/>
          <p:nvPr/>
        </p:nvSpPr>
        <p:spPr>
          <a:xfrm rot="-420000">
            <a:off x="5715981" y="4831558"/>
            <a:ext cx="533400" cy="533400"/>
          </a:xfrm>
          <a:prstGeom prst="ellipse">
            <a:avLst/>
          </a:prstGeom>
          <a:solidFill>
            <a:srgbClr val="FAF8F3"/>
          </a:solidFill>
          <a:ln w="12700">
            <a:solidFill>
              <a:srgbClr val="9C4F22"/>
            </a:solidFill>
            <a:prstDash val="solid"/>
          </a:ln>
        </p:spPr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420000">
            <a:off x="5836631" y="4952208"/>
            <a:ext cx="292100" cy="292100"/>
          </a:xfrm>
          <a:prstGeom prst="rect">
            <a:avLst/>
          </a:prstGeom>
        </p:spPr>
      </p:pic>
      <p:sp>
        <p:nvSpPr>
          <p:cNvPr id="16" name="text-15"/>
          <p:cNvSpPr txBox="1"/>
          <p:nvPr/>
        </p:nvSpPr>
        <p:spPr>
          <a:xfrm rot="60000">
            <a:off x="696598" y="5168200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ЖЫЛЫ, 17 ЖАСТА</a:t>
            </a:r>
            <a:endParaRPr lang="en-US" sz="900" dirty="0"/>
          </a:p>
        </p:txBody>
      </p:sp>
      <p:pic>
        <p:nvPicPr>
          <p:cNvPr id="17" name="svg-1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">
            <a:off x="692180" y="5369706"/>
            <a:ext cx="203200" cy="20320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60000">
            <a:off x="957108" y="5401532"/>
            <a:ext cx="5061712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Халықаралық жер туралы ғылымдар олимпиадасы (IESO).</a:t>
            </a:r>
            <a:endParaRPr lang="en-US" sz="1350" dirty="0"/>
          </a:p>
        </p:txBody>
      </p:sp>
      <p:sp>
        <p:nvSpPr>
          <p:cNvPr id="19" name="text-18"/>
          <p:cNvSpPr txBox="1"/>
          <p:nvPr/>
        </p:nvSpPr>
        <p:spPr>
          <a:xfrm rot="60000">
            <a:off x="876395" y="5736928"/>
            <a:ext cx="561365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Туған өлкенің кен орындарының картасы: жеке зерттеу жобасы.</a:t>
            </a:r>
            <a:endParaRPr lang="en-US" sz="1350" dirty="0"/>
          </a:p>
        </p:txBody>
      </p:sp>
      <p:sp>
        <p:nvSpPr>
          <p:cNvPr id="20" name="text-19"/>
          <p:cNvSpPr txBox="1"/>
          <p:nvPr/>
        </p:nvSpPr>
        <p:spPr>
          <a:xfrm rot="60000">
            <a:off x="868518" y="6073906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Оқитын мамандығы: тау-кен немесе геологиялық инженерия.</a:t>
            </a:r>
            <a:endParaRPr lang="en-US" sz="1350" dirty="0"/>
          </a:p>
        </p:txBody>
      </p:sp>
      <p:sp>
        <p:nvSpPr>
          <p:cNvPr id="21" name="text-2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2" name="shape-21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3" name="text-22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4" name="svg-2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5" name="shape-24"/>
          <p:cNvSpPr/>
          <p:nvPr/>
        </p:nvSpPr>
        <p:spPr>
          <a:xfrm rot="240000">
            <a:off x="4660900" y="950913"/>
            <a:ext cx="1714500" cy="2349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6" name="shape-25"/>
          <p:cNvSpPr/>
          <p:nvPr/>
        </p:nvSpPr>
        <p:spPr>
          <a:xfrm rot="60000">
            <a:off x="5121964" y="840996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7" name="img-2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4745516" y="1027406"/>
            <a:ext cx="1562100" cy="1955800"/>
          </a:xfrm>
          <a:prstGeom prst="rect">
            <a:avLst/>
          </a:prstGeom>
        </p:spPr>
      </p:pic>
      <p:sp>
        <p:nvSpPr>
          <p:cNvPr id="28" name="text-27"/>
          <p:cNvSpPr txBox="1"/>
          <p:nvPr/>
        </p:nvSpPr>
        <p:spPr>
          <a:xfrm rot="240000">
            <a:off x="4557177" y="300430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1899–1964</a:t>
            </a:r>
            <a:endParaRPr lang="en-US" sz="1300" dirty="0"/>
          </a:p>
        </p:txBody>
      </p:sp>
      <p:sp>
        <p:nvSpPr>
          <p:cNvPr id="29" name="text-28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екіншісі 23 жасқа толмай Қашғарға барған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845" y="406400"/>
            <a:ext cx="27114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1B6676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045" y="482600"/>
            <a:ext cx="23895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1B667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1835 · ТАРИХ, ЭТНОГРАФИЯ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8</a:t>
            </a:r>
            <a:endParaRPr lang="en-US" sz="1000" dirty="0"/>
          </a:p>
        </p:txBody>
      </p:sp>
      <p:sp>
        <p:nvSpPr>
          <p:cNvPr id="6" name="shape-5"/>
          <p:cNvSpPr/>
          <p:nvPr/>
        </p:nvSpPr>
        <p:spPr>
          <a:xfrm>
            <a:off x="0" y="0"/>
            <a:ext cx="6858000" cy="88900"/>
          </a:xfrm>
          <a:prstGeom prst="rect">
            <a:avLst/>
          </a:prstGeom>
          <a:solidFill>
            <a:srgbClr val="1B6676"/>
          </a:solidFill>
          <a:ln/>
        </p:spPr>
      </p:sp>
      <p:sp>
        <p:nvSpPr>
          <p:cNvPr id="7" name="text-6"/>
          <p:cNvSpPr txBox="1"/>
          <p:nvPr/>
        </p:nvSpPr>
        <p:spPr>
          <a:xfrm>
            <a:off x="457200" y="953591"/>
            <a:ext cx="4092448" cy="1212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Шоқан </a:t>
            </a:r>
            <a:pPr algn="l" indent="0" marL="0">
              <a:lnSpc>
                <a:spcPts val="4280"/>
              </a:lnSpc>
              <a:buNone/>
            </a:pPr>
            <a:r>
              <a:rPr lang="en-US" sz="5200" i="1" spc="-100" kern="0" dirty="0">
                <a:solidFill>
                  <a:srgbClr val="1B6676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Уәлиханов</a:t>
            </a:r>
            <a:endParaRPr lang="en-US" sz="4200" dirty="0"/>
          </a:p>
        </p:txBody>
      </p:sp>
      <p:sp>
        <p:nvSpPr>
          <p:cNvPr id="8" name="shape-7"/>
          <p:cNvSpPr/>
          <p:nvPr/>
        </p:nvSpPr>
        <p:spPr>
          <a:xfrm rot="-60000">
            <a:off x="457200" y="3174603"/>
            <a:ext cx="5943600" cy="1651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-8"/>
          <p:cNvSpPr/>
          <p:nvPr/>
        </p:nvSpPr>
        <p:spPr>
          <a:xfrm rot="-240000">
            <a:off x="2938793" y="3060822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0" name="text-9"/>
          <p:cNvSpPr txBox="1"/>
          <p:nvPr/>
        </p:nvSpPr>
        <p:spPr>
          <a:xfrm rot="-60000">
            <a:off x="675999" y="3365585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ШЫН ӨМІРДЕ</a:t>
            </a:r>
            <a:endParaRPr lang="en-US" sz="900" dirty="0"/>
          </a:p>
        </p:txBody>
      </p:sp>
      <p:sp>
        <p:nvSpPr>
          <p:cNvPr id="11" name="text-10"/>
          <p:cNvSpPr txBox="1"/>
          <p:nvPr/>
        </p:nvSpPr>
        <p:spPr>
          <a:xfrm rot="-60000">
            <a:off x="871360" y="3599600"/>
            <a:ext cx="561365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1853 жылы Омбы кадет корпусын бітірген.</a:t>
            </a:r>
            <a:endParaRPr lang="en-US" sz="1350" dirty="0"/>
          </a:p>
        </p:txBody>
      </p:sp>
      <p:sp>
        <p:nvSpPr>
          <p:cNvPr id="12" name="text-11"/>
          <p:cNvSpPr txBox="1"/>
          <p:nvPr/>
        </p:nvSpPr>
        <p:spPr>
          <a:xfrm rot="-60000">
            <a:off x="881271" y="3935667"/>
            <a:ext cx="561365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1858–1859 жылдары көпес кейпінде Қашғарға барып, Шығыс Түркістанның тарихы мен этнографиясы туралы материал жинаған.</a:t>
            </a:r>
            <a:endParaRPr lang="en-US" sz="1350" dirty="0"/>
          </a:p>
        </p:txBody>
      </p:sp>
      <p:sp>
        <p:nvSpPr>
          <p:cNvPr id="13" name="shape-12"/>
          <p:cNvSpPr/>
          <p:nvPr/>
        </p:nvSpPr>
        <p:spPr>
          <a:xfrm rot="60000">
            <a:off x="457200" y="4976316"/>
            <a:ext cx="5943600" cy="2000250"/>
          </a:xfrm>
          <a:prstGeom prst="roundRect">
            <a:avLst>
              <a:gd name="adj" fmla="val 8889"/>
            </a:avLst>
          </a:prstGeom>
          <a:solidFill>
            <a:srgbClr val="1B6676"/>
          </a:solidFill>
          <a:ln/>
        </p:spPr>
      </p:sp>
      <p:sp>
        <p:nvSpPr>
          <p:cNvPr id="14" name="shape-13"/>
          <p:cNvSpPr/>
          <p:nvPr/>
        </p:nvSpPr>
        <p:spPr>
          <a:xfrm rot="-420000">
            <a:off x="5718015" y="4831576"/>
            <a:ext cx="533400" cy="533400"/>
          </a:xfrm>
          <a:prstGeom prst="ellipse">
            <a:avLst/>
          </a:prstGeom>
          <a:solidFill>
            <a:srgbClr val="FAF8F3"/>
          </a:solidFill>
          <a:ln w="12700">
            <a:solidFill>
              <a:srgbClr val="1B6676"/>
            </a:solidFill>
            <a:prstDash val="solid"/>
          </a:ln>
        </p:spPr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420000">
            <a:off x="5838665" y="4952226"/>
            <a:ext cx="292100" cy="292100"/>
          </a:xfrm>
          <a:prstGeom prst="rect">
            <a:avLst/>
          </a:prstGeom>
        </p:spPr>
      </p:pic>
      <p:sp>
        <p:nvSpPr>
          <p:cNvPr id="16" name="text-15"/>
          <p:cNvSpPr txBox="1"/>
          <p:nvPr/>
        </p:nvSpPr>
        <p:spPr>
          <a:xfrm rot="60000">
            <a:off x="698633" y="5168218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ЖЫЛЫ, 17 ЖАСТА</a:t>
            </a:r>
            <a:endParaRPr lang="en-US" sz="900" dirty="0"/>
          </a:p>
        </p:txBody>
      </p:sp>
      <p:pic>
        <p:nvPicPr>
          <p:cNvPr id="17" name="svg-1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">
            <a:off x="694214" y="5369724"/>
            <a:ext cx="203200" cy="20320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60000">
            <a:off x="960265" y="5392370"/>
            <a:ext cx="394436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Халықаралық география олимпиадасы (iGeo).</a:t>
            </a:r>
            <a:endParaRPr lang="en-US" sz="1350" dirty="0"/>
          </a:p>
        </p:txBody>
      </p:sp>
      <p:sp>
        <p:nvSpPr>
          <p:cNvPr id="19" name="text-18"/>
          <p:cNvSpPr txBox="1"/>
          <p:nvPr/>
        </p:nvSpPr>
        <p:spPr>
          <a:xfrm rot="60000">
            <a:off x="876395" y="5739210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Қазақ және қырғыз ауыз әдебиетін жинайтын подкаст немесе блог.</a:t>
            </a:r>
            <a:endParaRPr lang="en-US" sz="1350" dirty="0"/>
          </a:p>
        </p:txBody>
      </p:sp>
      <p:sp>
        <p:nvSpPr>
          <p:cNvPr id="20" name="text-19"/>
          <p:cNvSpPr txBox="1"/>
          <p:nvPr/>
        </p:nvSpPr>
        <p:spPr>
          <a:xfrm rot="60000">
            <a:off x="866483" y="6307052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Оқитын мамандығы: антропология немесе Орталық Азияны зерттеу.</a:t>
            </a:r>
            <a:endParaRPr lang="en-US" sz="1350" dirty="0"/>
          </a:p>
        </p:txBody>
      </p:sp>
      <p:sp>
        <p:nvSpPr>
          <p:cNvPr id="21" name="text-2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2" name="shape-21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3" name="text-22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4" name="svg-2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5" name="shape-24"/>
          <p:cNvSpPr/>
          <p:nvPr/>
        </p:nvSpPr>
        <p:spPr>
          <a:xfrm rot="240000">
            <a:off x="4660900" y="950913"/>
            <a:ext cx="1714500" cy="2349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6" name="shape-25"/>
          <p:cNvSpPr/>
          <p:nvPr/>
        </p:nvSpPr>
        <p:spPr>
          <a:xfrm rot="60000">
            <a:off x="5121964" y="840996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7" name="img-2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4745516" y="1027406"/>
            <a:ext cx="1562100" cy="1955800"/>
          </a:xfrm>
          <a:prstGeom prst="rect">
            <a:avLst/>
          </a:prstGeom>
        </p:spPr>
      </p:pic>
      <p:sp>
        <p:nvSpPr>
          <p:cNvPr id="28" name="text-27"/>
          <p:cNvSpPr txBox="1"/>
          <p:nvPr/>
        </p:nvSpPr>
        <p:spPr>
          <a:xfrm rot="240000">
            <a:off x="4557177" y="300430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1835–1865</a:t>
            </a:r>
            <a:endParaRPr lang="en-US" sz="1300" dirty="0"/>
          </a:p>
        </p:txBody>
      </p:sp>
      <p:sp>
        <p:nvSpPr>
          <p:cNvPr id="29" name="text-28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үшіншісі химия мен әдебиетті қатар алып жүрген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200" y="406400"/>
            <a:ext cx="28067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B2E91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7400" y="482600"/>
            <a:ext cx="24904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5B2E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1925 · ХИМИЯ, МЕТАЛЛУРГИЯ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8</a:t>
            </a:r>
            <a:endParaRPr lang="en-US" sz="1000" dirty="0"/>
          </a:p>
        </p:txBody>
      </p:sp>
      <p:sp>
        <p:nvSpPr>
          <p:cNvPr id="6" name="shape-5"/>
          <p:cNvSpPr/>
          <p:nvPr/>
        </p:nvSpPr>
        <p:spPr>
          <a:xfrm>
            <a:off x="0" y="0"/>
            <a:ext cx="6858000" cy="88900"/>
          </a:xfrm>
          <a:prstGeom prst="rect">
            <a:avLst/>
          </a:prstGeom>
          <a:solidFill>
            <a:srgbClr val="5B2E91"/>
          </a:solidFill>
          <a:ln/>
        </p:spPr>
      </p:sp>
      <p:sp>
        <p:nvSpPr>
          <p:cNvPr id="7" name="text-6"/>
          <p:cNvSpPr txBox="1"/>
          <p:nvPr/>
        </p:nvSpPr>
        <p:spPr>
          <a:xfrm>
            <a:off x="457200" y="953591"/>
            <a:ext cx="4092448" cy="1212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Евней </a:t>
            </a:r>
            <a:pPr algn="l" indent="0" marL="0">
              <a:lnSpc>
                <a:spcPts val="4280"/>
              </a:lnSpc>
              <a:buNone/>
            </a:pPr>
            <a:r>
              <a:rPr lang="en-US" sz="5200" i="1" spc="-100" kern="0" dirty="0">
                <a:solidFill>
                  <a:srgbClr val="5B2E91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Бөкетов</a:t>
            </a:r>
            <a:endParaRPr lang="en-US" sz="4200" dirty="0"/>
          </a:p>
        </p:txBody>
      </p:sp>
      <p:sp>
        <p:nvSpPr>
          <p:cNvPr id="8" name="shape-7"/>
          <p:cNvSpPr/>
          <p:nvPr/>
        </p:nvSpPr>
        <p:spPr>
          <a:xfrm rot="-60000">
            <a:off x="457200" y="3174603"/>
            <a:ext cx="5943600" cy="1651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-8"/>
          <p:cNvSpPr/>
          <p:nvPr/>
        </p:nvSpPr>
        <p:spPr>
          <a:xfrm rot="-240000">
            <a:off x="2938793" y="3060822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0" name="text-9"/>
          <p:cNvSpPr txBox="1"/>
          <p:nvPr/>
        </p:nvSpPr>
        <p:spPr>
          <a:xfrm rot="-60000">
            <a:off x="675999" y="3365585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ШЫН ӨМІРДЕ</a:t>
            </a:r>
            <a:endParaRPr lang="en-US" sz="900" dirty="0"/>
          </a:p>
        </p:txBody>
      </p:sp>
      <p:sp>
        <p:nvSpPr>
          <p:cNvPr id="11" name="text-10"/>
          <p:cNvSpPr txBox="1"/>
          <p:nvPr/>
        </p:nvSpPr>
        <p:spPr>
          <a:xfrm rot="-60000">
            <a:off x="873394" y="3601864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Химик-металлург, академик, КСРО Мемлекеттік сыйлығының лауреаты (1969).</a:t>
            </a:r>
            <a:endParaRPr lang="en-US" sz="1350" dirty="0"/>
          </a:p>
        </p:txBody>
      </p:sp>
      <p:sp>
        <p:nvSpPr>
          <p:cNvPr id="12" name="text-11"/>
          <p:cNvSpPr txBox="1"/>
          <p:nvPr/>
        </p:nvSpPr>
        <p:spPr>
          <a:xfrm rot="-60000">
            <a:off x="883306" y="4169706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Қарағанды мемлекеттік университетінің тұңғыш ректоры, Сәтбаевтың шәкірті, жазушы.</a:t>
            </a:r>
            <a:endParaRPr lang="en-US" sz="1350" dirty="0"/>
          </a:p>
        </p:txBody>
      </p:sp>
      <p:sp>
        <p:nvSpPr>
          <p:cNvPr id="13" name="shape-12"/>
          <p:cNvSpPr/>
          <p:nvPr/>
        </p:nvSpPr>
        <p:spPr>
          <a:xfrm rot="60000">
            <a:off x="457200" y="4976316"/>
            <a:ext cx="5943600" cy="2000250"/>
          </a:xfrm>
          <a:prstGeom prst="roundRect">
            <a:avLst>
              <a:gd name="adj" fmla="val 8889"/>
            </a:avLst>
          </a:prstGeom>
          <a:solidFill>
            <a:srgbClr val="5B2E91"/>
          </a:solidFill>
          <a:ln/>
        </p:spPr>
      </p:sp>
      <p:sp>
        <p:nvSpPr>
          <p:cNvPr id="14" name="shape-13"/>
          <p:cNvSpPr/>
          <p:nvPr/>
        </p:nvSpPr>
        <p:spPr>
          <a:xfrm rot="-420000">
            <a:off x="5718015" y="4831576"/>
            <a:ext cx="533400" cy="533400"/>
          </a:xfrm>
          <a:prstGeom prst="ellipse">
            <a:avLst/>
          </a:prstGeom>
          <a:solidFill>
            <a:srgbClr val="FAF8F3"/>
          </a:solidFill>
          <a:ln w="12700">
            <a:solidFill>
              <a:srgbClr val="5B2E91"/>
            </a:solidFill>
            <a:prstDash val="solid"/>
          </a:ln>
        </p:spPr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420000">
            <a:off x="5838665" y="4952226"/>
            <a:ext cx="292100" cy="292100"/>
          </a:xfrm>
          <a:prstGeom prst="rect">
            <a:avLst/>
          </a:prstGeom>
        </p:spPr>
      </p:pic>
      <p:sp>
        <p:nvSpPr>
          <p:cNvPr id="16" name="text-15"/>
          <p:cNvSpPr txBox="1"/>
          <p:nvPr/>
        </p:nvSpPr>
        <p:spPr>
          <a:xfrm rot="60000">
            <a:off x="698633" y="5168218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ЖЫЛЫ, 17 ЖАСТА</a:t>
            </a:r>
            <a:endParaRPr lang="en-US" sz="900" dirty="0"/>
          </a:p>
        </p:txBody>
      </p:sp>
      <p:pic>
        <p:nvPicPr>
          <p:cNvPr id="17" name="svg-1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">
            <a:off x="694214" y="5369724"/>
            <a:ext cx="203200" cy="20320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60000">
            <a:off x="962173" y="5389688"/>
            <a:ext cx="361454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Халықаралық химия олимпиадасы (IChO).</a:t>
            </a:r>
            <a:endParaRPr lang="en-US" sz="1350" dirty="0"/>
          </a:p>
        </p:txBody>
      </p:sp>
      <p:sp>
        <p:nvSpPr>
          <p:cNvPr id="19" name="text-18"/>
          <p:cNvSpPr txBox="1"/>
          <p:nvPr/>
        </p:nvSpPr>
        <p:spPr>
          <a:xfrm rot="60000">
            <a:off x="876395" y="5739210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Қарағандының металлургиясы туралы зерттеу жобасы және әдеби эссе байқауы.</a:t>
            </a:r>
            <a:endParaRPr lang="en-US" sz="1350" dirty="0"/>
          </a:p>
        </p:txBody>
      </p:sp>
      <p:sp>
        <p:nvSpPr>
          <p:cNvPr id="20" name="text-19"/>
          <p:cNvSpPr txBox="1"/>
          <p:nvPr/>
        </p:nvSpPr>
        <p:spPr>
          <a:xfrm rot="60000">
            <a:off x="866483" y="6307052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Оқитын мамандығы: химиялық инженерия немесе материалтану.</a:t>
            </a:r>
            <a:endParaRPr lang="en-US" sz="1350" dirty="0"/>
          </a:p>
        </p:txBody>
      </p:sp>
      <p:sp>
        <p:nvSpPr>
          <p:cNvPr id="21" name="text-2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2" name="shape-21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3" name="text-22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4" name="svg-2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5" name="shape-24"/>
          <p:cNvSpPr/>
          <p:nvPr/>
        </p:nvSpPr>
        <p:spPr>
          <a:xfrm rot="240000">
            <a:off x="4660900" y="950913"/>
            <a:ext cx="1714500" cy="2349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6" name="shape-25"/>
          <p:cNvSpPr/>
          <p:nvPr/>
        </p:nvSpPr>
        <p:spPr>
          <a:xfrm rot="60000">
            <a:off x="5121964" y="840996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7" name="img-2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4745516" y="1027406"/>
            <a:ext cx="1562100" cy="1955800"/>
          </a:xfrm>
          <a:prstGeom prst="rect">
            <a:avLst/>
          </a:prstGeom>
        </p:spPr>
      </p:pic>
      <p:sp>
        <p:nvSpPr>
          <p:cNvPr id="28" name="text-27"/>
          <p:cNvSpPr txBox="1"/>
          <p:nvPr/>
        </p:nvSpPr>
        <p:spPr>
          <a:xfrm rot="240000">
            <a:off x="4557177" y="300430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1925–1983</a:t>
            </a:r>
            <a:endParaRPr lang="en-US" sz="1300" dirty="0"/>
          </a:p>
        </p:txBody>
      </p:sp>
      <p:sp>
        <p:nvSpPr>
          <p:cNvPr id="29" name="text-28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төртіншісі математиканы ғарышқа шығарған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845" y="406400"/>
            <a:ext cx="27114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2338A0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045" y="482600"/>
            <a:ext cx="23895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2338A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1936 · МАТЕМАТИКА, ҒАРЫШ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8</a:t>
            </a:r>
            <a:endParaRPr lang="en-US" sz="1000" dirty="0"/>
          </a:p>
        </p:txBody>
      </p:sp>
      <p:sp>
        <p:nvSpPr>
          <p:cNvPr id="6" name="shape-5"/>
          <p:cNvSpPr/>
          <p:nvPr/>
        </p:nvSpPr>
        <p:spPr>
          <a:xfrm>
            <a:off x="0" y="0"/>
            <a:ext cx="6858000" cy="88900"/>
          </a:xfrm>
          <a:prstGeom prst="rect">
            <a:avLst/>
          </a:prstGeom>
          <a:solidFill>
            <a:srgbClr val="2338A0"/>
          </a:solidFill>
          <a:ln/>
        </p:spPr>
      </p:sp>
      <p:sp>
        <p:nvSpPr>
          <p:cNvPr id="7" name="text-6"/>
          <p:cNvSpPr txBox="1"/>
          <p:nvPr/>
        </p:nvSpPr>
        <p:spPr>
          <a:xfrm>
            <a:off x="457200" y="952302"/>
            <a:ext cx="4092448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3700" b="1" spc="-13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Өмірзақ </a:t>
            </a:r>
            <a:pPr algn="l" indent="0" marL="0">
              <a:lnSpc>
                <a:spcPts val="3770"/>
              </a:lnSpc>
              <a:buNone/>
            </a:pPr>
            <a:r>
              <a:rPr lang="en-US" sz="4000" i="1" spc="-80" kern="0" dirty="0">
                <a:solidFill>
                  <a:srgbClr val="2338A0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Сұлтанғазин</a:t>
            </a:r>
            <a:endParaRPr lang="en-US" sz="3700" dirty="0"/>
          </a:p>
        </p:txBody>
      </p:sp>
      <p:sp>
        <p:nvSpPr>
          <p:cNvPr id="8" name="shape-7"/>
          <p:cNvSpPr/>
          <p:nvPr/>
        </p:nvSpPr>
        <p:spPr>
          <a:xfrm rot="-60000">
            <a:off x="457200" y="3173710"/>
            <a:ext cx="5943600" cy="18859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-8"/>
          <p:cNvSpPr/>
          <p:nvPr/>
        </p:nvSpPr>
        <p:spPr>
          <a:xfrm rot="-240000">
            <a:off x="2936759" y="3060840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0" name="text-9"/>
          <p:cNvSpPr txBox="1"/>
          <p:nvPr/>
        </p:nvSpPr>
        <p:spPr>
          <a:xfrm rot="-60000">
            <a:off x="673965" y="3365603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ШЫН ӨМІРДЕ</a:t>
            </a:r>
            <a:endParaRPr lang="en-US" sz="900" dirty="0"/>
          </a:p>
        </p:txBody>
      </p:sp>
      <p:sp>
        <p:nvSpPr>
          <p:cNvPr id="11" name="text-10"/>
          <p:cNvSpPr txBox="1"/>
          <p:nvPr/>
        </p:nvSpPr>
        <p:spPr>
          <a:xfrm rot="-60000">
            <a:off x="873394" y="3600971"/>
            <a:ext cx="561365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ҚазМУ-дың механика-математика факультетін бітірген. Дифференциалдық теңдеулер мен математикалық модельдеумен айналысқан.</a:t>
            </a:r>
            <a:endParaRPr lang="en-US" sz="1350" dirty="0"/>
          </a:p>
        </p:txBody>
      </p:sp>
      <p:sp>
        <p:nvSpPr>
          <p:cNvPr id="12" name="text-11"/>
          <p:cNvSpPr txBox="1"/>
          <p:nvPr/>
        </p:nvSpPr>
        <p:spPr>
          <a:xfrm rot="-60000">
            <a:off x="885341" y="4402852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1988–1994 жылдары Ғылым академиясының президенті болған, 1991 жылдан Ғарыштық зерттеулер институтын басқарған.</a:t>
            </a:r>
            <a:endParaRPr lang="en-US" sz="1350" dirty="0"/>
          </a:p>
        </p:txBody>
      </p:sp>
      <p:sp>
        <p:nvSpPr>
          <p:cNvPr id="13" name="shape-12"/>
          <p:cNvSpPr/>
          <p:nvPr/>
        </p:nvSpPr>
        <p:spPr>
          <a:xfrm rot="60000">
            <a:off x="457200" y="5209480"/>
            <a:ext cx="5943600" cy="2000250"/>
          </a:xfrm>
          <a:prstGeom prst="roundRect">
            <a:avLst>
              <a:gd name="adj" fmla="val 8889"/>
            </a:avLst>
          </a:prstGeom>
          <a:solidFill>
            <a:srgbClr val="2338A0"/>
          </a:solidFill>
          <a:ln/>
        </p:spPr>
      </p:sp>
      <p:sp>
        <p:nvSpPr>
          <p:cNvPr id="14" name="shape-13"/>
          <p:cNvSpPr/>
          <p:nvPr/>
        </p:nvSpPr>
        <p:spPr>
          <a:xfrm rot="-420000">
            <a:off x="5718015" y="5064740"/>
            <a:ext cx="533400" cy="533400"/>
          </a:xfrm>
          <a:prstGeom prst="ellipse">
            <a:avLst/>
          </a:prstGeom>
          <a:solidFill>
            <a:srgbClr val="FAF8F3"/>
          </a:solidFill>
          <a:ln w="12700">
            <a:solidFill>
              <a:srgbClr val="2338A0"/>
            </a:solidFill>
            <a:prstDash val="solid"/>
          </a:ln>
        </p:spPr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420000">
            <a:off x="5838665" y="5185390"/>
            <a:ext cx="292100" cy="292100"/>
          </a:xfrm>
          <a:prstGeom prst="rect">
            <a:avLst/>
          </a:prstGeom>
        </p:spPr>
      </p:pic>
      <p:sp>
        <p:nvSpPr>
          <p:cNvPr id="16" name="text-15"/>
          <p:cNvSpPr txBox="1"/>
          <p:nvPr/>
        </p:nvSpPr>
        <p:spPr>
          <a:xfrm rot="60000">
            <a:off x="698633" y="5401382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ЖЫЛЫ, 17 ЖАСТА</a:t>
            </a:r>
            <a:endParaRPr lang="en-US" sz="900" dirty="0"/>
          </a:p>
        </p:txBody>
      </p:sp>
      <p:pic>
        <p:nvPicPr>
          <p:cNvPr id="17" name="svg-1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">
            <a:off x="694214" y="5602888"/>
            <a:ext cx="203200" cy="20320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60000">
            <a:off x="962045" y="5626175"/>
            <a:ext cx="401840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Халықаралық математика олимпиадасы (IMO).</a:t>
            </a:r>
            <a:endParaRPr lang="en-US" sz="1350" dirty="0"/>
          </a:p>
        </p:txBody>
      </p:sp>
      <p:sp>
        <p:nvSpPr>
          <p:cNvPr id="19" name="text-18"/>
          <p:cNvSpPr txBox="1"/>
          <p:nvPr/>
        </p:nvSpPr>
        <p:spPr>
          <a:xfrm rot="60000">
            <a:off x="876395" y="5972374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Спутник деректерімен жасалған жоба, мысалы NASA Space Apps Challenge.</a:t>
            </a:r>
            <a:endParaRPr lang="en-US" sz="1350" dirty="0"/>
          </a:p>
        </p:txBody>
      </p:sp>
      <p:sp>
        <p:nvSpPr>
          <p:cNvPr id="20" name="text-19"/>
          <p:cNvSpPr txBox="1"/>
          <p:nvPr/>
        </p:nvSpPr>
        <p:spPr>
          <a:xfrm rot="60000">
            <a:off x="866483" y="6540216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Оқитын мамандығы: қолданбалы математика немесе аэроғарыш инженериясы.</a:t>
            </a:r>
            <a:endParaRPr lang="en-US" sz="1350" dirty="0"/>
          </a:p>
        </p:txBody>
      </p:sp>
      <p:sp>
        <p:nvSpPr>
          <p:cNvPr id="21" name="text-2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2" name="shape-21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3" name="text-22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4" name="svg-2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5" name="shape-24"/>
          <p:cNvSpPr/>
          <p:nvPr/>
        </p:nvSpPr>
        <p:spPr>
          <a:xfrm rot="240000">
            <a:off x="4660900" y="950913"/>
            <a:ext cx="1714500" cy="2349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6" name="shape-25"/>
          <p:cNvSpPr/>
          <p:nvPr/>
        </p:nvSpPr>
        <p:spPr>
          <a:xfrm rot="60000">
            <a:off x="5121964" y="840996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7" name="img-2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4745516" y="1027406"/>
            <a:ext cx="1562100" cy="1955800"/>
          </a:xfrm>
          <a:prstGeom prst="rect">
            <a:avLst/>
          </a:prstGeom>
        </p:spPr>
      </p:pic>
      <p:sp>
        <p:nvSpPr>
          <p:cNvPr id="28" name="text-27"/>
          <p:cNvSpPr txBox="1"/>
          <p:nvPr/>
        </p:nvSpPr>
        <p:spPr>
          <a:xfrm rot="240000">
            <a:off x="4557177" y="300430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1936–2005</a:t>
            </a:r>
            <a:endParaRPr lang="en-US" sz="1300" dirty="0"/>
          </a:p>
        </p:txBody>
      </p:sp>
      <p:sp>
        <p:nvSpPr>
          <p:cNvPr id="29" name="text-28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бесіншісі жасушаның ішінен жаңалық ашқан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5960" y="406400"/>
            <a:ext cx="29972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2F7A33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6160" y="482600"/>
            <a:ext cx="26924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2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1939 · МОЛЕКУЛАЛЫҚ БИОЛОГИЯ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8</a:t>
            </a:r>
            <a:endParaRPr lang="en-US" sz="1000" dirty="0"/>
          </a:p>
        </p:txBody>
      </p:sp>
      <p:sp>
        <p:nvSpPr>
          <p:cNvPr id="6" name="shape-5"/>
          <p:cNvSpPr/>
          <p:nvPr/>
        </p:nvSpPr>
        <p:spPr>
          <a:xfrm>
            <a:off x="0" y="0"/>
            <a:ext cx="6858000" cy="88900"/>
          </a:xfrm>
          <a:prstGeom prst="rect">
            <a:avLst/>
          </a:prstGeom>
          <a:solidFill>
            <a:srgbClr val="2F7A33"/>
          </a:solidFill>
          <a:ln/>
        </p:spPr>
      </p:sp>
      <p:sp>
        <p:nvSpPr>
          <p:cNvPr id="7" name="text-6"/>
          <p:cNvSpPr txBox="1"/>
          <p:nvPr/>
        </p:nvSpPr>
        <p:spPr>
          <a:xfrm>
            <a:off x="457200" y="953591"/>
            <a:ext cx="4092448" cy="1212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Мұрат </a:t>
            </a:r>
            <a:pPr algn="l" indent="0" marL="0">
              <a:lnSpc>
                <a:spcPts val="4280"/>
              </a:lnSpc>
              <a:buNone/>
            </a:pPr>
            <a:r>
              <a:rPr lang="en-US" sz="5200" i="1" spc="-100" kern="0" dirty="0">
                <a:solidFill>
                  <a:srgbClr val="2F7A3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Айтхожин</a:t>
            </a:r>
            <a:endParaRPr lang="en-US" sz="4200" dirty="0"/>
          </a:p>
        </p:txBody>
      </p:sp>
      <p:sp>
        <p:nvSpPr>
          <p:cNvPr id="8" name="shape-7"/>
          <p:cNvSpPr/>
          <p:nvPr/>
        </p:nvSpPr>
        <p:spPr>
          <a:xfrm rot="-60000">
            <a:off x="457200" y="3173710"/>
            <a:ext cx="5943600" cy="18859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-8"/>
          <p:cNvSpPr/>
          <p:nvPr/>
        </p:nvSpPr>
        <p:spPr>
          <a:xfrm rot="-240000">
            <a:off x="2936759" y="3060840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0" name="text-9"/>
          <p:cNvSpPr txBox="1"/>
          <p:nvPr/>
        </p:nvSpPr>
        <p:spPr>
          <a:xfrm rot="-60000">
            <a:off x="673965" y="3365603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ШЫН ӨМІРДЕ</a:t>
            </a:r>
            <a:endParaRPr lang="en-US" sz="900" dirty="0"/>
          </a:p>
        </p:txBody>
      </p:sp>
      <p:sp>
        <p:nvSpPr>
          <p:cNvPr id="11" name="text-10"/>
          <p:cNvSpPr txBox="1"/>
          <p:nvPr/>
        </p:nvSpPr>
        <p:spPr>
          <a:xfrm rot="-60000">
            <a:off x="871360" y="3601882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Мәскеу мемлекеттік университетінде және ҚазМУ-да оқыған. Қазақстандағы молекулалық биологияның негізін қалаушы.</a:t>
            </a:r>
            <a:endParaRPr lang="en-US" sz="1350" dirty="0"/>
          </a:p>
        </p:txBody>
      </p:sp>
      <p:sp>
        <p:nvSpPr>
          <p:cNvPr id="12" name="text-11"/>
          <p:cNvSpPr txBox="1"/>
          <p:nvPr/>
        </p:nvSpPr>
        <p:spPr>
          <a:xfrm rot="-60000">
            <a:off x="883306" y="4168813"/>
            <a:ext cx="561365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Жасушаның ішіндегі бөлшектердің жаңа класын, информосомаларды ашқан ғалымдар тобында болып, 1976 жылы Ленин сыйлығын алған.</a:t>
            </a:r>
            <a:endParaRPr lang="en-US" sz="1350" dirty="0"/>
          </a:p>
        </p:txBody>
      </p:sp>
      <p:sp>
        <p:nvSpPr>
          <p:cNvPr id="13" name="shape-12"/>
          <p:cNvSpPr/>
          <p:nvPr/>
        </p:nvSpPr>
        <p:spPr>
          <a:xfrm rot="60000">
            <a:off x="457200" y="5209480"/>
            <a:ext cx="5943600" cy="2000250"/>
          </a:xfrm>
          <a:prstGeom prst="roundRect">
            <a:avLst>
              <a:gd name="adj" fmla="val 8889"/>
            </a:avLst>
          </a:prstGeom>
          <a:solidFill>
            <a:srgbClr val="2F7A33"/>
          </a:solidFill>
          <a:ln/>
        </p:spPr>
      </p:sp>
      <p:sp>
        <p:nvSpPr>
          <p:cNvPr id="14" name="shape-13"/>
          <p:cNvSpPr/>
          <p:nvPr/>
        </p:nvSpPr>
        <p:spPr>
          <a:xfrm rot="-420000">
            <a:off x="5718015" y="5064740"/>
            <a:ext cx="533400" cy="533400"/>
          </a:xfrm>
          <a:prstGeom prst="ellipse">
            <a:avLst/>
          </a:prstGeom>
          <a:solidFill>
            <a:srgbClr val="FAF8F3"/>
          </a:solidFill>
          <a:ln w="12700">
            <a:solidFill>
              <a:srgbClr val="2F7A33"/>
            </a:solidFill>
            <a:prstDash val="solid"/>
          </a:ln>
        </p:spPr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420000">
            <a:off x="5838665" y="5185390"/>
            <a:ext cx="292100" cy="292100"/>
          </a:xfrm>
          <a:prstGeom prst="rect">
            <a:avLst/>
          </a:prstGeom>
        </p:spPr>
      </p:pic>
      <p:sp>
        <p:nvSpPr>
          <p:cNvPr id="16" name="text-15"/>
          <p:cNvSpPr txBox="1"/>
          <p:nvPr/>
        </p:nvSpPr>
        <p:spPr>
          <a:xfrm rot="60000">
            <a:off x="698633" y="5401382"/>
            <a:ext cx="581558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ЖЫЛЫ, 17 ЖАСТА</a:t>
            </a:r>
            <a:endParaRPr lang="en-US" sz="900" dirty="0"/>
          </a:p>
        </p:txBody>
      </p:sp>
      <p:pic>
        <p:nvPicPr>
          <p:cNvPr id="17" name="svg-1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">
            <a:off x="694214" y="5602888"/>
            <a:ext cx="203200" cy="20320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60000">
            <a:off x="961071" y="5624052"/>
            <a:ext cx="3762629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Халықаралық биология олимпиадасы (IBO).</a:t>
            </a:r>
            <a:endParaRPr lang="en-US" sz="1350" dirty="0"/>
          </a:p>
        </p:txBody>
      </p:sp>
      <p:sp>
        <p:nvSpPr>
          <p:cNvPr id="19" name="text-18"/>
          <p:cNvSpPr txBox="1"/>
          <p:nvPr/>
        </p:nvSpPr>
        <p:spPr>
          <a:xfrm rot="60000">
            <a:off x="876395" y="5972374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Зертханада жасалған зерттеу жобасы, мысалы ISEF сияқты ғылыми жарыста.</a:t>
            </a:r>
            <a:endParaRPr lang="en-US" sz="1350" dirty="0"/>
          </a:p>
        </p:txBody>
      </p:sp>
      <p:sp>
        <p:nvSpPr>
          <p:cNvPr id="20" name="text-19"/>
          <p:cNvSpPr txBox="1"/>
          <p:nvPr/>
        </p:nvSpPr>
        <p:spPr>
          <a:xfrm rot="60000">
            <a:off x="866483" y="6540216"/>
            <a:ext cx="5613654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en-US" sz="13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Оқитын мамандығы: молекулалық биология немесе биохимия.</a:t>
            </a:r>
            <a:endParaRPr lang="en-US" sz="1350" dirty="0"/>
          </a:p>
        </p:txBody>
      </p:sp>
      <p:sp>
        <p:nvSpPr>
          <p:cNvPr id="21" name="text-2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2" name="shape-21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3" name="text-22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4" name="svg-2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5" name="shape-24"/>
          <p:cNvSpPr/>
          <p:nvPr/>
        </p:nvSpPr>
        <p:spPr>
          <a:xfrm rot="240000">
            <a:off x="4660900" y="950913"/>
            <a:ext cx="1714500" cy="2349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6" name="shape-25"/>
          <p:cNvSpPr/>
          <p:nvPr/>
        </p:nvSpPr>
        <p:spPr>
          <a:xfrm rot="60000">
            <a:off x="5121964" y="840996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7" name="img-2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4745516" y="1027406"/>
            <a:ext cx="1562100" cy="1955800"/>
          </a:xfrm>
          <a:prstGeom prst="rect">
            <a:avLst/>
          </a:prstGeom>
        </p:spPr>
      </p:pic>
      <p:sp>
        <p:nvSpPr>
          <p:cNvPr id="28" name="text-27"/>
          <p:cNvSpPr txBox="1"/>
          <p:nvPr/>
        </p:nvSpPr>
        <p:spPr>
          <a:xfrm rot="240000">
            <a:off x="4557177" y="300430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1939–1987</a:t>
            </a:r>
            <a:endParaRPr lang="en-US" sz="1300" dirty="0"/>
          </a:p>
        </p:txBody>
      </p:sp>
      <p:sp>
        <p:nvSpPr>
          <p:cNvPr id="29" name="text-28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соңында бәріне ортақ нәрсе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200" y="406400"/>
            <a:ext cx="18669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7400" y="482600"/>
            <a:ext cx="14942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· ОРТАҚ НЕ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83624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8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Бәріне ортақ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не</a:t>
            </a:r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?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60000">
            <a:off x="457200" y="2095550"/>
            <a:ext cx="5943600" cy="869950"/>
          </a:xfrm>
          <a:prstGeom prst="roundRect">
            <a:avLst>
              <a:gd name="adj" fmla="val 20438"/>
            </a:avLst>
          </a:prstGeom>
          <a:solidFill>
            <a:srgbClr val="0A0A0A"/>
          </a:solidFill>
          <a:ln/>
        </p:spPr>
      </p:sp>
      <p:sp>
        <p:nvSpPr>
          <p:cNvPr id="8" name="text-7"/>
          <p:cNvSpPr txBox="1"/>
          <p:nvPr/>
        </p:nvSpPr>
        <p:spPr>
          <a:xfrm rot="-60000">
            <a:off x="695729" y="2298724"/>
            <a:ext cx="578866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-8"/>
          <p:cNvSpPr txBox="1"/>
          <p:nvPr/>
        </p:nvSpPr>
        <p:spPr>
          <a:xfrm rot="-60000">
            <a:off x="700329" y="2508284"/>
            <a:ext cx="5788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Бір салаға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терең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кірді.</a:t>
            </a:r>
            <a:endParaRPr lang="en-US" sz="1450" dirty="0"/>
          </a:p>
        </p:txBody>
      </p:sp>
      <p:sp>
        <p:nvSpPr>
          <p:cNvPr id="10" name="shape-9"/>
          <p:cNvSpPr/>
          <p:nvPr/>
        </p:nvSpPr>
        <p:spPr>
          <a:xfrm rot="60000">
            <a:off x="457200" y="3079948"/>
            <a:ext cx="5943600" cy="1123950"/>
          </a:xfrm>
          <a:prstGeom prst="roundRect">
            <a:avLst>
              <a:gd name="adj" fmla="val 158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1" name="text-10"/>
          <p:cNvSpPr txBox="1"/>
          <p:nvPr/>
        </p:nvSpPr>
        <p:spPr>
          <a:xfrm rot="60000">
            <a:off x="703489" y="3283093"/>
            <a:ext cx="578866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-11"/>
          <p:cNvSpPr txBox="1"/>
          <p:nvPr/>
        </p:nvSpPr>
        <p:spPr>
          <a:xfrm rot="60000">
            <a:off x="696671" y="3492683"/>
            <a:ext cx="578866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Білімін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еліне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жұмсады: кен орны, университет, ғылыми институт.</a:t>
            </a:r>
            <a:endParaRPr lang="en-US" sz="1450" dirty="0"/>
          </a:p>
        </p:txBody>
      </p:sp>
      <p:sp>
        <p:nvSpPr>
          <p:cNvPr id="13" name="shape-12"/>
          <p:cNvSpPr/>
          <p:nvPr/>
        </p:nvSpPr>
        <p:spPr>
          <a:xfrm rot="-60000">
            <a:off x="457200" y="4318397"/>
            <a:ext cx="5943600" cy="1123950"/>
          </a:xfrm>
          <a:prstGeom prst="roundRect">
            <a:avLst>
              <a:gd name="adj" fmla="val 15819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 rot="-60000">
            <a:off x="693511" y="4521541"/>
            <a:ext cx="578866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text-14"/>
          <p:cNvSpPr txBox="1"/>
          <p:nvPr/>
        </p:nvSpPr>
        <p:spPr>
          <a:xfrm rot="-60000">
            <a:off x="700329" y="4731131"/>
            <a:ext cx="578866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Бір қызығушылықпен шектелмеді: Бөкетов химиямен қатар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кітап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жазды.</a:t>
            </a:r>
            <a:endParaRPr lang="en-US" sz="1450" dirty="0"/>
          </a:p>
        </p:txBody>
      </p:sp>
      <p:sp>
        <p:nvSpPr>
          <p:cNvPr id="16" name="text-15"/>
          <p:cNvSpPr txBox="1"/>
          <p:nvPr/>
        </p:nvSpPr>
        <p:spPr>
          <a:xfrm>
            <a:off x="457200" y="5715744"/>
            <a:ext cx="6300216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10"/>
              </a:lnSpc>
              <a:buNone/>
            </a:pPr>
            <a:r>
              <a:rPr lang="en-US" sz="26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Ал сенің портфолиоңда не бар?</a:t>
            </a:r>
            <a:endParaRPr lang="en-US" sz="2600" dirty="0"/>
          </a:p>
        </p:txBody>
      </p:sp>
      <p:sp>
        <p:nvSpPr>
          <p:cNvPr id="17" name="text-16"/>
          <p:cNvSpPr txBox="1"/>
          <p:nvPr/>
        </p:nvSpPr>
        <p:spPr>
          <a:xfrm>
            <a:off x="457845" y="80454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8" name="shape-17"/>
          <p:cNvSpPr/>
          <p:nvPr/>
        </p:nvSpPr>
        <p:spPr>
          <a:xfrm rot="-180000">
            <a:off x="455712" y="6858000"/>
            <a:ext cx="2590800" cy="4254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9" name="text-18"/>
          <p:cNvSpPr txBox="1"/>
          <p:nvPr/>
        </p:nvSpPr>
        <p:spPr>
          <a:xfrm rot="-180000">
            <a:off x="620812" y="6946900"/>
            <a:ext cx="23962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пікірге жаз · сақтап қой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i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Я отказался от 170 000 000 ₸</dc:title>
  <dc:subject>PptxGenJS Presentation</dc:subject>
  <dc:creator>PptxGenJS</dc:creator>
  <cp:lastModifiedBy>PptxGenJS</cp:lastModifiedBy>
  <cp:revision>1</cp:revision>
  <dcterms:created xsi:type="dcterms:W3CDTF">2026-10-27T11:45:07Z</dcterms:created>
  <dcterms:modified xsi:type="dcterms:W3CDTF">2026-10-27T11:45:07Z</dcterms:modified>
</cp:coreProperties>
</file>