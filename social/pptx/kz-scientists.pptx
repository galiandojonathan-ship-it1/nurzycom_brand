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6858000" cy="8572500"/>
  <p:notesSz cx="85725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jpeg"/><Relationship Id="rId4" Type="http://schemas.openxmlformats.org/officeDocument/2006/relationships/image" Target="../media/image-1-4.jpeg"/><Relationship Id="rId5" Type="http://schemas.openxmlformats.org/officeDocument/2006/relationships/image" Target="../media/image-1-5.jpeg"/><Relationship Id="rId6" Type="http://schemas.openxmlformats.org/officeDocument/2006/relationships/image" Target="../media/image-1-6.jpeg"/><Relationship Id="rId7" Type="http://schemas.openxmlformats.org/officeDocument/2006/relationships/image" Target="../media/image-1-7.jpe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845" y="406400"/>
            <a:ext cx="27114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045" y="482600"/>
            <a:ext cx="23895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· ЕЛЕСТЕТІП КӨРЕЙІК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/ 13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3740"/>
            <a:ext cx="6300216" cy="182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90"/>
              </a:lnSpc>
              <a:buNone/>
            </a:pPr>
            <a:r>
              <a:rPr lang="en-US" sz="45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Ұлы ғұламаларымыз </a:t>
            </a:r>
            <a:pPr algn="l" indent="0" marL="0">
              <a:lnSpc>
                <a:spcPts val="4590"/>
              </a:lnSpc>
              <a:buNone/>
            </a:pPr>
            <a:r>
              <a:rPr lang="en-US" sz="50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біздің жасымызда</a:t>
            </a:r>
            <a:pPr algn="l" indent="0" marL="0">
              <a:lnSpc>
                <a:spcPts val="4590"/>
              </a:lnSpc>
              <a:buNone/>
            </a:pPr>
            <a:r>
              <a:rPr lang="en-US" sz="45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болса...</a:t>
            </a:r>
            <a:endParaRPr lang="en-US" sz="4500" dirty="0"/>
          </a:p>
        </p:txBody>
      </p:sp>
      <p:sp>
        <p:nvSpPr>
          <p:cNvPr id="7" name="text-6"/>
          <p:cNvSpPr txBox="1"/>
          <p:nvPr/>
        </p:nvSpPr>
        <p:spPr>
          <a:xfrm>
            <a:off x="457696" y="2904430"/>
            <a:ext cx="58896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Олардың академиялық портфолиосы қандай болар еді: SAT, IELTS, GPA, олимпиада? Қай мамандыққа оқыр еді?</a:t>
            </a:r>
            <a:endParaRPr lang="en-US" sz="1500" dirty="0"/>
          </a:p>
        </p:txBody>
      </p:sp>
      <p:pic>
        <p:nvPicPr>
          <p:cNvPr id="8" name="img-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10000"/>
            <a:ext cx="520700" cy="5207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1880791" y="3835400"/>
            <a:ext cx="1857756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500" i="1" dirty="0">
                <a:solidFill>
                  <a:srgbClr val="9C4F22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Сәтбаев</a:t>
            </a:r>
            <a:endParaRPr lang="en-US" sz="3500" dirty="0"/>
          </a:p>
        </p:txBody>
      </p:sp>
      <p:pic>
        <p:nvPicPr>
          <p:cNvPr id="10" name="img-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200" y="4406900"/>
            <a:ext cx="520700" cy="520700"/>
          </a:xfrm>
          <a:prstGeom prst="rect">
            <a:avLst/>
          </a:prstGeom>
        </p:spPr>
      </p:pic>
      <p:sp>
        <p:nvSpPr>
          <p:cNvPr id="11" name="text-10"/>
          <p:cNvSpPr txBox="1"/>
          <p:nvPr/>
        </p:nvSpPr>
        <p:spPr>
          <a:xfrm>
            <a:off x="2641501" y="4432300"/>
            <a:ext cx="2322195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500" i="1" dirty="0">
                <a:solidFill>
                  <a:srgbClr val="1B6676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Уәлиханов</a:t>
            </a:r>
            <a:endParaRPr lang="en-US" sz="3500" dirty="0"/>
          </a:p>
        </p:txBody>
      </p:sp>
      <p:pic>
        <p:nvPicPr>
          <p:cNvPr id="12" name="img-1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5003800"/>
            <a:ext cx="520700" cy="520700"/>
          </a:xfrm>
          <a:prstGeom prst="rect">
            <a:avLst/>
          </a:prstGeom>
        </p:spPr>
      </p:pic>
      <p:sp>
        <p:nvSpPr>
          <p:cNvPr id="13" name="text-12"/>
          <p:cNvSpPr txBox="1"/>
          <p:nvPr/>
        </p:nvSpPr>
        <p:spPr>
          <a:xfrm>
            <a:off x="1880939" y="5029200"/>
            <a:ext cx="188468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500" i="1" dirty="0">
                <a:solidFill>
                  <a:srgbClr val="5B2E91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Бөкетов</a:t>
            </a:r>
            <a:endParaRPr lang="en-US" sz="3500" dirty="0"/>
          </a:p>
        </p:txBody>
      </p:sp>
      <p:pic>
        <p:nvPicPr>
          <p:cNvPr id="14" name="img-1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9200" y="5600700"/>
            <a:ext cx="520700" cy="520700"/>
          </a:xfrm>
          <a:prstGeom prst="rect">
            <a:avLst/>
          </a:prstGeom>
        </p:spPr>
      </p:pic>
      <p:sp>
        <p:nvSpPr>
          <p:cNvPr id="15" name="text-14"/>
          <p:cNvSpPr txBox="1"/>
          <p:nvPr/>
        </p:nvSpPr>
        <p:spPr>
          <a:xfrm>
            <a:off x="2640112" y="5626100"/>
            <a:ext cx="2941447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500" i="1" dirty="0">
                <a:solidFill>
                  <a:srgbClr val="2338A0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Сұлтанғазин</a:t>
            </a:r>
            <a:endParaRPr lang="en-US" sz="3500" dirty="0"/>
          </a:p>
        </p:txBody>
      </p:sp>
      <p:pic>
        <p:nvPicPr>
          <p:cNvPr id="16" name="img-1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197600"/>
            <a:ext cx="520700" cy="520700"/>
          </a:xfrm>
          <a:prstGeom prst="rect">
            <a:avLst/>
          </a:prstGeom>
        </p:spPr>
      </p:pic>
      <p:sp>
        <p:nvSpPr>
          <p:cNvPr id="17" name="text-16"/>
          <p:cNvSpPr txBox="1"/>
          <p:nvPr/>
        </p:nvSpPr>
        <p:spPr>
          <a:xfrm>
            <a:off x="1879749" y="6223000"/>
            <a:ext cx="2436622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3500" i="1" dirty="0">
                <a:solidFill>
                  <a:srgbClr val="2F7A3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Айтхожин</a:t>
            </a:r>
            <a:endParaRPr lang="en-US" sz="3500" dirty="0"/>
          </a:p>
        </p:txBody>
      </p:sp>
      <p:sp>
        <p:nvSpPr>
          <p:cNvPr id="18" name="text-17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9" name="shape-18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0" name="text-19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1" name="svg-20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2" name="shape-21"/>
          <p:cNvSpPr/>
          <p:nvPr/>
        </p:nvSpPr>
        <p:spPr>
          <a:xfrm rot="360000">
            <a:off x="4567138" y="4064000"/>
            <a:ext cx="1847850" cy="4254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3" name="text-22"/>
          <p:cNvSpPr txBox="1"/>
          <p:nvPr/>
        </p:nvSpPr>
        <p:spPr>
          <a:xfrm rot="360000">
            <a:off x="4719538" y="4152900"/>
            <a:ext cx="163563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5 ғалым · 5 сала</a:t>
            </a:r>
            <a:endParaRPr lang="en-US" sz="1500" dirty="0"/>
          </a:p>
        </p:txBody>
      </p:sp>
      <p:sp>
        <p:nvSpPr>
          <p:cNvPr id="24" name="text-23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алдымен посттың ережесі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5960" y="406400"/>
            <a:ext cx="15875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6160" y="482600"/>
            <a:ext cx="11981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· ЕРЕЖЕ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13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Посттың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ережесі</a:t>
            </a:r>
            <a:endParaRPr lang="en-US" sz="4200" dirty="0"/>
          </a:p>
        </p:txBody>
      </p:sp>
      <p:sp>
        <p:nvSpPr>
          <p:cNvPr id="7" name="text-6"/>
          <p:cNvSpPr txBox="1"/>
          <p:nvPr/>
        </p:nvSpPr>
        <p:spPr>
          <a:xfrm>
            <a:off x="457696" y="1706066"/>
            <a:ext cx="58896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Әр ғалымға екі слайд. Біріншісінде шын өмірі, екіншісінде 2026 жылғы портфолиосы.</a:t>
            </a:r>
            <a:endParaRPr lang="en-US" sz="1500" dirty="0"/>
          </a:p>
        </p:txBody>
      </p:sp>
      <p:sp>
        <p:nvSpPr>
          <p:cNvPr id="8" name="shape-7"/>
          <p:cNvSpPr/>
          <p:nvPr/>
        </p:nvSpPr>
        <p:spPr>
          <a:xfrm rot="-72000">
            <a:off x="457200" y="2858691"/>
            <a:ext cx="5943600" cy="11493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-8"/>
          <p:cNvSpPr/>
          <p:nvPr/>
        </p:nvSpPr>
        <p:spPr>
          <a:xfrm rot="-252000">
            <a:off x="2941222" y="2743321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0" name="text-9"/>
          <p:cNvSpPr txBox="1"/>
          <p:nvPr/>
        </p:nvSpPr>
        <p:spPr>
          <a:xfrm rot="-72000">
            <a:off x="718423" y="3098857"/>
            <a:ext cx="573481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</a:t>
            </a:r>
            <a:endParaRPr lang="en-US" sz="900" dirty="0"/>
          </a:p>
        </p:txBody>
      </p:sp>
      <p:sp>
        <p:nvSpPr>
          <p:cNvPr id="11" name="text-10"/>
          <p:cNvSpPr txBox="1"/>
          <p:nvPr/>
        </p:nvSpPr>
        <p:spPr>
          <a:xfrm rot="-72000">
            <a:off x="726493" y="3309513"/>
            <a:ext cx="5734812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Тексерілген деректер, қызық фактілер және өмірінде оңай болмаған кезеңдер.</a:t>
            </a:r>
            <a:endParaRPr lang="en-US" sz="1400" dirty="0"/>
          </a:p>
        </p:txBody>
      </p:sp>
      <p:sp>
        <p:nvSpPr>
          <p:cNvPr id="12" name="shape-11"/>
          <p:cNvSpPr/>
          <p:nvPr/>
        </p:nvSpPr>
        <p:spPr>
          <a:xfrm rot="72000">
            <a:off x="457200" y="4572149"/>
            <a:ext cx="5943600" cy="1377950"/>
          </a:xfrm>
          <a:prstGeom prst="roundRect">
            <a:avLst>
              <a:gd name="adj" fmla="val 12903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 rot="72000">
            <a:off x="707147" y="4775290"/>
            <a:ext cx="57886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ЖЫЛ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 rot="72000">
            <a:off x="696306" y="4984876"/>
            <a:ext cx="57886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Біздің болжамымыз. SAT, IELTS, GPA сандары ойдан алынған, бірақ әрқайсысын шын өмірбаянынан шығардық. Ешкім мінсіз емес.</a:t>
            </a:r>
            <a:endParaRPr lang="en-US" sz="1450" dirty="0"/>
          </a:p>
        </p:txBody>
      </p:sp>
      <p:sp>
        <p:nvSpPr>
          <p:cNvPr id="15" name="text-14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6" name="shape-15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7" name="text-16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18" name="svg-1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9" name="text-18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бірінші кейіпкер жер астын зерттеген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200" y="406400"/>
            <a:ext cx="18669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9C4F22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7400" y="482600"/>
            <a:ext cx="14942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9C4F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1899 · ГЕОЛОГИЯ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13</a:t>
            </a:r>
            <a:endParaRPr lang="en-US" sz="1000" dirty="0"/>
          </a:p>
        </p:txBody>
      </p:sp>
      <p:sp>
        <p:nvSpPr>
          <p:cNvPr id="6" name="shape-5"/>
          <p:cNvSpPr/>
          <p:nvPr/>
        </p:nvSpPr>
        <p:spPr>
          <a:xfrm>
            <a:off x="0" y="0"/>
            <a:ext cx="6858000" cy="88900"/>
          </a:xfrm>
          <a:prstGeom prst="rect">
            <a:avLst/>
          </a:prstGeom>
          <a:solidFill>
            <a:srgbClr val="9C4F22"/>
          </a:solidFill>
          <a:ln/>
        </p:spPr>
      </p:sp>
      <p:sp>
        <p:nvSpPr>
          <p:cNvPr id="7" name="text-6"/>
          <p:cNvSpPr txBox="1"/>
          <p:nvPr/>
        </p:nvSpPr>
        <p:spPr>
          <a:xfrm>
            <a:off x="457200" y="953591"/>
            <a:ext cx="4092448" cy="1212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Қаныш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9C4F22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Сәтбаев</a:t>
            </a:r>
            <a:endParaRPr lang="en-US" sz="4200" dirty="0"/>
          </a:p>
        </p:txBody>
      </p:sp>
      <p:sp>
        <p:nvSpPr>
          <p:cNvPr id="8" name="text-7"/>
          <p:cNvSpPr txBox="1"/>
          <p:nvPr/>
        </p:nvSpPr>
        <p:spPr>
          <a:xfrm>
            <a:off x="457200" y="2281833"/>
            <a:ext cx="37693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9C4F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ТУҒАН ЖЕРІ</a:t>
            </a:r>
            <a:endParaRPr lang="en-US" sz="900" dirty="0"/>
          </a:p>
        </p:txBody>
      </p:sp>
      <p:sp>
        <p:nvSpPr>
          <p:cNvPr id="9" name="text-8"/>
          <p:cNvSpPr txBox="1"/>
          <p:nvPr/>
        </p:nvSpPr>
        <p:spPr>
          <a:xfrm>
            <a:off x="457200" y="2464693"/>
            <a:ext cx="376936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1899 · Павлодар өңірі, Баянауыл маңындағы Тендік ауылы</a:t>
            </a:r>
            <a:endParaRPr lang="en-US" sz="1300" dirty="0"/>
          </a:p>
        </p:txBody>
      </p:sp>
      <p:sp>
        <p:nvSpPr>
          <p:cNvPr id="10" name="text-9"/>
          <p:cNvSpPr txBox="1"/>
          <p:nvPr/>
        </p:nvSpPr>
        <p:spPr>
          <a:xfrm>
            <a:off x="457200" y="2934345"/>
            <a:ext cx="376936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Әкесі Имантай би болған. Алғашқы білімді ауыл молдасынан алып, араб, парсы тілін үйренген, кейін қазақ-орыс мектебінде оқыған.</a:t>
            </a:r>
            <a:endParaRPr lang="en-US" sz="1200" dirty="0"/>
          </a:p>
        </p:txBody>
      </p:sp>
      <p:sp>
        <p:nvSpPr>
          <p:cNvPr id="11" name="shape-10"/>
          <p:cNvSpPr/>
          <p:nvPr/>
        </p:nvSpPr>
        <p:spPr>
          <a:xfrm rot="-48000">
            <a:off x="457200" y="3968353"/>
            <a:ext cx="5943600" cy="11620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2" name="shape-11"/>
          <p:cNvSpPr/>
          <p:nvPr/>
        </p:nvSpPr>
        <p:spPr>
          <a:xfrm rot="-228000">
            <a:off x="2944998" y="3854504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3" name="text-12"/>
          <p:cNvSpPr txBox="1"/>
          <p:nvPr/>
        </p:nvSpPr>
        <p:spPr>
          <a:xfrm rot="-48000">
            <a:off x="642563" y="4108486"/>
            <a:ext cx="589635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ӨМІРДЕ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 rot="-48000">
            <a:off x="823716" y="4316822"/>
            <a:ext cx="57078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Томск технологиялық институтының түлегі, тау-кен инженер-геологы.</a:t>
            </a:r>
            <a:endParaRPr lang="en-US" sz="1200" dirty="0"/>
          </a:p>
        </p:txBody>
      </p:sp>
      <p:sp>
        <p:nvSpPr>
          <p:cNvPr id="15" name="text-14"/>
          <p:cNvSpPr txBox="1"/>
          <p:nvPr/>
        </p:nvSpPr>
        <p:spPr>
          <a:xfrm rot="-48000">
            <a:off x="828941" y="4589438"/>
            <a:ext cx="5707888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Жезқазған кен орнын зерттеген. Қазақ КСР Ғылым академиясының тұңғыш президенті болған.</a:t>
            </a:r>
            <a:endParaRPr lang="en-US" sz="1200" dirty="0"/>
          </a:p>
        </p:txBody>
      </p:sp>
      <p:sp>
        <p:nvSpPr>
          <p:cNvPr id="16" name="shape-15"/>
          <p:cNvSpPr/>
          <p:nvPr/>
        </p:nvSpPr>
        <p:spPr>
          <a:xfrm rot="48000">
            <a:off x="457200" y="5231209"/>
            <a:ext cx="5943600" cy="1060450"/>
          </a:xfrm>
          <a:prstGeom prst="roundRect">
            <a:avLst>
              <a:gd name="adj" fmla="val 15569"/>
            </a:avLst>
          </a:prstGeom>
          <a:solidFill>
            <a:srgbClr val="FAF8F3"/>
          </a:solidFill>
          <a:ln w="12700">
            <a:solidFill>
              <a:srgbClr val="9C4F22"/>
            </a:solidFill>
            <a:prstDash val="solid"/>
          </a:ln>
        </p:spPr>
      </p:sp>
      <p:sp>
        <p:nvSpPr>
          <p:cNvPr id="17" name="text-16"/>
          <p:cNvSpPr txBox="1"/>
          <p:nvPr/>
        </p:nvSpPr>
        <p:spPr>
          <a:xfrm rot="48000">
            <a:off x="665005" y="5358638"/>
            <a:ext cx="586943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9C4F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ҚЫЗЫҚ ДЕРЕК</a:t>
            </a:r>
            <a:endParaRPr lang="en-US" sz="900" dirty="0"/>
          </a:p>
        </p:txBody>
      </p:sp>
      <p:sp>
        <p:nvSpPr>
          <p:cNvPr id="18" name="text-17"/>
          <p:cNvSpPr txBox="1"/>
          <p:nvPr/>
        </p:nvSpPr>
        <p:spPr>
          <a:xfrm rot="48000">
            <a:off x="659114" y="5542350"/>
            <a:ext cx="5869432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20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1921 жылы туберкулезбен ауырып жүргенде ауылға емделуге келген геолог Михаил Усовпен танысады. Осы кездесу оны геологияға алып келеді.</a:t>
            </a:r>
            <a:endParaRPr lang="en-US" sz="1200" dirty="0"/>
          </a:p>
        </p:txBody>
      </p:sp>
      <p:sp>
        <p:nvSpPr>
          <p:cNvPr id="19" name="shape-18"/>
          <p:cNvSpPr/>
          <p:nvPr/>
        </p:nvSpPr>
        <p:spPr>
          <a:xfrm rot="-36000">
            <a:off x="457200" y="6393656"/>
            <a:ext cx="5943600" cy="800100"/>
          </a:xfrm>
          <a:prstGeom prst="roundRect">
            <a:avLst>
              <a:gd name="adj" fmla="val 20635"/>
            </a:avLst>
          </a:prstGeom>
          <a:solidFill>
            <a:srgbClr val="0A0A0A"/>
          </a:solidFill>
          <a:ln/>
        </p:spPr>
      </p:sp>
      <p:sp>
        <p:nvSpPr>
          <p:cNvPr id="20" name="text-19"/>
          <p:cNvSpPr txBox="1"/>
          <p:nvPr/>
        </p:nvSpPr>
        <p:spPr>
          <a:xfrm rot="-36000">
            <a:off x="645331" y="6494475"/>
            <a:ext cx="589635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ОҢАЙ БОЛМАҒАН</a:t>
            </a:r>
            <a:endParaRPr lang="en-US" sz="900" dirty="0"/>
          </a:p>
        </p:txBody>
      </p:sp>
      <p:sp>
        <p:nvSpPr>
          <p:cNvPr id="21" name="text-20"/>
          <p:cNvSpPr txBox="1"/>
          <p:nvPr/>
        </p:nvSpPr>
        <p:spPr>
          <a:xfrm rot="-36000">
            <a:off x="648664" y="6679401"/>
            <a:ext cx="589635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20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1952 жылы академия президенттігінен кетіп, 1955 жылы ғана қайта сайланады.</a:t>
            </a:r>
            <a:endParaRPr lang="en-US" sz="1200" dirty="0"/>
          </a:p>
        </p:txBody>
      </p:sp>
      <p:sp>
        <p:nvSpPr>
          <p:cNvPr id="22" name="text-2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3" name="shape-22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4" name="text-23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6" name="shape-25"/>
          <p:cNvSpPr/>
          <p:nvPr/>
        </p:nvSpPr>
        <p:spPr>
          <a:xfrm rot="240000">
            <a:off x="4660900" y="950913"/>
            <a:ext cx="1714500" cy="2349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7" name="shape-26"/>
          <p:cNvSpPr/>
          <p:nvPr/>
        </p:nvSpPr>
        <p:spPr>
          <a:xfrm rot="60000">
            <a:off x="5121964" y="840996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8" name="img-2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4745516" y="1027406"/>
            <a:ext cx="1562100" cy="1955800"/>
          </a:xfrm>
          <a:prstGeom prst="rect">
            <a:avLst/>
          </a:prstGeom>
        </p:spPr>
      </p:pic>
      <p:sp>
        <p:nvSpPr>
          <p:cNvPr id="29" name="text-28"/>
          <p:cNvSpPr txBox="1"/>
          <p:nvPr/>
        </p:nvSpPr>
        <p:spPr>
          <a:xfrm rot="240000">
            <a:off x="4557177" y="30043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1899–1964</a:t>
            </a:r>
            <a:endParaRPr lang="en-US" sz="1300" dirty="0"/>
          </a:p>
        </p:txBody>
      </p:sp>
      <p:sp>
        <p:nvSpPr>
          <p:cNvPr id="30" name="text-29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2026 жылы оның портфолиосы қандай болар еді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845" y="406400"/>
            <a:ext cx="17716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9C4F22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045" y="482600"/>
            <a:ext cx="13933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9C4F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· СӘТБАЕВ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13</a:t>
            </a:r>
            <a:endParaRPr lang="en-US" sz="1000" dirty="0"/>
          </a:p>
        </p:txBody>
      </p:sp>
      <p:sp>
        <p:nvSpPr>
          <p:cNvPr id="6" name="shape-5"/>
          <p:cNvSpPr/>
          <p:nvPr/>
        </p:nvSpPr>
        <p:spPr>
          <a:xfrm>
            <a:off x="0" y="0"/>
            <a:ext cx="6858000" cy="88900"/>
          </a:xfrm>
          <a:prstGeom prst="rect">
            <a:avLst/>
          </a:prstGeom>
          <a:solidFill>
            <a:srgbClr val="9C4F22"/>
          </a:solidFill>
          <a:ln/>
        </p:spPr>
      </p:sp>
      <p:sp>
        <p:nvSpPr>
          <p:cNvPr id="7" name="text-6"/>
          <p:cNvSpPr txBox="1"/>
          <p:nvPr/>
        </p:nvSpPr>
        <p:spPr>
          <a:xfrm>
            <a:off x="457200" y="951458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Сәтбаев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9C4F22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2026</a:t>
            </a:r>
            <a:endParaRPr lang="en-US" sz="4200" dirty="0"/>
          </a:p>
        </p:txBody>
      </p:sp>
      <p:sp>
        <p:nvSpPr>
          <p:cNvPr id="8" name="shape-7"/>
          <p:cNvSpPr/>
          <p:nvPr/>
        </p:nvSpPr>
        <p:spPr>
          <a:xfrm rot="-90000">
            <a:off x="458143" y="1968500"/>
            <a:ext cx="2311400" cy="1117600"/>
          </a:xfrm>
          <a:prstGeom prst="roundRect">
            <a:avLst>
              <a:gd name="adj" fmla="val 13636"/>
            </a:avLst>
          </a:prstGeom>
          <a:solidFill>
            <a:srgbClr val="9C4F22"/>
          </a:solidFill>
          <a:ln/>
        </p:spPr>
      </p:sp>
      <p:sp>
        <p:nvSpPr>
          <p:cNvPr id="9" name="text-8"/>
          <p:cNvSpPr txBox="1"/>
          <p:nvPr/>
        </p:nvSpPr>
        <p:spPr>
          <a:xfrm rot="-90000">
            <a:off x="588783" y="2108319"/>
            <a:ext cx="215392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</a:t>
            </a:r>
            <a:endParaRPr lang="en-US" sz="900" dirty="0"/>
          </a:p>
        </p:txBody>
      </p:sp>
      <p:sp>
        <p:nvSpPr>
          <p:cNvPr id="10" name="text-9"/>
          <p:cNvSpPr txBox="1"/>
          <p:nvPr/>
        </p:nvSpPr>
        <p:spPr>
          <a:xfrm rot="-90000">
            <a:off x="598009" y="2292348"/>
            <a:ext cx="2153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1530</a:t>
            </a:r>
            <a:endParaRPr lang="en-US" sz="3800" dirty="0"/>
          </a:p>
        </p:txBody>
      </p:sp>
      <p:sp>
        <p:nvSpPr>
          <p:cNvPr id="11" name="text-10"/>
          <p:cNvSpPr txBox="1"/>
          <p:nvPr/>
        </p:nvSpPr>
        <p:spPr>
          <a:xfrm rot="-90000">
            <a:off x="607234" y="2812927"/>
            <a:ext cx="215392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5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Math 790 · RW 710</a:t>
            </a:r>
            <a:endParaRPr lang="en-US" sz="900" dirty="0"/>
          </a:p>
        </p:txBody>
      </p:sp>
      <p:sp>
        <p:nvSpPr>
          <p:cNvPr id="12" name="shape-11"/>
          <p:cNvSpPr/>
          <p:nvPr/>
        </p:nvSpPr>
        <p:spPr>
          <a:xfrm rot="60000">
            <a:off x="2871589" y="1968500"/>
            <a:ext cx="1714500" cy="1117600"/>
          </a:xfrm>
          <a:prstGeom prst="roundRect">
            <a:avLst>
              <a:gd name="adj" fmla="val 13636"/>
            </a:avLst>
          </a:prstGeom>
          <a:solidFill>
            <a:srgbClr val="9C4F22"/>
          </a:solidFill>
          <a:ln/>
        </p:spPr>
      </p:sp>
      <p:sp>
        <p:nvSpPr>
          <p:cNvPr id="13" name="text-12"/>
          <p:cNvSpPr txBox="1"/>
          <p:nvPr/>
        </p:nvSpPr>
        <p:spPr>
          <a:xfrm rot="60000">
            <a:off x="3017329" y="2108253"/>
            <a:ext cx="152120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IELTS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 rot="60000">
            <a:off x="3011178" y="2292349"/>
            <a:ext cx="1521206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7.5</a:t>
            </a:r>
            <a:endParaRPr lang="en-US" sz="3800" dirty="0"/>
          </a:p>
        </p:txBody>
      </p:sp>
      <p:sp>
        <p:nvSpPr>
          <p:cNvPr id="15" name="text-14"/>
          <p:cNvSpPr txBox="1"/>
          <p:nvPr/>
        </p:nvSpPr>
        <p:spPr>
          <a:xfrm rot="60000">
            <a:off x="3005028" y="2812995"/>
            <a:ext cx="152120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5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Academic</a:t>
            </a:r>
            <a:endParaRPr lang="en-US" sz="900" dirty="0"/>
          </a:p>
        </p:txBody>
      </p:sp>
      <p:sp>
        <p:nvSpPr>
          <p:cNvPr id="16" name="shape-15"/>
          <p:cNvSpPr/>
          <p:nvPr/>
        </p:nvSpPr>
        <p:spPr>
          <a:xfrm rot="-36000">
            <a:off x="4686746" y="1968500"/>
            <a:ext cx="1714500" cy="1117600"/>
          </a:xfrm>
          <a:prstGeom prst="roundRect">
            <a:avLst>
              <a:gd name="adj" fmla="val 13636"/>
            </a:avLst>
          </a:prstGeom>
          <a:solidFill>
            <a:srgbClr val="9C4F22"/>
          </a:solidFill>
          <a:ln/>
        </p:spPr>
      </p:sp>
      <p:sp>
        <p:nvSpPr>
          <p:cNvPr id="17" name="text-16"/>
          <p:cNvSpPr txBox="1"/>
          <p:nvPr/>
        </p:nvSpPr>
        <p:spPr>
          <a:xfrm rot="-36000">
            <a:off x="4822822" y="2108219"/>
            <a:ext cx="152120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GPA</a:t>
            </a:r>
            <a:endParaRPr lang="en-US" sz="900" dirty="0"/>
          </a:p>
        </p:txBody>
      </p:sp>
      <p:sp>
        <p:nvSpPr>
          <p:cNvPr id="18" name="text-17"/>
          <p:cNvSpPr txBox="1"/>
          <p:nvPr/>
        </p:nvSpPr>
        <p:spPr>
          <a:xfrm rot="-36000">
            <a:off x="4826513" y="2292350"/>
            <a:ext cx="1521206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5.0</a:t>
            </a:r>
            <a:endParaRPr lang="en-US" sz="3800" dirty="0"/>
          </a:p>
        </p:txBody>
      </p:sp>
      <p:sp>
        <p:nvSpPr>
          <p:cNvPr id="19" name="text-18"/>
          <p:cNvSpPr txBox="1"/>
          <p:nvPr/>
        </p:nvSpPr>
        <p:spPr>
          <a:xfrm rot="-36000">
            <a:off x="4830203" y="2813030"/>
            <a:ext cx="152120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5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 баллдық жүйе</a:t>
            </a:r>
            <a:endParaRPr lang="en-US" sz="900" dirty="0"/>
          </a:p>
        </p:txBody>
      </p:sp>
      <p:sp>
        <p:nvSpPr>
          <p:cNvPr id="20" name="shape-19"/>
          <p:cNvSpPr/>
          <p:nvPr/>
        </p:nvSpPr>
        <p:spPr>
          <a:xfrm rot="-60000">
            <a:off x="457646" y="3302000"/>
            <a:ext cx="4933950" cy="41910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9C4F22"/>
            </a:solidFill>
            <a:prstDash val="solid"/>
          </a:ln>
        </p:spPr>
      </p:sp>
      <p:sp>
        <p:nvSpPr>
          <p:cNvPr id="21" name="text-20"/>
          <p:cNvSpPr txBox="1"/>
          <p:nvPr/>
        </p:nvSpPr>
        <p:spPr>
          <a:xfrm rot="-60000">
            <a:off x="622137" y="3489272"/>
            <a:ext cx="64617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9C4F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МЕКТЕБІ</a:t>
            </a:r>
            <a:endParaRPr lang="en-US" sz="900" dirty="0"/>
          </a:p>
        </p:txBody>
      </p:sp>
      <p:sp>
        <p:nvSpPr>
          <p:cNvPr id="22" name="text-21"/>
          <p:cNvSpPr txBox="1"/>
          <p:nvPr/>
        </p:nvSpPr>
        <p:spPr>
          <a:xfrm rot="-60000">
            <a:off x="1345847" y="3397296"/>
            <a:ext cx="4112641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Павлодардағы Назарбаев Зияткерлік мектебі</a:t>
            </a:r>
            <a:endParaRPr lang="en-US" sz="1300" dirty="0"/>
          </a:p>
        </p:txBody>
      </p:sp>
      <p:sp>
        <p:nvSpPr>
          <p:cNvPr id="23" name="text-22"/>
          <p:cNvSpPr txBox="1"/>
          <p:nvPr/>
        </p:nvSpPr>
        <p:spPr>
          <a:xfrm rot="-60000">
            <a:off x="457200" y="3936305"/>
            <a:ext cx="6300216" cy="488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Математикасы бала кезден керемет, ал Reading &amp; Writing-ке көп еңбек сіңірген.</a:t>
            </a:r>
            <a:endParaRPr lang="en-US" sz="1600" dirty="0"/>
          </a:p>
        </p:txBody>
      </p:sp>
      <p:sp>
        <p:nvSpPr>
          <p:cNvPr id="24" name="shape-23"/>
          <p:cNvSpPr/>
          <p:nvPr/>
        </p:nvSpPr>
        <p:spPr>
          <a:xfrm rot="48000">
            <a:off x="457200" y="4762302"/>
            <a:ext cx="5943600" cy="18923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5" name="shape-24"/>
          <p:cNvSpPr/>
          <p:nvPr/>
        </p:nvSpPr>
        <p:spPr>
          <a:xfrm rot="-432000">
            <a:off x="5714196" y="4607549"/>
            <a:ext cx="533400" cy="533400"/>
          </a:xfrm>
          <a:prstGeom prst="ellipse">
            <a:avLst/>
          </a:prstGeom>
          <a:solidFill>
            <a:srgbClr val="FAF8F3"/>
          </a:solidFill>
          <a:ln w="12700">
            <a:solidFill>
              <a:srgbClr val="9C4F22"/>
            </a:solidFill>
            <a:prstDash val="solid"/>
          </a:ln>
        </p:spPr>
      </p:sp>
      <p:pic>
        <p:nvPicPr>
          <p:cNvPr id="26" name="svg-2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432000">
            <a:off x="5834846" y="4728199"/>
            <a:ext cx="292100" cy="292100"/>
          </a:xfrm>
          <a:prstGeom prst="rect">
            <a:avLst/>
          </a:prstGeom>
        </p:spPr>
      </p:pic>
      <p:sp>
        <p:nvSpPr>
          <p:cNvPr id="27" name="text-26"/>
          <p:cNvSpPr txBox="1"/>
          <p:nvPr/>
        </p:nvSpPr>
        <p:spPr>
          <a:xfrm rot="48000">
            <a:off x="657760" y="4914970"/>
            <a:ext cx="589635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ПОРТФОЛИО · 17 ЖАС</a:t>
            </a:r>
            <a:endParaRPr lang="en-US" sz="900" dirty="0"/>
          </a:p>
        </p:txBody>
      </p:sp>
      <p:pic>
        <p:nvPicPr>
          <p:cNvPr id="28" name="svg-2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">
            <a:off x="654697" y="5093344"/>
            <a:ext cx="190500" cy="190500"/>
          </a:xfrm>
          <a:prstGeom prst="rect">
            <a:avLst/>
          </a:prstGeom>
        </p:spPr>
      </p:pic>
      <p:sp>
        <p:nvSpPr>
          <p:cNvPr id="29" name="text-28"/>
          <p:cNvSpPr txBox="1"/>
          <p:nvPr/>
        </p:nvSpPr>
        <p:spPr>
          <a:xfrm rot="48000">
            <a:off x="907240" y="5108901"/>
            <a:ext cx="562038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Халықаралық жер туралы ғылымдар олимпиадасы (IESO): күміс медаль. «Ел мақтанышы» төсбелгісінің иегері.</a:t>
            </a:r>
            <a:endParaRPr lang="en-US" sz="1200" dirty="0"/>
          </a:p>
        </p:txBody>
      </p:sp>
      <p:sp>
        <p:nvSpPr>
          <p:cNvPr id="30" name="text-29"/>
          <p:cNvSpPr txBox="1"/>
          <p:nvPr/>
        </p:nvSpPr>
        <p:spPr>
          <a:xfrm rot="48000">
            <a:off x="824392" y="5584619"/>
            <a:ext cx="5707888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Туған өлкенің кен орындарының морфологиясы: жеке зерттеу жобасы, мақаласы Q1 ғылыми журналында жарияланған.</a:t>
            </a:r>
            <a:endParaRPr lang="en-US" sz="1200" dirty="0"/>
          </a:p>
        </p:txBody>
      </p:sp>
      <p:sp>
        <p:nvSpPr>
          <p:cNvPr id="31" name="text-30"/>
          <p:cNvSpPr txBox="1"/>
          <p:nvPr/>
        </p:nvSpPr>
        <p:spPr>
          <a:xfrm rot="48000">
            <a:off x="819406" y="6043272"/>
            <a:ext cx="570788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Қалалық кітапханада апта сайын балаларға қызықты дәріс өткізеді.</a:t>
            </a:r>
            <a:endParaRPr lang="en-US" sz="1200" dirty="0"/>
          </a:p>
        </p:txBody>
      </p:sp>
      <p:sp>
        <p:nvSpPr>
          <p:cNvPr id="32" name="text-31"/>
          <p:cNvSpPr txBox="1"/>
          <p:nvPr/>
        </p:nvSpPr>
        <p:spPr>
          <a:xfrm rot="48000">
            <a:off x="815846" y="6298240"/>
            <a:ext cx="570788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2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Оқитын мамандығы: тау-кен немесе геологиялық инженерия.</a:t>
            </a:r>
            <a:endParaRPr lang="en-US" sz="1200" dirty="0"/>
          </a:p>
        </p:txBody>
      </p:sp>
      <p:sp>
        <p:nvSpPr>
          <p:cNvPr id="33" name="text-32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34" name="shape-33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35" name="text-34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36" name="svg-3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37" name="text-36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екіншісі 23 жасқа толмай Қашғарға барған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845" y="406400"/>
            <a:ext cx="27114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1B6676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045" y="482600"/>
            <a:ext cx="23895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1B667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1835 · ТАРИХ, ЭТНОГРАФИЯ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13</a:t>
            </a:r>
            <a:endParaRPr lang="en-US" sz="1000" dirty="0"/>
          </a:p>
        </p:txBody>
      </p:sp>
      <p:sp>
        <p:nvSpPr>
          <p:cNvPr id="6" name="shape-5"/>
          <p:cNvSpPr/>
          <p:nvPr/>
        </p:nvSpPr>
        <p:spPr>
          <a:xfrm>
            <a:off x="0" y="0"/>
            <a:ext cx="6858000" cy="88900"/>
          </a:xfrm>
          <a:prstGeom prst="rect">
            <a:avLst/>
          </a:prstGeom>
          <a:solidFill>
            <a:srgbClr val="1B6676"/>
          </a:solidFill>
          <a:ln/>
        </p:spPr>
      </p:sp>
      <p:sp>
        <p:nvSpPr>
          <p:cNvPr id="7" name="text-6"/>
          <p:cNvSpPr txBox="1"/>
          <p:nvPr/>
        </p:nvSpPr>
        <p:spPr>
          <a:xfrm>
            <a:off x="457200" y="953591"/>
            <a:ext cx="4092448" cy="1212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Шоқан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1B6676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Уәлиханов</a:t>
            </a:r>
            <a:endParaRPr lang="en-US" sz="4200" dirty="0"/>
          </a:p>
        </p:txBody>
      </p:sp>
      <p:sp>
        <p:nvSpPr>
          <p:cNvPr id="8" name="text-7"/>
          <p:cNvSpPr txBox="1"/>
          <p:nvPr/>
        </p:nvSpPr>
        <p:spPr>
          <a:xfrm>
            <a:off x="457200" y="2281833"/>
            <a:ext cx="37693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1B667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ТУҒАН ЖЕРІ</a:t>
            </a:r>
            <a:endParaRPr lang="en-US" sz="900" dirty="0"/>
          </a:p>
        </p:txBody>
      </p:sp>
      <p:sp>
        <p:nvSpPr>
          <p:cNvPr id="9" name="text-8"/>
          <p:cNvSpPr txBox="1"/>
          <p:nvPr/>
        </p:nvSpPr>
        <p:spPr>
          <a:xfrm>
            <a:off x="457200" y="2465338"/>
            <a:ext cx="376936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1835 · Қостанай өңірі, Құсмұрын бекінісі</a:t>
            </a:r>
            <a:endParaRPr lang="en-US" sz="1300" dirty="0"/>
          </a:p>
        </p:txBody>
      </p:sp>
      <p:sp>
        <p:nvSpPr>
          <p:cNvPr id="10" name="text-9"/>
          <p:cNvSpPr txBox="1"/>
          <p:nvPr/>
        </p:nvSpPr>
        <p:spPr>
          <a:xfrm>
            <a:off x="457200" y="2720082"/>
            <a:ext cx="376936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Абылай ханның ұрпағы, әкесі Шыңғыс аға сұлтан болған. Балалығы Құсмұрын мен Сырымбетте, әжесі Айғанымның қолында өткен. 12 жасында Омбы кадет корпусына берілген.</a:t>
            </a:r>
            <a:endParaRPr lang="en-US" sz="1200" dirty="0"/>
          </a:p>
        </p:txBody>
      </p:sp>
      <p:sp>
        <p:nvSpPr>
          <p:cNvPr id="11" name="shape-10"/>
          <p:cNvSpPr/>
          <p:nvPr/>
        </p:nvSpPr>
        <p:spPr>
          <a:xfrm rot="-48000">
            <a:off x="457200" y="3967162"/>
            <a:ext cx="59436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2" name="shape-11"/>
          <p:cNvSpPr/>
          <p:nvPr/>
        </p:nvSpPr>
        <p:spPr>
          <a:xfrm rot="-228000">
            <a:off x="2943551" y="3854514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3" name="text-12"/>
          <p:cNvSpPr txBox="1"/>
          <p:nvPr/>
        </p:nvSpPr>
        <p:spPr>
          <a:xfrm rot="-48000">
            <a:off x="641117" y="4108496"/>
            <a:ext cx="589635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ӨМІРДЕ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 rot="-48000">
            <a:off x="822269" y="4316832"/>
            <a:ext cx="57078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1853 жылы Омбы кадет корпусын бітірген.</a:t>
            </a:r>
            <a:endParaRPr lang="en-US" sz="1200" dirty="0"/>
          </a:p>
        </p:txBody>
      </p:sp>
      <p:sp>
        <p:nvSpPr>
          <p:cNvPr id="15" name="text-14"/>
          <p:cNvSpPr txBox="1"/>
          <p:nvPr/>
        </p:nvSpPr>
        <p:spPr>
          <a:xfrm rot="-48000">
            <a:off x="828941" y="4588248"/>
            <a:ext cx="5707888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1858–1859 жылдары көпес кейпінде Қашғарға барып, Шығыс Түркістан туралы материал жинаған. «Манас» жырының бір бөлігін алғаш жазып алған.</a:t>
            </a:r>
            <a:endParaRPr lang="en-US" sz="1200" dirty="0"/>
          </a:p>
        </p:txBody>
      </p:sp>
      <p:sp>
        <p:nvSpPr>
          <p:cNvPr id="16" name="shape-15"/>
          <p:cNvSpPr/>
          <p:nvPr/>
        </p:nvSpPr>
        <p:spPr>
          <a:xfrm rot="48000">
            <a:off x="457200" y="5439569"/>
            <a:ext cx="5943600" cy="850900"/>
          </a:xfrm>
          <a:prstGeom prst="roundRect">
            <a:avLst>
              <a:gd name="adj" fmla="val 19403"/>
            </a:avLst>
          </a:prstGeom>
          <a:solidFill>
            <a:srgbClr val="FAF8F3"/>
          </a:solidFill>
          <a:ln w="12700">
            <a:solidFill>
              <a:srgbClr val="1B6676"/>
            </a:solidFill>
            <a:prstDash val="solid"/>
          </a:ln>
        </p:spPr>
      </p:sp>
      <p:sp>
        <p:nvSpPr>
          <p:cNvPr id="17" name="text-16"/>
          <p:cNvSpPr txBox="1"/>
          <p:nvPr/>
        </p:nvSpPr>
        <p:spPr>
          <a:xfrm rot="48000">
            <a:off x="663559" y="5565797"/>
            <a:ext cx="586943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1B667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ҚЫЗЫҚ ДЕРЕК</a:t>
            </a:r>
            <a:endParaRPr lang="en-US" sz="900" dirty="0"/>
          </a:p>
        </p:txBody>
      </p:sp>
      <p:sp>
        <p:nvSpPr>
          <p:cNvPr id="18" name="text-17"/>
          <p:cNvSpPr txBox="1"/>
          <p:nvPr/>
        </p:nvSpPr>
        <p:spPr>
          <a:xfrm rot="48000">
            <a:off x="659114" y="5750710"/>
            <a:ext cx="5869432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20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Шын аты Мұхаммед-Қанафия, Шоқан бала кездегі есімі. Достоевскиймен дос болған, жазушы оны «бауырым» деп атаған.</a:t>
            </a:r>
            <a:endParaRPr lang="en-US" sz="1200" dirty="0"/>
          </a:p>
        </p:txBody>
      </p:sp>
      <p:sp>
        <p:nvSpPr>
          <p:cNvPr id="19" name="shape-18"/>
          <p:cNvSpPr/>
          <p:nvPr/>
        </p:nvSpPr>
        <p:spPr>
          <a:xfrm rot="-36000">
            <a:off x="457200" y="6391672"/>
            <a:ext cx="5943600" cy="596900"/>
          </a:xfrm>
          <a:prstGeom prst="roundRect">
            <a:avLst>
              <a:gd name="adj" fmla="val 27660"/>
            </a:avLst>
          </a:prstGeom>
          <a:solidFill>
            <a:srgbClr val="0A0A0A"/>
          </a:solidFill>
          <a:ln/>
        </p:spPr>
      </p:sp>
      <p:sp>
        <p:nvSpPr>
          <p:cNvPr id="20" name="text-19"/>
          <p:cNvSpPr txBox="1"/>
          <p:nvPr/>
        </p:nvSpPr>
        <p:spPr>
          <a:xfrm rot="-36000">
            <a:off x="646416" y="6494469"/>
            <a:ext cx="589635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ОҢАЙ БОЛМАҒАН</a:t>
            </a:r>
            <a:endParaRPr lang="en-US" sz="900" dirty="0"/>
          </a:p>
        </p:txBody>
      </p:sp>
      <p:sp>
        <p:nvSpPr>
          <p:cNvPr id="21" name="text-20"/>
          <p:cNvSpPr txBox="1"/>
          <p:nvPr/>
        </p:nvSpPr>
        <p:spPr>
          <a:xfrm rot="-36000">
            <a:off x="648664" y="6677417"/>
            <a:ext cx="589635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20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«Аққан жұлдызымыз» 1865 жылы, 30 жасқа толмай қайтыс болған.</a:t>
            </a:r>
            <a:endParaRPr lang="en-US" sz="1200" dirty="0"/>
          </a:p>
        </p:txBody>
      </p:sp>
      <p:sp>
        <p:nvSpPr>
          <p:cNvPr id="22" name="text-2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3" name="shape-22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4" name="text-23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6" name="shape-25"/>
          <p:cNvSpPr/>
          <p:nvPr/>
        </p:nvSpPr>
        <p:spPr>
          <a:xfrm rot="240000">
            <a:off x="4660900" y="950913"/>
            <a:ext cx="1714500" cy="2349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7" name="shape-26"/>
          <p:cNvSpPr/>
          <p:nvPr/>
        </p:nvSpPr>
        <p:spPr>
          <a:xfrm rot="60000">
            <a:off x="5121964" y="840996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8" name="img-2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4745516" y="1027406"/>
            <a:ext cx="1562100" cy="1955800"/>
          </a:xfrm>
          <a:prstGeom prst="rect">
            <a:avLst/>
          </a:prstGeom>
        </p:spPr>
      </p:pic>
      <p:sp>
        <p:nvSpPr>
          <p:cNvPr id="29" name="text-28"/>
          <p:cNvSpPr txBox="1"/>
          <p:nvPr/>
        </p:nvSpPr>
        <p:spPr>
          <a:xfrm rot="240000">
            <a:off x="4557177" y="30043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1835–1865</a:t>
            </a:r>
            <a:endParaRPr lang="en-US" sz="1300" dirty="0"/>
          </a:p>
        </p:txBody>
      </p:sp>
      <p:sp>
        <p:nvSpPr>
          <p:cNvPr id="30" name="text-29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2026 жылы оның портфолиосы қандай болар еді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6605" y="406400"/>
            <a:ext cx="19621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1B6676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6805" y="482600"/>
            <a:ext cx="159524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1B667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· УӘЛИХАНОВ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13</a:t>
            </a:r>
            <a:endParaRPr lang="en-US" sz="1000" dirty="0"/>
          </a:p>
        </p:txBody>
      </p:sp>
      <p:sp>
        <p:nvSpPr>
          <p:cNvPr id="6" name="shape-5"/>
          <p:cNvSpPr/>
          <p:nvPr/>
        </p:nvSpPr>
        <p:spPr>
          <a:xfrm>
            <a:off x="0" y="0"/>
            <a:ext cx="6858000" cy="88900"/>
          </a:xfrm>
          <a:prstGeom prst="rect">
            <a:avLst/>
          </a:prstGeom>
          <a:solidFill>
            <a:srgbClr val="1B6676"/>
          </a:solidFill>
          <a:ln/>
        </p:spPr>
      </p:sp>
      <p:sp>
        <p:nvSpPr>
          <p:cNvPr id="7" name="text-6"/>
          <p:cNvSpPr txBox="1"/>
          <p:nvPr/>
        </p:nvSpPr>
        <p:spPr>
          <a:xfrm>
            <a:off x="457200" y="951458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Уәлиханов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1B6676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2026</a:t>
            </a:r>
            <a:endParaRPr lang="en-US" sz="4200" dirty="0"/>
          </a:p>
        </p:txBody>
      </p:sp>
      <p:sp>
        <p:nvSpPr>
          <p:cNvPr id="8" name="shape-7"/>
          <p:cNvSpPr/>
          <p:nvPr/>
        </p:nvSpPr>
        <p:spPr>
          <a:xfrm rot="-90000">
            <a:off x="458143" y="1968500"/>
            <a:ext cx="2311400" cy="1117600"/>
          </a:xfrm>
          <a:prstGeom prst="roundRect">
            <a:avLst>
              <a:gd name="adj" fmla="val 13636"/>
            </a:avLst>
          </a:prstGeom>
          <a:solidFill>
            <a:srgbClr val="1B6676"/>
          </a:solidFill>
          <a:ln/>
        </p:spPr>
      </p:sp>
      <p:sp>
        <p:nvSpPr>
          <p:cNvPr id="9" name="text-8"/>
          <p:cNvSpPr txBox="1"/>
          <p:nvPr/>
        </p:nvSpPr>
        <p:spPr>
          <a:xfrm rot="-90000">
            <a:off x="588783" y="2108319"/>
            <a:ext cx="215392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</a:t>
            </a:r>
            <a:endParaRPr lang="en-US" sz="900" dirty="0"/>
          </a:p>
        </p:txBody>
      </p:sp>
      <p:sp>
        <p:nvSpPr>
          <p:cNvPr id="10" name="text-9"/>
          <p:cNvSpPr txBox="1"/>
          <p:nvPr/>
        </p:nvSpPr>
        <p:spPr>
          <a:xfrm rot="-90000">
            <a:off x="598009" y="2292348"/>
            <a:ext cx="2153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1480</a:t>
            </a:r>
            <a:endParaRPr lang="en-US" sz="3800" dirty="0"/>
          </a:p>
        </p:txBody>
      </p:sp>
      <p:sp>
        <p:nvSpPr>
          <p:cNvPr id="11" name="text-10"/>
          <p:cNvSpPr txBox="1"/>
          <p:nvPr/>
        </p:nvSpPr>
        <p:spPr>
          <a:xfrm rot="-90000">
            <a:off x="607234" y="2812927"/>
            <a:ext cx="215392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5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RW 770 · Math 710</a:t>
            </a:r>
            <a:endParaRPr lang="en-US" sz="900" dirty="0"/>
          </a:p>
        </p:txBody>
      </p:sp>
      <p:sp>
        <p:nvSpPr>
          <p:cNvPr id="12" name="shape-11"/>
          <p:cNvSpPr/>
          <p:nvPr/>
        </p:nvSpPr>
        <p:spPr>
          <a:xfrm rot="60000">
            <a:off x="2871589" y="1968500"/>
            <a:ext cx="1714500" cy="1117600"/>
          </a:xfrm>
          <a:prstGeom prst="roundRect">
            <a:avLst>
              <a:gd name="adj" fmla="val 13636"/>
            </a:avLst>
          </a:prstGeom>
          <a:solidFill>
            <a:srgbClr val="1B6676"/>
          </a:solidFill>
          <a:ln/>
        </p:spPr>
      </p:sp>
      <p:sp>
        <p:nvSpPr>
          <p:cNvPr id="13" name="text-12"/>
          <p:cNvSpPr txBox="1"/>
          <p:nvPr/>
        </p:nvSpPr>
        <p:spPr>
          <a:xfrm rot="60000">
            <a:off x="3017329" y="2108253"/>
            <a:ext cx="152120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IELTS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 rot="60000">
            <a:off x="3011178" y="2292349"/>
            <a:ext cx="1521206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8.5</a:t>
            </a:r>
            <a:endParaRPr lang="en-US" sz="3800" dirty="0"/>
          </a:p>
        </p:txBody>
      </p:sp>
      <p:sp>
        <p:nvSpPr>
          <p:cNvPr id="15" name="text-14"/>
          <p:cNvSpPr txBox="1"/>
          <p:nvPr/>
        </p:nvSpPr>
        <p:spPr>
          <a:xfrm rot="60000">
            <a:off x="3005028" y="2812995"/>
            <a:ext cx="152120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5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Academic</a:t>
            </a:r>
            <a:endParaRPr lang="en-US" sz="900" dirty="0"/>
          </a:p>
        </p:txBody>
      </p:sp>
      <p:sp>
        <p:nvSpPr>
          <p:cNvPr id="16" name="shape-15"/>
          <p:cNvSpPr/>
          <p:nvPr/>
        </p:nvSpPr>
        <p:spPr>
          <a:xfrm rot="-36000">
            <a:off x="4686746" y="1968500"/>
            <a:ext cx="1714500" cy="1117600"/>
          </a:xfrm>
          <a:prstGeom prst="roundRect">
            <a:avLst>
              <a:gd name="adj" fmla="val 13636"/>
            </a:avLst>
          </a:prstGeom>
          <a:solidFill>
            <a:srgbClr val="1B6676"/>
          </a:solidFill>
          <a:ln/>
        </p:spPr>
      </p:sp>
      <p:sp>
        <p:nvSpPr>
          <p:cNvPr id="17" name="text-16"/>
          <p:cNvSpPr txBox="1"/>
          <p:nvPr/>
        </p:nvSpPr>
        <p:spPr>
          <a:xfrm rot="-36000">
            <a:off x="4822822" y="2108219"/>
            <a:ext cx="152120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GPA</a:t>
            </a:r>
            <a:endParaRPr lang="en-US" sz="900" dirty="0"/>
          </a:p>
        </p:txBody>
      </p:sp>
      <p:sp>
        <p:nvSpPr>
          <p:cNvPr id="18" name="text-17"/>
          <p:cNvSpPr txBox="1"/>
          <p:nvPr/>
        </p:nvSpPr>
        <p:spPr>
          <a:xfrm rot="-36000">
            <a:off x="4826513" y="2292350"/>
            <a:ext cx="1521206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4.9</a:t>
            </a:r>
            <a:endParaRPr lang="en-US" sz="3800" dirty="0"/>
          </a:p>
        </p:txBody>
      </p:sp>
      <p:sp>
        <p:nvSpPr>
          <p:cNvPr id="19" name="text-18"/>
          <p:cNvSpPr txBox="1"/>
          <p:nvPr/>
        </p:nvSpPr>
        <p:spPr>
          <a:xfrm rot="-36000">
            <a:off x="4830203" y="2813030"/>
            <a:ext cx="152120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5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 баллдық жүйе</a:t>
            </a:r>
            <a:endParaRPr lang="en-US" sz="900" dirty="0"/>
          </a:p>
        </p:txBody>
      </p:sp>
      <p:sp>
        <p:nvSpPr>
          <p:cNvPr id="20" name="shape-19"/>
          <p:cNvSpPr/>
          <p:nvPr/>
        </p:nvSpPr>
        <p:spPr>
          <a:xfrm rot="-60000">
            <a:off x="456208" y="3302000"/>
            <a:ext cx="4908550" cy="41910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1B6676"/>
            </a:solidFill>
            <a:prstDash val="solid"/>
          </a:ln>
        </p:spPr>
      </p:sp>
      <p:sp>
        <p:nvSpPr>
          <p:cNvPr id="21" name="text-20"/>
          <p:cNvSpPr txBox="1"/>
          <p:nvPr/>
        </p:nvSpPr>
        <p:spPr>
          <a:xfrm rot="-60000">
            <a:off x="622135" y="3489025"/>
            <a:ext cx="64617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1B667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МЕКТЕБІ</a:t>
            </a:r>
            <a:endParaRPr lang="en-US" sz="900" dirty="0"/>
          </a:p>
        </p:txBody>
      </p:sp>
      <p:sp>
        <p:nvSpPr>
          <p:cNvPr id="22" name="text-21"/>
          <p:cNvSpPr txBox="1"/>
          <p:nvPr/>
        </p:nvSpPr>
        <p:spPr>
          <a:xfrm rot="-60000">
            <a:off x="1344409" y="3397296"/>
            <a:ext cx="4085717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Қостанайдағы Назарбаев Зияткерлік мектебі</a:t>
            </a:r>
            <a:endParaRPr lang="en-US" sz="1300" dirty="0"/>
          </a:p>
        </p:txBody>
      </p:sp>
      <p:sp>
        <p:nvSpPr>
          <p:cNvPr id="23" name="text-22"/>
          <p:cNvSpPr txBox="1"/>
          <p:nvPr/>
        </p:nvSpPr>
        <p:spPr>
          <a:xfrm rot="-60000">
            <a:off x="457200" y="3936305"/>
            <a:ext cx="6300216" cy="488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Тілдерге өте бейім. Жаратылыстанудан гөрі тарих пен саяхатты жақсы көрер еді.</a:t>
            </a:r>
            <a:endParaRPr lang="en-US" sz="1600" dirty="0"/>
          </a:p>
        </p:txBody>
      </p:sp>
      <p:sp>
        <p:nvSpPr>
          <p:cNvPr id="24" name="shape-23"/>
          <p:cNvSpPr/>
          <p:nvPr/>
        </p:nvSpPr>
        <p:spPr>
          <a:xfrm rot="48000">
            <a:off x="457200" y="4762798"/>
            <a:ext cx="5943600" cy="2095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5" name="shape-24"/>
          <p:cNvSpPr/>
          <p:nvPr/>
        </p:nvSpPr>
        <p:spPr>
          <a:xfrm rot="-432000">
            <a:off x="5715622" y="4607559"/>
            <a:ext cx="533400" cy="533400"/>
          </a:xfrm>
          <a:prstGeom prst="ellipse">
            <a:avLst/>
          </a:prstGeom>
          <a:solidFill>
            <a:srgbClr val="FAF8F3"/>
          </a:solidFill>
          <a:ln w="12700">
            <a:solidFill>
              <a:srgbClr val="1B6676"/>
            </a:solidFill>
            <a:prstDash val="solid"/>
          </a:ln>
        </p:spPr>
      </p:sp>
      <p:pic>
        <p:nvPicPr>
          <p:cNvPr id="26" name="svg-2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432000">
            <a:off x="5836271" y="4728209"/>
            <a:ext cx="292100" cy="292100"/>
          </a:xfrm>
          <a:prstGeom prst="rect">
            <a:avLst/>
          </a:prstGeom>
        </p:spPr>
      </p:pic>
      <p:sp>
        <p:nvSpPr>
          <p:cNvPr id="27" name="text-26"/>
          <p:cNvSpPr txBox="1"/>
          <p:nvPr/>
        </p:nvSpPr>
        <p:spPr>
          <a:xfrm rot="48000">
            <a:off x="659186" y="4914980"/>
            <a:ext cx="589635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ПОРТФОЛИО · 17 ЖАС</a:t>
            </a:r>
            <a:endParaRPr lang="en-US" sz="900" dirty="0"/>
          </a:p>
        </p:txBody>
      </p:sp>
      <p:pic>
        <p:nvPicPr>
          <p:cNvPr id="28" name="svg-2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">
            <a:off x="656123" y="5093354"/>
            <a:ext cx="190500" cy="190500"/>
          </a:xfrm>
          <a:prstGeom prst="rect">
            <a:avLst/>
          </a:prstGeom>
        </p:spPr>
      </p:pic>
      <p:sp>
        <p:nvSpPr>
          <p:cNvPr id="29" name="text-28"/>
          <p:cNvSpPr txBox="1"/>
          <p:nvPr/>
        </p:nvSpPr>
        <p:spPr>
          <a:xfrm rot="48000">
            <a:off x="911384" y="5118720"/>
            <a:ext cx="447611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Халықаралық лингвистика олимпиадасы (IOL) жеңімпазы.</a:t>
            </a:r>
            <a:endParaRPr lang="en-US" sz="1200" dirty="0"/>
          </a:p>
        </p:txBody>
      </p:sp>
      <p:sp>
        <p:nvSpPr>
          <p:cNvPr id="30" name="text-29"/>
          <p:cNvSpPr txBox="1"/>
          <p:nvPr/>
        </p:nvSpPr>
        <p:spPr>
          <a:xfrm rot="48000">
            <a:off x="828668" y="5380456"/>
            <a:ext cx="5707888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Қазақ және қырғыз ауыз әдебиеті туралы подкасты бар, 200 000 тыңдаушысы бар танымал блогер.</a:t>
            </a:r>
            <a:endParaRPr lang="en-US" sz="1200" dirty="0"/>
          </a:p>
        </p:txBody>
      </p:sp>
      <p:sp>
        <p:nvSpPr>
          <p:cNvPr id="31" name="text-30"/>
          <p:cNvSpPr txBox="1"/>
          <p:nvPr/>
        </p:nvSpPr>
        <p:spPr>
          <a:xfrm rot="48000">
            <a:off x="820832" y="5840082"/>
            <a:ext cx="570788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Арғы атасы Абылай ханның өмірбаянын жатқа біледі, ол туралы ағылшынша зерттеу жазып, журналдарға жіберген. PhD дәрежесін 22 жасында алуды мақсат етеді.</a:t>
            </a:r>
            <a:endParaRPr lang="en-US" sz="1200" dirty="0"/>
          </a:p>
        </p:txBody>
      </p:sp>
      <p:sp>
        <p:nvSpPr>
          <p:cNvPr id="32" name="text-31"/>
          <p:cNvSpPr txBox="1"/>
          <p:nvPr/>
        </p:nvSpPr>
        <p:spPr>
          <a:xfrm rot="48000">
            <a:off x="814420" y="6502422"/>
            <a:ext cx="570788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2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Оқитын мамандығы: антропология немесе Орталық Азияны зерттеу.</a:t>
            </a:r>
            <a:endParaRPr lang="en-US" sz="1200" dirty="0"/>
          </a:p>
        </p:txBody>
      </p:sp>
      <p:sp>
        <p:nvSpPr>
          <p:cNvPr id="33" name="text-32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34" name="shape-33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35" name="text-34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36" name="svg-3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37" name="text-36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үшіншісі химия мен әдебиетті қатар алып жүрген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200" y="406400"/>
            <a:ext cx="28067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B2E91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7400" y="482600"/>
            <a:ext cx="24904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5B2E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1925 · ХИМИЯ, МЕТАЛЛУРГИЯ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13</a:t>
            </a:r>
            <a:endParaRPr lang="en-US" sz="1000" dirty="0"/>
          </a:p>
        </p:txBody>
      </p:sp>
      <p:sp>
        <p:nvSpPr>
          <p:cNvPr id="6" name="shape-5"/>
          <p:cNvSpPr/>
          <p:nvPr/>
        </p:nvSpPr>
        <p:spPr>
          <a:xfrm>
            <a:off x="0" y="0"/>
            <a:ext cx="6858000" cy="88900"/>
          </a:xfrm>
          <a:prstGeom prst="rect">
            <a:avLst/>
          </a:prstGeom>
          <a:solidFill>
            <a:srgbClr val="5B2E91"/>
          </a:solidFill>
          <a:ln/>
        </p:spPr>
      </p:sp>
      <p:sp>
        <p:nvSpPr>
          <p:cNvPr id="7" name="text-6"/>
          <p:cNvSpPr txBox="1"/>
          <p:nvPr/>
        </p:nvSpPr>
        <p:spPr>
          <a:xfrm>
            <a:off x="457200" y="953591"/>
            <a:ext cx="4092448" cy="1212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Евней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5B2E91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Бөкетов</a:t>
            </a:r>
            <a:endParaRPr lang="en-US" sz="4200" dirty="0"/>
          </a:p>
        </p:txBody>
      </p:sp>
      <p:sp>
        <p:nvSpPr>
          <p:cNvPr id="8" name="text-7"/>
          <p:cNvSpPr txBox="1"/>
          <p:nvPr/>
        </p:nvSpPr>
        <p:spPr>
          <a:xfrm>
            <a:off x="457200" y="2281833"/>
            <a:ext cx="37693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B2E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ТУҒАН ЖЕРІ</a:t>
            </a:r>
            <a:endParaRPr lang="en-US" sz="900" dirty="0"/>
          </a:p>
        </p:txBody>
      </p:sp>
      <p:sp>
        <p:nvSpPr>
          <p:cNvPr id="9" name="text-8"/>
          <p:cNvSpPr txBox="1"/>
          <p:nvPr/>
        </p:nvSpPr>
        <p:spPr>
          <a:xfrm>
            <a:off x="457200" y="2464693"/>
            <a:ext cx="376936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1925 · Солтүстік Қазақстан, Бағанаты ауылы</a:t>
            </a:r>
            <a:endParaRPr lang="en-US" sz="1300" dirty="0"/>
          </a:p>
        </p:txBody>
      </p:sp>
      <p:sp>
        <p:nvSpPr>
          <p:cNvPr id="10" name="text-9"/>
          <p:cNvSpPr txBox="1"/>
          <p:nvPr/>
        </p:nvSpPr>
        <p:spPr>
          <a:xfrm>
            <a:off x="457200" y="2934692"/>
            <a:ext cx="376936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Қарапайым отбасында туған. 1920 жылдардың соңында отбасы ауылмен бірге туған жерінен көшіп кетіп, 1938 жылы ғана оралған. Оқуын аудан орталығы Марьевкада жалғастырған.</a:t>
            </a:r>
            <a:endParaRPr lang="en-US" sz="1200" dirty="0"/>
          </a:p>
        </p:txBody>
      </p:sp>
      <p:sp>
        <p:nvSpPr>
          <p:cNvPr id="11" name="shape-10"/>
          <p:cNvSpPr/>
          <p:nvPr/>
        </p:nvSpPr>
        <p:spPr>
          <a:xfrm rot="-48000">
            <a:off x="457200" y="3967162"/>
            <a:ext cx="59436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2" name="shape-11"/>
          <p:cNvSpPr/>
          <p:nvPr/>
        </p:nvSpPr>
        <p:spPr>
          <a:xfrm rot="-228000">
            <a:off x="2943551" y="3854514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3" name="text-12"/>
          <p:cNvSpPr txBox="1"/>
          <p:nvPr/>
        </p:nvSpPr>
        <p:spPr>
          <a:xfrm rot="-48000">
            <a:off x="641117" y="4108496"/>
            <a:ext cx="589635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ӨМІРДЕ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 rot="-48000">
            <a:off x="823716" y="4318806"/>
            <a:ext cx="5707888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Химик-металлург, академик, КСРО Мемлекеттік сыйлығының лауреаты (1969).</a:t>
            </a:r>
            <a:endParaRPr lang="en-US" sz="1200" dirty="0"/>
          </a:p>
        </p:txBody>
      </p:sp>
      <p:sp>
        <p:nvSpPr>
          <p:cNvPr id="15" name="text-14"/>
          <p:cNvSpPr txBox="1"/>
          <p:nvPr/>
        </p:nvSpPr>
        <p:spPr>
          <a:xfrm rot="-48000">
            <a:off x="830387" y="4796597"/>
            <a:ext cx="5707888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Қарағанды мемлекеттік университетінің тұңғыш ректоры, Сәтбаевтың шәкірті.</a:t>
            </a:r>
            <a:endParaRPr lang="en-US" sz="1200" dirty="0"/>
          </a:p>
        </p:txBody>
      </p:sp>
      <p:sp>
        <p:nvSpPr>
          <p:cNvPr id="16" name="shape-15"/>
          <p:cNvSpPr/>
          <p:nvPr/>
        </p:nvSpPr>
        <p:spPr>
          <a:xfrm rot="48000">
            <a:off x="457200" y="5439569"/>
            <a:ext cx="5943600" cy="850900"/>
          </a:xfrm>
          <a:prstGeom prst="roundRect">
            <a:avLst>
              <a:gd name="adj" fmla="val 19403"/>
            </a:avLst>
          </a:prstGeom>
          <a:solidFill>
            <a:srgbClr val="FAF8F3"/>
          </a:solidFill>
          <a:ln w="12700">
            <a:solidFill>
              <a:srgbClr val="5B2E91"/>
            </a:solidFill>
            <a:prstDash val="solid"/>
          </a:ln>
        </p:spPr>
      </p:sp>
      <p:sp>
        <p:nvSpPr>
          <p:cNvPr id="17" name="text-16"/>
          <p:cNvSpPr txBox="1"/>
          <p:nvPr/>
        </p:nvSpPr>
        <p:spPr>
          <a:xfrm rot="48000">
            <a:off x="663559" y="5565797"/>
            <a:ext cx="586943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B2E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ҚЫЗЫҚ ДЕРЕК</a:t>
            </a:r>
            <a:endParaRPr lang="en-US" sz="900" dirty="0"/>
          </a:p>
        </p:txBody>
      </p:sp>
      <p:sp>
        <p:nvSpPr>
          <p:cNvPr id="18" name="text-17"/>
          <p:cNvSpPr txBox="1"/>
          <p:nvPr/>
        </p:nvSpPr>
        <p:spPr>
          <a:xfrm rot="48000">
            <a:off x="659114" y="5750710"/>
            <a:ext cx="5869432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20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Мектепте 7–8-сыныпта Пушкиннің «Тас қонақ» трагедиясын сахнаға қойып, Дон Гуанды өзі ойнаған. Кейін әлем әдебиетін қазақ тіліне аударған.</a:t>
            </a:r>
            <a:endParaRPr lang="en-US" sz="1200" dirty="0"/>
          </a:p>
        </p:txBody>
      </p:sp>
      <p:sp>
        <p:nvSpPr>
          <p:cNvPr id="19" name="shape-18"/>
          <p:cNvSpPr/>
          <p:nvPr/>
        </p:nvSpPr>
        <p:spPr>
          <a:xfrm rot="-36000">
            <a:off x="457200" y="6391672"/>
            <a:ext cx="5943600" cy="596900"/>
          </a:xfrm>
          <a:prstGeom prst="roundRect">
            <a:avLst>
              <a:gd name="adj" fmla="val 27660"/>
            </a:avLst>
          </a:prstGeom>
          <a:solidFill>
            <a:srgbClr val="0A0A0A"/>
          </a:solidFill>
          <a:ln/>
        </p:spPr>
      </p:sp>
      <p:sp>
        <p:nvSpPr>
          <p:cNvPr id="20" name="text-19"/>
          <p:cNvSpPr txBox="1"/>
          <p:nvPr/>
        </p:nvSpPr>
        <p:spPr>
          <a:xfrm rot="-36000">
            <a:off x="646416" y="6494469"/>
            <a:ext cx="589635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БАСҚАША ЖОЛ</a:t>
            </a:r>
            <a:endParaRPr lang="en-US" sz="900" dirty="0"/>
          </a:p>
        </p:txBody>
      </p:sp>
      <p:sp>
        <p:nvSpPr>
          <p:cNvPr id="21" name="text-20"/>
          <p:cNvSpPr txBox="1"/>
          <p:nvPr/>
        </p:nvSpPr>
        <p:spPr>
          <a:xfrm rot="-36000">
            <a:off x="648664" y="6677417"/>
            <a:ext cx="589635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20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Аттестатты мектепті жай бітіріп емес, экстернмен емтихан тапсырып алған.</a:t>
            </a:r>
            <a:endParaRPr lang="en-US" sz="1200" dirty="0"/>
          </a:p>
        </p:txBody>
      </p:sp>
      <p:sp>
        <p:nvSpPr>
          <p:cNvPr id="22" name="text-2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3" name="shape-22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4" name="text-23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6" name="shape-25"/>
          <p:cNvSpPr/>
          <p:nvPr/>
        </p:nvSpPr>
        <p:spPr>
          <a:xfrm rot="240000">
            <a:off x="4660900" y="950913"/>
            <a:ext cx="1714500" cy="2349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7" name="shape-26"/>
          <p:cNvSpPr/>
          <p:nvPr/>
        </p:nvSpPr>
        <p:spPr>
          <a:xfrm rot="60000">
            <a:off x="5121964" y="840996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8" name="img-2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4745516" y="1027406"/>
            <a:ext cx="1562100" cy="1955800"/>
          </a:xfrm>
          <a:prstGeom prst="rect">
            <a:avLst/>
          </a:prstGeom>
        </p:spPr>
      </p:pic>
      <p:sp>
        <p:nvSpPr>
          <p:cNvPr id="29" name="text-28"/>
          <p:cNvSpPr txBox="1"/>
          <p:nvPr/>
        </p:nvSpPr>
        <p:spPr>
          <a:xfrm rot="240000">
            <a:off x="4557177" y="30043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1925–1983</a:t>
            </a:r>
            <a:endParaRPr lang="en-US" sz="1300" dirty="0"/>
          </a:p>
        </p:txBody>
      </p:sp>
      <p:sp>
        <p:nvSpPr>
          <p:cNvPr id="30" name="text-29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2026 жылы оның портфолиосы қандай болар еді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845" y="406400"/>
            <a:ext cx="17716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B2E91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045" y="482600"/>
            <a:ext cx="13933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5B2E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· БӨКЕТОВ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13</a:t>
            </a:r>
            <a:endParaRPr lang="en-US" sz="1000" dirty="0"/>
          </a:p>
        </p:txBody>
      </p:sp>
      <p:sp>
        <p:nvSpPr>
          <p:cNvPr id="6" name="shape-5"/>
          <p:cNvSpPr/>
          <p:nvPr/>
        </p:nvSpPr>
        <p:spPr>
          <a:xfrm>
            <a:off x="0" y="0"/>
            <a:ext cx="6858000" cy="88900"/>
          </a:xfrm>
          <a:prstGeom prst="rect">
            <a:avLst/>
          </a:prstGeom>
          <a:solidFill>
            <a:srgbClr val="5B2E91"/>
          </a:solidFill>
          <a:ln/>
        </p:spPr>
      </p:sp>
      <p:sp>
        <p:nvSpPr>
          <p:cNvPr id="7" name="text-6"/>
          <p:cNvSpPr txBox="1"/>
          <p:nvPr/>
        </p:nvSpPr>
        <p:spPr>
          <a:xfrm>
            <a:off x="457200" y="951458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Бөкетов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5B2E91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2026</a:t>
            </a:r>
            <a:endParaRPr lang="en-US" sz="4200" dirty="0"/>
          </a:p>
        </p:txBody>
      </p:sp>
      <p:sp>
        <p:nvSpPr>
          <p:cNvPr id="8" name="shape-7"/>
          <p:cNvSpPr/>
          <p:nvPr/>
        </p:nvSpPr>
        <p:spPr>
          <a:xfrm rot="-90000">
            <a:off x="458143" y="1968500"/>
            <a:ext cx="2311400" cy="1117600"/>
          </a:xfrm>
          <a:prstGeom prst="roundRect">
            <a:avLst>
              <a:gd name="adj" fmla="val 13636"/>
            </a:avLst>
          </a:prstGeom>
          <a:solidFill>
            <a:srgbClr val="5B2E91"/>
          </a:solidFill>
          <a:ln/>
        </p:spPr>
      </p:sp>
      <p:sp>
        <p:nvSpPr>
          <p:cNvPr id="9" name="text-8"/>
          <p:cNvSpPr txBox="1"/>
          <p:nvPr/>
        </p:nvSpPr>
        <p:spPr>
          <a:xfrm rot="-90000">
            <a:off x="588783" y="2108319"/>
            <a:ext cx="215392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</a:t>
            </a:r>
            <a:endParaRPr lang="en-US" sz="900" dirty="0"/>
          </a:p>
        </p:txBody>
      </p:sp>
      <p:sp>
        <p:nvSpPr>
          <p:cNvPr id="10" name="text-9"/>
          <p:cNvSpPr txBox="1"/>
          <p:nvPr/>
        </p:nvSpPr>
        <p:spPr>
          <a:xfrm rot="-90000">
            <a:off x="598009" y="2292348"/>
            <a:ext cx="2153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1570</a:t>
            </a:r>
            <a:endParaRPr lang="en-US" sz="3800" dirty="0"/>
          </a:p>
        </p:txBody>
      </p:sp>
      <p:sp>
        <p:nvSpPr>
          <p:cNvPr id="11" name="text-10"/>
          <p:cNvSpPr txBox="1"/>
          <p:nvPr/>
        </p:nvSpPr>
        <p:spPr>
          <a:xfrm rot="-90000">
            <a:off x="607234" y="2812927"/>
            <a:ext cx="215392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5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Math 800 · RW 770</a:t>
            </a:r>
            <a:endParaRPr lang="en-US" sz="900" dirty="0"/>
          </a:p>
        </p:txBody>
      </p:sp>
      <p:sp>
        <p:nvSpPr>
          <p:cNvPr id="12" name="shape-11"/>
          <p:cNvSpPr/>
          <p:nvPr/>
        </p:nvSpPr>
        <p:spPr>
          <a:xfrm rot="60000">
            <a:off x="2871589" y="1968500"/>
            <a:ext cx="1714500" cy="1117600"/>
          </a:xfrm>
          <a:prstGeom prst="roundRect">
            <a:avLst>
              <a:gd name="adj" fmla="val 13636"/>
            </a:avLst>
          </a:prstGeom>
          <a:solidFill>
            <a:srgbClr val="5B2E91"/>
          </a:solidFill>
          <a:ln/>
        </p:spPr>
      </p:sp>
      <p:sp>
        <p:nvSpPr>
          <p:cNvPr id="13" name="text-12"/>
          <p:cNvSpPr txBox="1"/>
          <p:nvPr/>
        </p:nvSpPr>
        <p:spPr>
          <a:xfrm rot="60000">
            <a:off x="3017329" y="2108253"/>
            <a:ext cx="152120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IELTS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 rot="60000">
            <a:off x="3011178" y="2292349"/>
            <a:ext cx="1521206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8.0</a:t>
            </a:r>
            <a:endParaRPr lang="en-US" sz="3800" dirty="0"/>
          </a:p>
        </p:txBody>
      </p:sp>
      <p:sp>
        <p:nvSpPr>
          <p:cNvPr id="15" name="text-14"/>
          <p:cNvSpPr txBox="1"/>
          <p:nvPr/>
        </p:nvSpPr>
        <p:spPr>
          <a:xfrm rot="60000">
            <a:off x="3005028" y="2812995"/>
            <a:ext cx="152120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5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Academic</a:t>
            </a:r>
            <a:endParaRPr lang="en-US" sz="900" dirty="0"/>
          </a:p>
        </p:txBody>
      </p:sp>
      <p:sp>
        <p:nvSpPr>
          <p:cNvPr id="16" name="shape-15"/>
          <p:cNvSpPr/>
          <p:nvPr/>
        </p:nvSpPr>
        <p:spPr>
          <a:xfrm rot="-36000">
            <a:off x="4686746" y="1968500"/>
            <a:ext cx="1714500" cy="1117600"/>
          </a:xfrm>
          <a:prstGeom prst="roundRect">
            <a:avLst>
              <a:gd name="adj" fmla="val 13636"/>
            </a:avLst>
          </a:prstGeom>
          <a:solidFill>
            <a:srgbClr val="5B2E91"/>
          </a:solidFill>
          <a:ln/>
        </p:spPr>
      </p:sp>
      <p:sp>
        <p:nvSpPr>
          <p:cNvPr id="17" name="text-16"/>
          <p:cNvSpPr txBox="1"/>
          <p:nvPr/>
        </p:nvSpPr>
        <p:spPr>
          <a:xfrm rot="-36000">
            <a:off x="4822822" y="2108219"/>
            <a:ext cx="152120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GPA</a:t>
            </a:r>
            <a:endParaRPr lang="en-US" sz="900" dirty="0"/>
          </a:p>
        </p:txBody>
      </p:sp>
      <p:sp>
        <p:nvSpPr>
          <p:cNvPr id="18" name="text-17"/>
          <p:cNvSpPr txBox="1"/>
          <p:nvPr/>
        </p:nvSpPr>
        <p:spPr>
          <a:xfrm rot="-36000">
            <a:off x="4826513" y="2292350"/>
            <a:ext cx="1521206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5.0</a:t>
            </a:r>
            <a:endParaRPr lang="en-US" sz="3800" dirty="0"/>
          </a:p>
        </p:txBody>
      </p:sp>
      <p:sp>
        <p:nvSpPr>
          <p:cNvPr id="19" name="text-18"/>
          <p:cNvSpPr txBox="1"/>
          <p:nvPr/>
        </p:nvSpPr>
        <p:spPr>
          <a:xfrm rot="-36000">
            <a:off x="4830203" y="2813030"/>
            <a:ext cx="152120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5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 баллдық жүйе</a:t>
            </a:r>
            <a:endParaRPr lang="en-US" sz="900" dirty="0"/>
          </a:p>
        </p:txBody>
      </p:sp>
      <p:sp>
        <p:nvSpPr>
          <p:cNvPr id="20" name="shape-19"/>
          <p:cNvSpPr/>
          <p:nvPr/>
        </p:nvSpPr>
        <p:spPr>
          <a:xfrm rot="-60000">
            <a:off x="456158" y="3302000"/>
            <a:ext cx="5016500" cy="41910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B2E91"/>
            </a:solidFill>
            <a:prstDash val="solid"/>
          </a:ln>
        </p:spPr>
      </p:sp>
      <p:sp>
        <p:nvSpPr>
          <p:cNvPr id="21" name="text-20"/>
          <p:cNvSpPr txBox="1"/>
          <p:nvPr/>
        </p:nvSpPr>
        <p:spPr>
          <a:xfrm rot="-60000">
            <a:off x="622143" y="3489966"/>
            <a:ext cx="64617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B2E9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МЕКТЕБІ</a:t>
            </a:r>
            <a:endParaRPr lang="en-US" sz="900" dirty="0"/>
          </a:p>
        </p:txBody>
      </p:sp>
      <p:sp>
        <p:nvSpPr>
          <p:cNvPr id="22" name="text-21"/>
          <p:cNvSpPr txBox="1"/>
          <p:nvPr/>
        </p:nvSpPr>
        <p:spPr>
          <a:xfrm rot="-60000">
            <a:off x="1344359" y="3397296"/>
            <a:ext cx="4200144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Петропавлдағы Назарбаев Зияткерлік мектебі</a:t>
            </a:r>
            <a:endParaRPr lang="en-US" sz="1300" dirty="0"/>
          </a:p>
        </p:txBody>
      </p:sp>
      <p:sp>
        <p:nvSpPr>
          <p:cNvPr id="23" name="text-22"/>
          <p:cNvSpPr txBox="1"/>
          <p:nvPr/>
        </p:nvSpPr>
        <p:spPr>
          <a:xfrm rot="-60000">
            <a:off x="457200" y="3936305"/>
            <a:ext cx="6300216" cy="488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Химиямен қатар әдебиетті сүйген адамның екі секциясы да мықты болар еді.</a:t>
            </a:r>
            <a:endParaRPr lang="en-US" sz="1600" dirty="0"/>
          </a:p>
        </p:txBody>
      </p:sp>
      <p:sp>
        <p:nvSpPr>
          <p:cNvPr id="24" name="shape-23"/>
          <p:cNvSpPr/>
          <p:nvPr/>
        </p:nvSpPr>
        <p:spPr>
          <a:xfrm rot="48000">
            <a:off x="457200" y="4762798"/>
            <a:ext cx="5943600" cy="2095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5" name="shape-24"/>
          <p:cNvSpPr/>
          <p:nvPr/>
        </p:nvSpPr>
        <p:spPr>
          <a:xfrm rot="-432000">
            <a:off x="5715622" y="4607559"/>
            <a:ext cx="533400" cy="533400"/>
          </a:xfrm>
          <a:prstGeom prst="ellipse">
            <a:avLst/>
          </a:prstGeom>
          <a:solidFill>
            <a:srgbClr val="FAF8F3"/>
          </a:solidFill>
          <a:ln w="12700">
            <a:solidFill>
              <a:srgbClr val="5B2E91"/>
            </a:solidFill>
            <a:prstDash val="solid"/>
          </a:ln>
        </p:spPr>
      </p:sp>
      <p:pic>
        <p:nvPicPr>
          <p:cNvPr id="26" name="svg-2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432000">
            <a:off x="5836271" y="4728209"/>
            <a:ext cx="292100" cy="292100"/>
          </a:xfrm>
          <a:prstGeom prst="rect">
            <a:avLst/>
          </a:prstGeom>
        </p:spPr>
      </p:pic>
      <p:sp>
        <p:nvSpPr>
          <p:cNvPr id="27" name="text-26"/>
          <p:cNvSpPr txBox="1"/>
          <p:nvPr/>
        </p:nvSpPr>
        <p:spPr>
          <a:xfrm rot="48000">
            <a:off x="659186" y="4914980"/>
            <a:ext cx="589635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ПОРТФОЛИО · 18 ЖАС</a:t>
            </a:r>
            <a:endParaRPr lang="en-US" sz="900" dirty="0"/>
          </a:p>
        </p:txBody>
      </p:sp>
      <p:pic>
        <p:nvPicPr>
          <p:cNvPr id="28" name="svg-2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">
            <a:off x="656123" y="5093354"/>
            <a:ext cx="190500" cy="190500"/>
          </a:xfrm>
          <a:prstGeom prst="rect">
            <a:avLst/>
          </a:prstGeom>
        </p:spPr>
      </p:pic>
      <p:sp>
        <p:nvSpPr>
          <p:cNvPr id="29" name="text-28"/>
          <p:cNvSpPr txBox="1"/>
          <p:nvPr/>
        </p:nvSpPr>
        <p:spPr>
          <a:xfrm rot="48000">
            <a:off x="909503" y="5118162"/>
            <a:ext cx="4395343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Халықаралық химия олимпиадасы (IChO): алтын медаль.</a:t>
            </a:r>
            <a:endParaRPr lang="en-US" sz="1200" dirty="0"/>
          </a:p>
        </p:txBody>
      </p:sp>
      <p:sp>
        <p:nvSpPr>
          <p:cNvPr id="30" name="text-29"/>
          <p:cNvSpPr txBox="1"/>
          <p:nvPr/>
        </p:nvSpPr>
        <p:spPr>
          <a:xfrm rot="48000">
            <a:off x="828668" y="5380456"/>
            <a:ext cx="5707888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Химия бойынша зерттеу жобасымен ISEF жеңімпазы, арнайы номинацияның иегері.</a:t>
            </a:r>
            <a:endParaRPr lang="en-US" sz="1200" dirty="0"/>
          </a:p>
        </p:txBody>
      </p:sp>
      <p:sp>
        <p:nvSpPr>
          <p:cNvPr id="31" name="text-30"/>
          <p:cNvSpPr txBox="1"/>
          <p:nvPr/>
        </p:nvSpPr>
        <p:spPr>
          <a:xfrm rot="48000">
            <a:off x="820832" y="5840082"/>
            <a:ext cx="570788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NU зерттеушілерімен бірге жаңа өндіріс тәсілдерін ұсынған. MIT профессорымен үш зерттеу жазып жатыр. RSI және YYGS бағдарламаларының түлегі.</a:t>
            </a:r>
            <a:endParaRPr lang="en-US" sz="1200" dirty="0"/>
          </a:p>
        </p:txBody>
      </p:sp>
      <p:sp>
        <p:nvSpPr>
          <p:cNvPr id="32" name="text-31"/>
          <p:cNvSpPr txBox="1"/>
          <p:nvPr/>
        </p:nvSpPr>
        <p:spPr>
          <a:xfrm rot="48000">
            <a:off x="814420" y="6502422"/>
            <a:ext cx="570788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2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Оқитын мамандығы: химиялық инженерия немесе материалтану.</a:t>
            </a:r>
            <a:endParaRPr lang="en-US" sz="1200" dirty="0"/>
          </a:p>
        </p:txBody>
      </p:sp>
      <p:sp>
        <p:nvSpPr>
          <p:cNvPr id="33" name="text-32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34" name="shape-33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35" name="text-34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36" name="svg-3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37" name="text-36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төртіншісі математиканы ғарышқа шығарған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845" y="406400"/>
            <a:ext cx="27114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2338A0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045" y="482600"/>
            <a:ext cx="23895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2338A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1936 · МАТЕМАТИКА, ҒАРЫШ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13</a:t>
            </a:r>
            <a:endParaRPr lang="en-US" sz="1000" dirty="0"/>
          </a:p>
        </p:txBody>
      </p:sp>
      <p:sp>
        <p:nvSpPr>
          <p:cNvPr id="6" name="shape-5"/>
          <p:cNvSpPr/>
          <p:nvPr/>
        </p:nvSpPr>
        <p:spPr>
          <a:xfrm>
            <a:off x="0" y="0"/>
            <a:ext cx="6858000" cy="88900"/>
          </a:xfrm>
          <a:prstGeom prst="rect">
            <a:avLst/>
          </a:prstGeom>
          <a:solidFill>
            <a:srgbClr val="2338A0"/>
          </a:solidFill>
          <a:ln/>
        </p:spPr>
      </p:sp>
      <p:sp>
        <p:nvSpPr>
          <p:cNvPr id="7" name="text-6"/>
          <p:cNvSpPr txBox="1"/>
          <p:nvPr/>
        </p:nvSpPr>
        <p:spPr>
          <a:xfrm>
            <a:off x="457200" y="952302"/>
            <a:ext cx="4092448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3700" b="1" spc="-13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Өмірзақ </a:t>
            </a:r>
            <a:pPr algn="l" indent="0" marL="0">
              <a:lnSpc>
                <a:spcPts val="3770"/>
              </a:lnSpc>
              <a:buNone/>
            </a:pPr>
            <a:r>
              <a:rPr lang="en-US" sz="4000" i="1" spc="-80" kern="0" dirty="0">
                <a:solidFill>
                  <a:srgbClr val="2338A0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Сұлтанғазин</a:t>
            </a:r>
            <a:endParaRPr lang="en-US" sz="3700" dirty="0"/>
          </a:p>
        </p:txBody>
      </p:sp>
      <p:sp>
        <p:nvSpPr>
          <p:cNvPr id="8" name="text-7"/>
          <p:cNvSpPr txBox="1"/>
          <p:nvPr/>
        </p:nvSpPr>
        <p:spPr>
          <a:xfrm>
            <a:off x="457200" y="2076053"/>
            <a:ext cx="37693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2338A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ТУҒАН ЖЕРІ</a:t>
            </a:r>
            <a:endParaRPr lang="en-US" sz="900" dirty="0"/>
          </a:p>
        </p:txBody>
      </p:sp>
      <p:sp>
        <p:nvSpPr>
          <p:cNvPr id="9" name="text-8"/>
          <p:cNvSpPr txBox="1"/>
          <p:nvPr/>
        </p:nvSpPr>
        <p:spPr>
          <a:xfrm>
            <a:off x="457200" y="2259558"/>
            <a:ext cx="376936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1936 · Қостанай облысы, Қараоба ауылы</a:t>
            </a:r>
            <a:endParaRPr lang="en-US" sz="1300" dirty="0"/>
          </a:p>
        </p:txBody>
      </p:sp>
      <p:sp>
        <p:nvSpPr>
          <p:cNvPr id="10" name="text-9"/>
          <p:cNvSpPr txBox="1"/>
          <p:nvPr/>
        </p:nvSpPr>
        <p:spPr>
          <a:xfrm>
            <a:off x="457200" y="2514302"/>
            <a:ext cx="376936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Ата-анасы колхозда таңнан кешке дейін жұмыс істеген, баланы сөзбен емес, өз үлгісімен тәрбиелеген. 1944–1953 жылдары ауыл мектебінде оқыған.</a:t>
            </a:r>
            <a:endParaRPr lang="en-US" sz="1200" dirty="0"/>
          </a:p>
        </p:txBody>
      </p:sp>
      <p:sp>
        <p:nvSpPr>
          <p:cNvPr id="11" name="shape-10"/>
          <p:cNvSpPr/>
          <p:nvPr/>
        </p:nvSpPr>
        <p:spPr>
          <a:xfrm rot="-48000">
            <a:off x="457200" y="3968353"/>
            <a:ext cx="5943600" cy="11620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2" name="shape-11"/>
          <p:cNvSpPr/>
          <p:nvPr/>
        </p:nvSpPr>
        <p:spPr>
          <a:xfrm rot="-228000">
            <a:off x="2944998" y="3854504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3" name="text-12"/>
          <p:cNvSpPr txBox="1"/>
          <p:nvPr/>
        </p:nvSpPr>
        <p:spPr>
          <a:xfrm rot="-48000">
            <a:off x="642563" y="4108486"/>
            <a:ext cx="589635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ӨМІРДЕ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 rot="-48000">
            <a:off x="823716" y="4316822"/>
            <a:ext cx="57078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ҚазМУ-дың механика-математика факультетін бітірген.</a:t>
            </a:r>
            <a:endParaRPr lang="en-US" sz="1200" dirty="0"/>
          </a:p>
        </p:txBody>
      </p:sp>
      <p:sp>
        <p:nvSpPr>
          <p:cNvPr id="15" name="text-14"/>
          <p:cNvSpPr txBox="1"/>
          <p:nvPr/>
        </p:nvSpPr>
        <p:spPr>
          <a:xfrm rot="-48000">
            <a:off x="828941" y="4589438"/>
            <a:ext cx="5707888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1988–1994 жылдары Ғылым академиясының президенті, 1991 жылдан Ғарыштық зерттеулер институтының директоры.</a:t>
            </a:r>
            <a:endParaRPr lang="en-US" sz="1200" dirty="0"/>
          </a:p>
        </p:txBody>
      </p:sp>
      <p:sp>
        <p:nvSpPr>
          <p:cNvPr id="16" name="shape-15"/>
          <p:cNvSpPr/>
          <p:nvPr/>
        </p:nvSpPr>
        <p:spPr>
          <a:xfrm rot="48000">
            <a:off x="457200" y="5231209"/>
            <a:ext cx="5943600" cy="1060450"/>
          </a:xfrm>
          <a:prstGeom prst="roundRect">
            <a:avLst>
              <a:gd name="adj" fmla="val 15569"/>
            </a:avLst>
          </a:prstGeom>
          <a:solidFill>
            <a:srgbClr val="FAF8F3"/>
          </a:solidFill>
          <a:ln w="12700">
            <a:solidFill>
              <a:srgbClr val="2338A0"/>
            </a:solidFill>
            <a:prstDash val="solid"/>
          </a:ln>
        </p:spPr>
      </p:sp>
      <p:sp>
        <p:nvSpPr>
          <p:cNvPr id="17" name="text-16"/>
          <p:cNvSpPr txBox="1"/>
          <p:nvPr/>
        </p:nvSpPr>
        <p:spPr>
          <a:xfrm rot="48000">
            <a:off x="665005" y="5358638"/>
            <a:ext cx="586943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2338A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ҚЫЗЫҚ ДЕРЕК</a:t>
            </a:r>
            <a:endParaRPr lang="en-US" sz="900" dirty="0"/>
          </a:p>
        </p:txBody>
      </p:sp>
      <p:sp>
        <p:nvSpPr>
          <p:cNvPr id="18" name="text-17"/>
          <p:cNvSpPr txBox="1"/>
          <p:nvPr/>
        </p:nvSpPr>
        <p:spPr>
          <a:xfrm rot="48000">
            <a:off x="659114" y="5542350"/>
            <a:ext cx="5869432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20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Мұғалімі, Берлин түбінде ауыр жараланған майдангер Мырзағали Қарсақбаев, қабілетті оқушылармен сабақтан кейін есеп шығарған. Сол мектептен 5 академик шыққан.</a:t>
            </a:r>
            <a:endParaRPr lang="en-US" sz="1200" dirty="0"/>
          </a:p>
        </p:txBody>
      </p:sp>
      <p:sp>
        <p:nvSpPr>
          <p:cNvPr id="19" name="shape-18"/>
          <p:cNvSpPr/>
          <p:nvPr/>
        </p:nvSpPr>
        <p:spPr>
          <a:xfrm rot="-36000">
            <a:off x="457200" y="6391672"/>
            <a:ext cx="5943600" cy="596900"/>
          </a:xfrm>
          <a:prstGeom prst="roundRect">
            <a:avLst>
              <a:gd name="adj" fmla="val 27660"/>
            </a:avLst>
          </a:prstGeom>
          <a:solidFill>
            <a:srgbClr val="0A0A0A"/>
          </a:solidFill>
          <a:ln/>
        </p:spPr>
      </p:sp>
      <p:sp>
        <p:nvSpPr>
          <p:cNvPr id="20" name="text-19"/>
          <p:cNvSpPr txBox="1"/>
          <p:nvPr/>
        </p:nvSpPr>
        <p:spPr>
          <a:xfrm rot="-36000">
            <a:off x="646416" y="6494469"/>
            <a:ext cx="589635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ОҢАЙ БОЛМАҒАН</a:t>
            </a:r>
            <a:endParaRPr lang="en-US" sz="900" dirty="0"/>
          </a:p>
        </p:txBody>
      </p:sp>
      <p:sp>
        <p:nvSpPr>
          <p:cNvPr id="21" name="text-20"/>
          <p:cNvSpPr txBox="1"/>
          <p:nvPr/>
        </p:nvSpPr>
        <p:spPr>
          <a:xfrm rot="-36000">
            <a:off x="648664" y="6677417"/>
            <a:ext cx="589635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20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Балалығы соғыс және соғыстан кейінгі ауыр жылдарға тап келген.</a:t>
            </a:r>
            <a:endParaRPr lang="en-US" sz="1200" dirty="0"/>
          </a:p>
        </p:txBody>
      </p:sp>
      <p:sp>
        <p:nvSpPr>
          <p:cNvPr id="22" name="text-2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3" name="shape-22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4" name="text-23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6" name="shape-25"/>
          <p:cNvSpPr/>
          <p:nvPr/>
        </p:nvSpPr>
        <p:spPr>
          <a:xfrm rot="240000">
            <a:off x="4660900" y="950913"/>
            <a:ext cx="1714500" cy="2349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7" name="shape-26"/>
          <p:cNvSpPr/>
          <p:nvPr/>
        </p:nvSpPr>
        <p:spPr>
          <a:xfrm rot="60000">
            <a:off x="5121964" y="840996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8" name="img-2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4745516" y="1027406"/>
            <a:ext cx="1562100" cy="1955800"/>
          </a:xfrm>
          <a:prstGeom prst="rect">
            <a:avLst/>
          </a:prstGeom>
        </p:spPr>
      </p:pic>
      <p:sp>
        <p:nvSpPr>
          <p:cNvPr id="29" name="text-28"/>
          <p:cNvSpPr txBox="1"/>
          <p:nvPr/>
        </p:nvSpPr>
        <p:spPr>
          <a:xfrm rot="240000">
            <a:off x="4557177" y="30043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1936–2005</a:t>
            </a:r>
            <a:endParaRPr lang="en-US" sz="1300" dirty="0"/>
          </a:p>
        </p:txBody>
      </p:sp>
      <p:sp>
        <p:nvSpPr>
          <p:cNvPr id="30" name="text-29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2026 жылы оның портфолиосы қандай болар еді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8490" y="406400"/>
            <a:ext cx="21463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2338A0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690" y="482600"/>
            <a:ext cx="17904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2338A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· СҰЛТАНҒАЗИН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13</a:t>
            </a:r>
            <a:endParaRPr lang="en-US" sz="1000" dirty="0"/>
          </a:p>
        </p:txBody>
      </p:sp>
      <p:sp>
        <p:nvSpPr>
          <p:cNvPr id="6" name="shape-5"/>
          <p:cNvSpPr/>
          <p:nvPr/>
        </p:nvSpPr>
        <p:spPr>
          <a:xfrm>
            <a:off x="0" y="0"/>
            <a:ext cx="6858000" cy="88900"/>
          </a:xfrm>
          <a:prstGeom prst="rect">
            <a:avLst/>
          </a:prstGeom>
          <a:solidFill>
            <a:srgbClr val="2338A0"/>
          </a:solidFill>
          <a:ln/>
        </p:spPr>
      </p:sp>
      <p:sp>
        <p:nvSpPr>
          <p:cNvPr id="7" name="text-6"/>
          <p:cNvSpPr txBox="1"/>
          <p:nvPr/>
        </p:nvSpPr>
        <p:spPr>
          <a:xfrm>
            <a:off x="457200" y="951458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Сұлтанғазин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2338A0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2026</a:t>
            </a:r>
            <a:endParaRPr lang="en-US" sz="4200" dirty="0"/>
          </a:p>
        </p:txBody>
      </p:sp>
      <p:sp>
        <p:nvSpPr>
          <p:cNvPr id="8" name="shape-7"/>
          <p:cNvSpPr/>
          <p:nvPr/>
        </p:nvSpPr>
        <p:spPr>
          <a:xfrm rot="-90000">
            <a:off x="458143" y="1968500"/>
            <a:ext cx="2311400" cy="1117600"/>
          </a:xfrm>
          <a:prstGeom prst="roundRect">
            <a:avLst>
              <a:gd name="adj" fmla="val 13636"/>
            </a:avLst>
          </a:prstGeom>
          <a:solidFill>
            <a:srgbClr val="2338A0"/>
          </a:solidFill>
          <a:ln/>
        </p:spPr>
      </p:sp>
      <p:sp>
        <p:nvSpPr>
          <p:cNvPr id="9" name="text-8"/>
          <p:cNvSpPr txBox="1"/>
          <p:nvPr/>
        </p:nvSpPr>
        <p:spPr>
          <a:xfrm rot="-90000">
            <a:off x="588783" y="2108319"/>
            <a:ext cx="215392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</a:t>
            </a:r>
            <a:endParaRPr lang="en-US" sz="900" dirty="0"/>
          </a:p>
        </p:txBody>
      </p:sp>
      <p:sp>
        <p:nvSpPr>
          <p:cNvPr id="10" name="text-9"/>
          <p:cNvSpPr txBox="1"/>
          <p:nvPr/>
        </p:nvSpPr>
        <p:spPr>
          <a:xfrm rot="-90000">
            <a:off x="598009" y="2292348"/>
            <a:ext cx="2153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1470</a:t>
            </a:r>
            <a:endParaRPr lang="en-US" sz="3800" dirty="0"/>
          </a:p>
        </p:txBody>
      </p:sp>
      <p:sp>
        <p:nvSpPr>
          <p:cNvPr id="11" name="text-10"/>
          <p:cNvSpPr txBox="1"/>
          <p:nvPr/>
        </p:nvSpPr>
        <p:spPr>
          <a:xfrm rot="-90000">
            <a:off x="607234" y="2812927"/>
            <a:ext cx="215392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5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Math 800 · RW 670</a:t>
            </a:r>
            <a:endParaRPr lang="en-US" sz="900" dirty="0"/>
          </a:p>
        </p:txBody>
      </p:sp>
      <p:sp>
        <p:nvSpPr>
          <p:cNvPr id="12" name="shape-11"/>
          <p:cNvSpPr/>
          <p:nvPr/>
        </p:nvSpPr>
        <p:spPr>
          <a:xfrm rot="60000">
            <a:off x="2871589" y="1968500"/>
            <a:ext cx="1714500" cy="1117600"/>
          </a:xfrm>
          <a:prstGeom prst="roundRect">
            <a:avLst>
              <a:gd name="adj" fmla="val 13636"/>
            </a:avLst>
          </a:prstGeom>
          <a:solidFill>
            <a:srgbClr val="2338A0"/>
          </a:solidFill>
          <a:ln/>
        </p:spPr>
      </p:sp>
      <p:sp>
        <p:nvSpPr>
          <p:cNvPr id="13" name="text-12"/>
          <p:cNvSpPr txBox="1"/>
          <p:nvPr/>
        </p:nvSpPr>
        <p:spPr>
          <a:xfrm rot="60000">
            <a:off x="3017329" y="2108253"/>
            <a:ext cx="152120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IELTS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 rot="60000">
            <a:off x="3011178" y="2292349"/>
            <a:ext cx="1521206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7.0</a:t>
            </a:r>
            <a:endParaRPr lang="en-US" sz="3800" dirty="0"/>
          </a:p>
        </p:txBody>
      </p:sp>
      <p:sp>
        <p:nvSpPr>
          <p:cNvPr id="15" name="text-14"/>
          <p:cNvSpPr txBox="1"/>
          <p:nvPr/>
        </p:nvSpPr>
        <p:spPr>
          <a:xfrm rot="60000">
            <a:off x="3005028" y="2812995"/>
            <a:ext cx="152120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5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Academic</a:t>
            </a:r>
            <a:endParaRPr lang="en-US" sz="900" dirty="0"/>
          </a:p>
        </p:txBody>
      </p:sp>
      <p:sp>
        <p:nvSpPr>
          <p:cNvPr id="16" name="shape-15"/>
          <p:cNvSpPr/>
          <p:nvPr/>
        </p:nvSpPr>
        <p:spPr>
          <a:xfrm rot="-36000">
            <a:off x="4686746" y="1968500"/>
            <a:ext cx="1714500" cy="1117600"/>
          </a:xfrm>
          <a:prstGeom prst="roundRect">
            <a:avLst>
              <a:gd name="adj" fmla="val 13636"/>
            </a:avLst>
          </a:prstGeom>
          <a:solidFill>
            <a:srgbClr val="2338A0"/>
          </a:solidFill>
          <a:ln/>
        </p:spPr>
      </p:sp>
      <p:sp>
        <p:nvSpPr>
          <p:cNvPr id="17" name="text-16"/>
          <p:cNvSpPr txBox="1"/>
          <p:nvPr/>
        </p:nvSpPr>
        <p:spPr>
          <a:xfrm rot="-36000">
            <a:off x="4822822" y="2108219"/>
            <a:ext cx="152120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GPA</a:t>
            </a:r>
            <a:endParaRPr lang="en-US" sz="900" dirty="0"/>
          </a:p>
        </p:txBody>
      </p:sp>
      <p:sp>
        <p:nvSpPr>
          <p:cNvPr id="18" name="text-17"/>
          <p:cNvSpPr txBox="1"/>
          <p:nvPr/>
        </p:nvSpPr>
        <p:spPr>
          <a:xfrm rot="-36000">
            <a:off x="4826513" y="2292350"/>
            <a:ext cx="1521206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4.9</a:t>
            </a:r>
            <a:endParaRPr lang="en-US" sz="3800" dirty="0"/>
          </a:p>
        </p:txBody>
      </p:sp>
      <p:sp>
        <p:nvSpPr>
          <p:cNvPr id="19" name="text-18"/>
          <p:cNvSpPr txBox="1"/>
          <p:nvPr/>
        </p:nvSpPr>
        <p:spPr>
          <a:xfrm rot="-36000">
            <a:off x="4830203" y="2813030"/>
            <a:ext cx="152120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5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 баллдық жүйе</a:t>
            </a:r>
            <a:endParaRPr lang="en-US" sz="900" dirty="0"/>
          </a:p>
        </p:txBody>
      </p:sp>
      <p:sp>
        <p:nvSpPr>
          <p:cNvPr id="20" name="shape-19"/>
          <p:cNvSpPr/>
          <p:nvPr/>
        </p:nvSpPr>
        <p:spPr>
          <a:xfrm rot="-60000">
            <a:off x="458440" y="3302000"/>
            <a:ext cx="5435600" cy="41910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2338A0"/>
            </a:solidFill>
            <a:prstDash val="solid"/>
          </a:ln>
        </p:spPr>
      </p:sp>
      <p:sp>
        <p:nvSpPr>
          <p:cNvPr id="21" name="text-20"/>
          <p:cNvSpPr txBox="1"/>
          <p:nvPr/>
        </p:nvSpPr>
        <p:spPr>
          <a:xfrm rot="-60000">
            <a:off x="622176" y="3493663"/>
            <a:ext cx="64617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2338A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МЕКТЕБІ</a:t>
            </a:r>
            <a:endParaRPr lang="en-US" sz="900" dirty="0"/>
          </a:p>
        </p:txBody>
      </p:sp>
      <p:sp>
        <p:nvSpPr>
          <p:cNvPr id="22" name="text-21"/>
          <p:cNvSpPr txBox="1"/>
          <p:nvPr/>
        </p:nvSpPr>
        <p:spPr>
          <a:xfrm rot="-60000">
            <a:off x="1343466" y="3397296"/>
            <a:ext cx="4651121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Ауылдан грантпен iQanat, кейін Алматыдағы РФМШ</a:t>
            </a:r>
            <a:endParaRPr lang="en-US" sz="1300" dirty="0"/>
          </a:p>
        </p:txBody>
      </p:sp>
      <p:sp>
        <p:nvSpPr>
          <p:cNvPr id="23" name="text-22"/>
          <p:cNvSpPr txBox="1"/>
          <p:nvPr/>
        </p:nvSpPr>
        <p:spPr>
          <a:xfrm rot="-60000">
            <a:off x="457200" y="3936305"/>
            <a:ext cx="6300216" cy="488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Ауыл мектебінде ағылшын тілін үйрену қиын болар еді, бірақ математикасы мінсіз.</a:t>
            </a:r>
            <a:endParaRPr lang="en-US" sz="1600" dirty="0"/>
          </a:p>
        </p:txBody>
      </p:sp>
      <p:sp>
        <p:nvSpPr>
          <p:cNvPr id="24" name="shape-23"/>
          <p:cNvSpPr/>
          <p:nvPr/>
        </p:nvSpPr>
        <p:spPr>
          <a:xfrm rot="48000">
            <a:off x="457200" y="4763294"/>
            <a:ext cx="5943600" cy="22479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5" name="shape-24"/>
          <p:cNvSpPr/>
          <p:nvPr/>
        </p:nvSpPr>
        <p:spPr>
          <a:xfrm rot="-432000">
            <a:off x="5716692" y="4607566"/>
            <a:ext cx="533400" cy="533400"/>
          </a:xfrm>
          <a:prstGeom prst="ellipse">
            <a:avLst/>
          </a:prstGeom>
          <a:solidFill>
            <a:srgbClr val="FAF8F3"/>
          </a:solidFill>
          <a:ln w="12700">
            <a:solidFill>
              <a:srgbClr val="2338A0"/>
            </a:solidFill>
            <a:prstDash val="solid"/>
          </a:ln>
        </p:spPr>
      </p:sp>
      <p:pic>
        <p:nvPicPr>
          <p:cNvPr id="26" name="svg-2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432000">
            <a:off x="5837342" y="4728216"/>
            <a:ext cx="292100" cy="292100"/>
          </a:xfrm>
          <a:prstGeom prst="rect">
            <a:avLst/>
          </a:prstGeom>
        </p:spPr>
      </p:pic>
      <p:sp>
        <p:nvSpPr>
          <p:cNvPr id="27" name="text-26"/>
          <p:cNvSpPr txBox="1"/>
          <p:nvPr/>
        </p:nvSpPr>
        <p:spPr>
          <a:xfrm rot="48000">
            <a:off x="660257" y="4914988"/>
            <a:ext cx="589635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ПОРТФОЛИО · 17 ЖАС</a:t>
            </a:r>
            <a:endParaRPr lang="en-US" sz="900" dirty="0"/>
          </a:p>
        </p:txBody>
      </p:sp>
      <p:pic>
        <p:nvPicPr>
          <p:cNvPr id="28" name="svg-2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">
            <a:off x="657194" y="5093361"/>
            <a:ext cx="190500" cy="190500"/>
          </a:xfrm>
          <a:prstGeom prst="rect">
            <a:avLst/>
          </a:prstGeom>
        </p:spPr>
      </p:pic>
      <p:sp>
        <p:nvSpPr>
          <p:cNvPr id="29" name="text-28"/>
          <p:cNvSpPr txBox="1"/>
          <p:nvPr/>
        </p:nvSpPr>
        <p:spPr>
          <a:xfrm rot="48000">
            <a:off x="903902" y="5107756"/>
            <a:ext cx="5283835" cy="8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Халықаралық физика олимпиадасы (IPhO): 10-сыныпта құрмет грамотасы, 11-сыныпта күміс. Халықаралық астрономия және астрофизика олимпиадасы: 10-сыныпта қола, 11-сыныпта алтын. «Ел мақтанышы» төсбелгісінің иегері.</a:t>
            </a:r>
            <a:endParaRPr lang="en-US" sz="1200" dirty="0"/>
          </a:p>
        </p:txBody>
      </p:sp>
      <p:sp>
        <p:nvSpPr>
          <p:cNvPr id="30" name="text-29"/>
          <p:cNvSpPr txBox="1"/>
          <p:nvPr/>
        </p:nvSpPr>
        <p:spPr>
          <a:xfrm rot="48000">
            <a:off x="819761" y="5993467"/>
            <a:ext cx="570788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NASA Space Apps Challenge: спутник деректерімен жоба. Зымыран моделін өз қолымен жасаған, SpaceX зымыранының бір бөлігін жетілдіру идеясын ұсынып, тәлімгерлікке шақырылған.</a:t>
            </a:r>
            <a:endParaRPr lang="en-US" sz="1200" dirty="0"/>
          </a:p>
        </p:txBody>
      </p:sp>
      <p:sp>
        <p:nvSpPr>
          <p:cNvPr id="31" name="text-30"/>
          <p:cNvSpPr txBox="1"/>
          <p:nvPr/>
        </p:nvSpPr>
        <p:spPr>
          <a:xfrm rot="48000">
            <a:off x="813349" y="6655807"/>
            <a:ext cx="570788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2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Оқитын мамандығы: аэроғарыш инженериясы.</a:t>
            </a:r>
            <a:endParaRPr lang="en-US" sz="1200" dirty="0"/>
          </a:p>
        </p:txBody>
      </p:sp>
      <p:sp>
        <p:nvSpPr>
          <p:cNvPr id="32" name="text-3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33" name="shape-32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34" name="text-33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35" name="svg-3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36" name="text-35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бесіншісі жасушаның ішінен жаңалық ашқан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5960" y="406400"/>
            <a:ext cx="29972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2F7A33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6160" y="482600"/>
            <a:ext cx="26924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2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1939 · МОЛЕКУЛАЛЫҚ БИОЛОГИЯ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13</a:t>
            </a:r>
            <a:endParaRPr lang="en-US" sz="1000" dirty="0"/>
          </a:p>
        </p:txBody>
      </p:sp>
      <p:sp>
        <p:nvSpPr>
          <p:cNvPr id="6" name="shape-5"/>
          <p:cNvSpPr/>
          <p:nvPr/>
        </p:nvSpPr>
        <p:spPr>
          <a:xfrm>
            <a:off x="0" y="0"/>
            <a:ext cx="6858000" cy="88900"/>
          </a:xfrm>
          <a:prstGeom prst="rect">
            <a:avLst/>
          </a:prstGeom>
          <a:solidFill>
            <a:srgbClr val="2F7A33"/>
          </a:solidFill>
          <a:ln/>
        </p:spPr>
      </p:sp>
      <p:sp>
        <p:nvSpPr>
          <p:cNvPr id="7" name="text-6"/>
          <p:cNvSpPr txBox="1"/>
          <p:nvPr/>
        </p:nvSpPr>
        <p:spPr>
          <a:xfrm>
            <a:off x="457200" y="953591"/>
            <a:ext cx="4092448" cy="1212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Мұрат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2F7A3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Айтхожин</a:t>
            </a:r>
            <a:endParaRPr lang="en-US" sz="4200" dirty="0"/>
          </a:p>
        </p:txBody>
      </p:sp>
      <p:sp>
        <p:nvSpPr>
          <p:cNvPr id="8" name="text-7"/>
          <p:cNvSpPr txBox="1"/>
          <p:nvPr/>
        </p:nvSpPr>
        <p:spPr>
          <a:xfrm>
            <a:off x="457200" y="2281833"/>
            <a:ext cx="376936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2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ТУҒАН ЖЕРІ</a:t>
            </a:r>
            <a:endParaRPr lang="en-US" sz="900" dirty="0"/>
          </a:p>
        </p:txBody>
      </p:sp>
      <p:sp>
        <p:nvSpPr>
          <p:cNvPr id="9" name="text-8"/>
          <p:cNvSpPr txBox="1"/>
          <p:nvPr/>
        </p:nvSpPr>
        <p:spPr>
          <a:xfrm>
            <a:off x="457200" y="2465338"/>
            <a:ext cx="376936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1939 · Петропавл қаласы</a:t>
            </a:r>
            <a:endParaRPr lang="en-US" sz="1300" dirty="0"/>
          </a:p>
        </p:txBody>
      </p:sp>
      <p:sp>
        <p:nvSpPr>
          <p:cNvPr id="10" name="text-9"/>
          <p:cNvSpPr txBox="1"/>
          <p:nvPr/>
        </p:nvSpPr>
        <p:spPr>
          <a:xfrm>
            <a:off x="457200" y="2719735"/>
            <a:ext cx="376936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Көп балалы отбасында туған. Мектептен кейін ҚазМУ-ға түсіп, оқуының басым бөлігін Мәскеу университетінде өткерген.</a:t>
            </a:r>
            <a:endParaRPr lang="en-US" sz="1200" dirty="0"/>
          </a:p>
        </p:txBody>
      </p:sp>
      <p:sp>
        <p:nvSpPr>
          <p:cNvPr id="11" name="shape-10"/>
          <p:cNvSpPr/>
          <p:nvPr/>
        </p:nvSpPr>
        <p:spPr>
          <a:xfrm rot="-48000">
            <a:off x="457200" y="3968353"/>
            <a:ext cx="5943600" cy="11620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2" name="shape-11"/>
          <p:cNvSpPr/>
          <p:nvPr/>
        </p:nvSpPr>
        <p:spPr>
          <a:xfrm rot="-228000">
            <a:off x="2944998" y="3854504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3" name="text-12"/>
          <p:cNvSpPr txBox="1"/>
          <p:nvPr/>
        </p:nvSpPr>
        <p:spPr>
          <a:xfrm rot="-48000">
            <a:off x="642563" y="4108486"/>
            <a:ext cx="589635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ШЫН ӨМІРДЕ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 rot="-48000">
            <a:off x="823716" y="4316822"/>
            <a:ext cx="57078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Қазақстандағы молекулалық биологияның негізін қалаушы.</a:t>
            </a:r>
            <a:endParaRPr lang="en-US" sz="1200" dirty="0"/>
          </a:p>
        </p:txBody>
      </p:sp>
      <p:sp>
        <p:nvSpPr>
          <p:cNvPr id="15" name="text-14"/>
          <p:cNvSpPr txBox="1"/>
          <p:nvPr/>
        </p:nvSpPr>
        <p:spPr>
          <a:xfrm rot="-48000">
            <a:off x="828941" y="4589438"/>
            <a:ext cx="5707888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Информосомаларды ашқан ғалымдар тобында болып, 1976 жылы Ленин сыйлығын алған.</a:t>
            </a:r>
            <a:endParaRPr lang="en-US" sz="1200" dirty="0"/>
          </a:p>
        </p:txBody>
      </p:sp>
      <p:sp>
        <p:nvSpPr>
          <p:cNvPr id="16" name="shape-15"/>
          <p:cNvSpPr/>
          <p:nvPr/>
        </p:nvSpPr>
        <p:spPr>
          <a:xfrm rot="48000">
            <a:off x="457200" y="5232400"/>
            <a:ext cx="5943600" cy="850900"/>
          </a:xfrm>
          <a:prstGeom prst="roundRect">
            <a:avLst>
              <a:gd name="adj" fmla="val 19403"/>
            </a:avLst>
          </a:prstGeom>
          <a:solidFill>
            <a:srgbClr val="FAF8F3"/>
          </a:solidFill>
          <a:ln w="12700">
            <a:solidFill>
              <a:srgbClr val="2F7A33"/>
            </a:solidFill>
            <a:prstDash val="solid"/>
          </a:ln>
        </p:spPr>
      </p:sp>
      <p:sp>
        <p:nvSpPr>
          <p:cNvPr id="17" name="text-16"/>
          <p:cNvSpPr txBox="1"/>
          <p:nvPr/>
        </p:nvSpPr>
        <p:spPr>
          <a:xfrm rot="48000">
            <a:off x="663559" y="5358628"/>
            <a:ext cx="586943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2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ҚЫЗЫҚ ДЕРЕК</a:t>
            </a:r>
            <a:endParaRPr lang="en-US" sz="900" dirty="0"/>
          </a:p>
        </p:txBody>
      </p:sp>
      <p:sp>
        <p:nvSpPr>
          <p:cNvPr id="18" name="text-17"/>
          <p:cNvSpPr txBox="1"/>
          <p:nvPr/>
        </p:nvSpPr>
        <p:spPr>
          <a:xfrm rot="48000">
            <a:off x="659114" y="5543541"/>
            <a:ext cx="5869432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20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1961 жылы, студент кезінде, курстық жұмысы Ашхабадтағы студенттік ғылыми конференцияда бірінші орын алған.</a:t>
            </a:r>
            <a:endParaRPr lang="en-US" sz="1200" dirty="0"/>
          </a:p>
        </p:txBody>
      </p:sp>
      <p:sp>
        <p:nvSpPr>
          <p:cNvPr id="19" name="shape-18"/>
          <p:cNvSpPr/>
          <p:nvPr/>
        </p:nvSpPr>
        <p:spPr>
          <a:xfrm rot="-36000">
            <a:off x="457200" y="6186488"/>
            <a:ext cx="5943600" cy="800100"/>
          </a:xfrm>
          <a:prstGeom prst="roundRect">
            <a:avLst>
              <a:gd name="adj" fmla="val 20635"/>
            </a:avLst>
          </a:prstGeom>
          <a:solidFill>
            <a:srgbClr val="0A0A0A"/>
          </a:solidFill>
          <a:ln/>
        </p:spPr>
      </p:sp>
      <p:sp>
        <p:nvSpPr>
          <p:cNvPr id="20" name="text-19"/>
          <p:cNvSpPr txBox="1"/>
          <p:nvPr/>
        </p:nvSpPr>
        <p:spPr>
          <a:xfrm rot="-36000">
            <a:off x="645331" y="6287306"/>
            <a:ext cx="589635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ОҢАЙ БОЛМАҒАН</a:t>
            </a:r>
            <a:endParaRPr lang="en-US" sz="900" dirty="0"/>
          </a:p>
        </p:txBody>
      </p:sp>
      <p:sp>
        <p:nvSpPr>
          <p:cNvPr id="21" name="text-20"/>
          <p:cNvSpPr txBox="1"/>
          <p:nvPr/>
        </p:nvSpPr>
        <p:spPr>
          <a:xfrm rot="-36000">
            <a:off x="648664" y="6472232"/>
            <a:ext cx="589635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20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48 жасында қайтыс болған. Артында есімімен аталатын Молекулалық биология және биохимия институты қалды.</a:t>
            </a:r>
            <a:endParaRPr lang="en-US" sz="1200" dirty="0"/>
          </a:p>
        </p:txBody>
      </p:sp>
      <p:sp>
        <p:nvSpPr>
          <p:cNvPr id="22" name="text-2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3" name="shape-22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4" name="text-23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6" name="shape-25"/>
          <p:cNvSpPr/>
          <p:nvPr/>
        </p:nvSpPr>
        <p:spPr>
          <a:xfrm rot="240000">
            <a:off x="4660900" y="950913"/>
            <a:ext cx="1714500" cy="2349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7" name="shape-26"/>
          <p:cNvSpPr/>
          <p:nvPr/>
        </p:nvSpPr>
        <p:spPr>
          <a:xfrm rot="60000">
            <a:off x="5121964" y="840996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8" name="img-2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4745516" y="1027406"/>
            <a:ext cx="1562100" cy="1955800"/>
          </a:xfrm>
          <a:prstGeom prst="rect">
            <a:avLst/>
          </a:prstGeom>
        </p:spPr>
      </p:pic>
      <p:sp>
        <p:nvSpPr>
          <p:cNvPr id="29" name="text-28"/>
          <p:cNvSpPr txBox="1"/>
          <p:nvPr/>
        </p:nvSpPr>
        <p:spPr>
          <a:xfrm rot="240000">
            <a:off x="4557177" y="300430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1939–1987</a:t>
            </a:r>
            <a:endParaRPr lang="en-US" sz="1300" dirty="0"/>
          </a:p>
        </p:txBody>
      </p:sp>
      <p:sp>
        <p:nvSpPr>
          <p:cNvPr id="30" name="text-29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2026 жылы оның портфолиосы қандай болар еді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200" y="406400"/>
            <a:ext cx="18669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2F7A33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7400" y="482600"/>
            <a:ext cx="14942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2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· АЙТХОЖИН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13</a:t>
            </a:r>
            <a:endParaRPr lang="en-US" sz="1000" dirty="0"/>
          </a:p>
        </p:txBody>
      </p:sp>
      <p:sp>
        <p:nvSpPr>
          <p:cNvPr id="6" name="shape-5"/>
          <p:cNvSpPr/>
          <p:nvPr/>
        </p:nvSpPr>
        <p:spPr>
          <a:xfrm>
            <a:off x="0" y="0"/>
            <a:ext cx="6858000" cy="88900"/>
          </a:xfrm>
          <a:prstGeom prst="rect">
            <a:avLst/>
          </a:prstGeom>
          <a:solidFill>
            <a:srgbClr val="2F7A33"/>
          </a:solidFill>
          <a:ln/>
        </p:spPr>
      </p:sp>
      <p:sp>
        <p:nvSpPr>
          <p:cNvPr id="7" name="text-6"/>
          <p:cNvSpPr txBox="1"/>
          <p:nvPr/>
        </p:nvSpPr>
        <p:spPr>
          <a:xfrm>
            <a:off x="457200" y="951458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Айтхожин </a:t>
            </a:r>
            <a:pPr algn="l" indent="0" marL="0">
              <a:lnSpc>
                <a:spcPts val="4280"/>
              </a:lnSpc>
              <a:buNone/>
            </a:pPr>
            <a:r>
              <a:rPr lang="en-US" sz="5200" i="1" spc="-100" kern="0" dirty="0">
                <a:solidFill>
                  <a:srgbClr val="2F7A3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2026</a:t>
            </a:r>
            <a:endParaRPr lang="en-US" sz="4200" dirty="0"/>
          </a:p>
        </p:txBody>
      </p:sp>
      <p:sp>
        <p:nvSpPr>
          <p:cNvPr id="8" name="shape-7"/>
          <p:cNvSpPr/>
          <p:nvPr/>
        </p:nvSpPr>
        <p:spPr>
          <a:xfrm rot="-90000">
            <a:off x="458143" y="1968500"/>
            <a:ext cx="2311400" cy="1117600"/>
          </a:xfrm>
          <a:prstGeom prst="roundRect">
            <a:avLst>
              <a:gd name="adj" fmla="val 13636"/>
            </a:avLst>
          </a:prstGeom>
          <a:solidFill>
            <a:srgbClr val="2F7A33"/>
          </a:solidFill>
          <a:ln/>
        </p:spPr>
      </p:sp>
      <p:sp>
        <p:nvSpPr>
          <p:cNvPr id="9" name="text-8"/>
          <p:cNvSpPr txBox="1"/>
          <p:nvPr/>
        </p:nvSpPr>
        <p:spPr>
          <a:xfrm rot="-90000">
            <a:off x="588783" y="2108319"/>
            <a:ext cx="215392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SAT</a:t>
            </a:r>
            <a:endParaRPr lang="en-US" sz="900" dirty="0"/>
          </a:p>
        </p:txBody>
      </p:sp>
      <p:sp>
        <p:nvSpPr>
          <p:cNvPr id="10" name="text-9"/>
          <p:cNvSpPr txBox="1"/>
          <p:nvPr/>
        </p:nvSpPr>
        <p:spPr>
          <a:xfrm rot="-90000">
            <a:off x="598009" y="2292348"/>
            <a:ext cx="215392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1500</a:t>
            </a:r>
            <a:endParaRPr lang="en-US" sz="3800" dirty="0"/>
          </a:p>
        </p:txBody>
      </p:sp>
      <p:sp>
        <p:nvSpPr>
          <p:cNvPr id="11" name="text-10"/>
          <p:cNvSpPr txBox="1"/>
          <p:nvPr/>
        </p:nvSpPr>
        <p:spPr>
          <a:xfrm rot="-90000">
            <a:off x="607234" y="2812927"/>
            <a:ext cx="215392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5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Math 750 · RW 750</a:t>
            </a:r>
            <a:endParaRPr lang="en-US" sz="900" dirty="0"/>
          </a:p>
        </p:txBody>
      </p:sp>
      <p:sp>
        <p:nvSpPr>
          <p:cNvPr id="12" name="shape-11"/>
          <p:cNvSpPr/>
          <p:nvPr/>
        </p:nvSpPr>
        <p:spPr>
          <a:xfrm rot="60000">
            <a:off x="2871589" y="1968500"/>
            <a:ext cx="1714500" cy="1117600"/>
          </a:xfrm>
          <a:prstGeom prst="roundRect">
            <a:avLst>
              <a:gd name="adj" fmla="val 13636"/>
            </a:avLst>
          </a:prstGeom>
          <a:solidFill>
            <a:srgbClr val="2F7A33"/>
          </a:solidFill>
          <a:ln/>
        </p:spPr>
      </p:sp>
      <p:sp>
        <p:nvSpPr>
          <p:cNvPr id="13" name="text-12"/>
          <p:cNvSpPr txBox="1"/>
          <p:nvPr/>
        </p:nvSpPr>
        <p:spPr>
          <a:xfrm rot="60000">
            <a:off x="3017329" y="2108253"/>
            <a:ext cx="152120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IELTS</a:t>
            </a:r>
            <a:endParaRPr lang="en-US" sz="900" dirty="0"/>
          </a:p>
        </p:txBody>
      </p:sp>
      <p:sp>
        <p:nvSpPr>
          <p:cNvPr id="14" name="text-13"/>
          <p:cNvSpPr txBox="1"/>
          <p:nvPr/>
        </p:nvSpPr>
        <p:spPr>
          <a:xfrm rot="60000">
            <a:off x="3011178" y="2292349"/>
            <a:ext cx="1521206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7.0</a:t>
            </a:r>
            <a:endParaRPr lang="en-US" sz="3800" dirty="0"/>
          </a:p>
        </p:txBody>
      </p:sp>
      <p:sp>
        <p:nvSpPr>
          <p:cNvPr id="15" name="text-14"/>
          <p:cNvSpPr txBox="1"/>
          <p:nvPr/>
        </p:nvSpPr>
        <p:spPr>
          <a:xfrm rot="60000">
            <a:off x="3005028" y="2812995"/>
            <a:ext cx="152120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5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Academic</a:t>
            </a:r>
            <a:endParaRPr lang="en-US" sz="900" dirty="0"/>
          </a:p>
        </p:txBody>
      </p:sp>
      <p:sp>
        <p:nvSpPr>
          <p:cNvPr id="16" name="shape-15"/>
          <p:cNvSpPr/>
          <p:nvPr/>
        </p:nvSpPr>
        <p:spPr>
          <a:xfrm rot="-36000">
            <a:off x="4686746" y="1968500"/>
            <a:ext cx="1714500" cy="1117600"/>
          </a:xfrm>
          <a:prstGeom prst="roundRect">
            <a:avLst>
              <a:gd name="adj" fmla="val 13636"/>
            </a:avLst>
          </a:prstGeom>
          <a:solidFill>
            <a:srgbClr val="2F7A33"/>
          </a:solidFill>
          <a:ln/>
        </p:spPr>
      </p:sp>
      <p:sp>
        <p:nvSpPr>
          <p:cNvPr id="17" name="text-16"/>
          <p:cNvSpPr txBox="1"/>
          <p:nvPr/>
        </p:nvSpPr>
        <p:spPr>
          <a:xfrm rot="-36000">
            <a:off x="4822822" y="2108219"/>
            <a:ext cx="152120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GPA</a:t>
            </a:r>
            <a:endParaRPr lang="en-US" sz="900" dirty="0"/>
          </a:p>
        </p:txBody>
      </p:sp>
      <p:sp>
        <p:nvSpPr>
          <p:cNvPr id="18" name="text-17"/>
          <p:cNvSpPr txBox="1"/>
          <p:nvPr/>
        </p:nvSpPr>
        <p:spPr>
          <a:xfrm rot="-36000">
            <a:off x="4826513" y="2292350"/>
            <a:ext cx="1521206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8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4.7</a:t>
            </a:r>
            <a:endParaRPr lang="en-US" sz="3800" dirty="0"/>
          </a:p>
        </p:txBody>
      </p:sp>
      <p:sp>
        <p:nvSpPr>
          <p:cNvPr id="19" name="text-18"/>
          <p:cNvSpPr txBox="1"/>
          <p:nvPr/>
        </p:nvSpPr>
        <p:spPr>
          <a:xfrm rot="-36000">
            <a:off x="4830203" y="2813030"/>
            <a:ext cx="152120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5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 баллдық жүйе</a:t>
            </a:r>
            <a:endParaRPr lang="en-US" sz="900" dirty="0"/>
          </a:p>
        </p:txBody>
      </p:sp>
      <p:sp>
        <p:nvSpPr>
          <p:cNvPr id="20" name="shape-19"/>
          <p:cNvSpPr/>
          <p:nvPr/>
        </p:nvSpPr>
        <p:spPr>
          <a:xfrm rot="-60000">
            <a:off x="456406" y="3302000"/>
            <a:ext cx="4933950" cy="41910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2F7A33"/>
            </a:solidFill>
            <a:prstDash val="solid"/>
          </a:ln>
        </p:spPr>
      </p:sp>
      <p:sp>
        <p:nvSpPr>
          <p:cNvPr id="21" name="text-20"/>
          <p:cNvSpPr txBox="1"/>
          <p:nvPr/>
        </p:nvSpPr>
        <p:spPr>
          <a:xfrm rot="-60000">
            <a:off x="622137" y="3489251"/>
            <a:ext cx="64617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2F7A3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МЕКТЕБІ</a:t>
            </a:r>
            <a:endParaRPr lang="en-US" sz="900" dirty="0"/>
          </a:p>
        </p:txBody>
      </p:sp>
      <p:sp>
        <p:nvSpPr>
          <p:cNvPr id="22" name="text-21"/>
          <p:cNvSpPr txBox="1"/>
          <p:nvPr/>
        </p:nvSpPr>
        <p:spPr>
          <a:xfrm rot="-60000">
            <a:off x="1344607" y="3397296"/>
            <a:ext cx="4112641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Петропавлдағы Білім-инновация лицейі (БИЛ)</a:t>
            </a:r>
            <a:endParaRPr lang="en-US" sz="1300" dirty="0"/>
          </a:p>
        </p:txBody>
      </p:sp>
      <p:sp>
        <p:nvSpPr>
          <p:cNvPr id="23" name="text-22"/>
          <p:cNvSpPr txBox="1"/>
          <p:nvPr/>
        </p:nvSpPr>
        <p:spPr>
          <a:xfrm rot="-60000">
            <a:off x="457200" y="3936305"/>
            <a:ext cx="6300216" cy="488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Студент кезінен зертханада жүрген адам. Баллы тепе-тең, ал басты күші зерттеуде.</a:t>
            </a:r>
            <a:endParaRPr lang="en-US" sz="1600" dirty="0"/>
          </a:p>
        </p:txBody>
      </p:sp>
      <p:sp>
        <p:nvSpPr>
          <p:cNvPr id="24" name="shape-23"/>
          <p:cNvSpPr/>
          <p:nvPr/>
        </p:nvSpPr>
        <p:spPr>
          <a:xfrm rot="48000">
            <a:off x="457200" y="4762798"/>
            <a:ext cx="5943600" cy="20955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5" name="shape-24"/>
          <p:cNvSpPr/>
          <p:nvPr/>
        </p:nvSpPr>
        <p:spPr>
          <a:xfrm rot="-432000">
            <a:off x="5715622" y="4607559"/>
            <a:ext cx="533400" cy="533400"/>
          </a:xfrm>
          <a:prstGeom prst="ellipse">
            <a:avLst/>
          </a:prstGeom>
          <a:solidFill>
            <a:srgbClr val="FAF8F3"/>
          </a:solidFill>
          <a:ln w="12700">
            <a:solidFill>
              <a:srgbClr val="2F7A33"/>
            </a:solidFill>
            <a:prstDash val="solid"/>
          </a:ln>
        </p:spPr>
      </p:sp>
      <p:pic>
        <p:nvPicPr>
          <p:cNvPr id="26" name="svg-2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432000">
            <a:off x="5836271" y="4728209"/>
            <a:ext cx="292100" cy="292100"/>
          </a:xfrm>
          <a:prstGeom prst="rect">
            <a:avLst/>
          </a:prstGeom>
        </p:spPr>
      </p:pic>
      <p:sp>
        <p:nvSpPr>
          <p:cNvPr id="27" name="text-26"/>
          <p:cNvSpPr txBox="1"/>
          <p:nvPr/>
        </p:nvSpPr>
        <p:spPr>
          <a:xfrm rot="48000">
            <a:off x="659186" y="4914980"/>
            <a:ext cx="589635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ПОРТФОЛИО · 17 ЖАС</a:t>
            </a:r>
            <a:endParaRPr lang="en-US" sz="900" dirty="0"/>
          </a:p>
        </p:txBody>
      </p:sp>
      <p:pic>
        <p:nvPicPr>
          <p:cNvPr id="28" name="svg-2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">
            <a:off x="656123" y="5093354"/>
            <a:ext cx="190500" cy="190500"/>
          </a:xfrm>
          <a:prstGeom prst="rect">
            <a:avLst/>
          </a:prstGeom>
        </p:spPr>
      </p:pic>
      <p:sp>
        <p:nvSpPr>
          <p:cNvPr id="29" name="text-28"/>
          <p:cNvSpPr txBox="1"/>
          <p:nvPr/>
        </p:nvSpPr>
        <p:spPr>
          <a:xfrm rot="48000">
            <a:off x="909996" y="5118657"/>
            <a:ext cx="4469384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Халықаралық биология олимпиадасы (IBO): күміс медаль.</a:t>
            </a:r>
            <a:endParaRPr lang="en-US" sz="1200" dirty="0"/>
          </a:p>
        </p:txBody>
      </p:sp>
      <p:sp>
        <p:nvSpPr>
          <p:cNvPr id="30" name="text-29"/>
          <p:cNvSpPr txBox="1"/>
          <p:nvPr/>
        </p:nvSpPr>
        <p:spPr>
          <a:xfrm rot="48000">
            <a:off x="828668" y="5380456"/>
            <a:ext cx="5707888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ISEF іріктеуінен өте алмаған, бірақ зерттеуі кейін Nature журналында жарияланып, әлемге танылған.</a:t>
            </a:r>
            <a:endParaRPr lang="en-US" sz="1200" dirty="0"/>
          </a:p>
        </p:txBody>
      </p:sp>
      <p:sp>
        <p:nvSpPr>
          <p:cNvPr id="31" name="text-30"/>
          <p:cNvSpPr txBox="1"/>
          <p:nvPr/>
        </p:nvSpPr>
        <p:spPr>
          <a:xfrm rot="48000">
            <a:off x="820832" y="5840082"/>
            <a:ext cx="570788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2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Harvard университетінен ерте шақыру алған, Қазақстанға оралып өз зертханасын ашуды көздейді. Қазір NU School of Medicine-де қатерлі ісік жасушаларын зерттейді.</a:t>
            </a:r>
            <a:endParaRPr lang="en-US" sz="1200" dirty="0"/>
          </a:p>
        </p:txBody>
      </p:sp>
      <p:sp>
        <p:nvSpPr>
          <p:cNvPr id="32" name="text-31"/>
          <p:cNvSpPr txBox="1"/>
          <p:nvPr/>
        </p:nvSpPr>
        <p:spPr>
          <a:xfrm rot="48000">
            <a:off x="814420" y="6502422"/>
            <a:ext cx="570788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2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Оқитын мамандығы: молекулалық биология немесе биохимия.</a:t>
            </a:r>
            <a:endParaRPr lang="en-US" sz="1200" dirty="0"/>
          </a:p>
        </p:txBody>
      </p:sp>
      <p:sp>
        <p:nvSpPr>
          <p:cNvPr id="33" name="text-32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34" name="shape-33"/>
          <p:cNvSpPr/>
          <p:nvPr/>
        </p:nvSpPr>
        <p:spPr>
          <a:xfrm>
            <a:off x="5060305" y="7893050"/>
            <a:ext cx="13398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35" name="text-34"/>
          <p:cNvSpPr txBox="1"/>
          <p:nvPr/>
        </p:nvSpPr>
        <p:spPr>
          <a:xfrm>
            <a:off x="520000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ӘРІ ҚАРАЙ</a:t>
            </a:r>
            <a:endParaRPr lang="en-US" sz="1000" dirty="0"/>
          </a:p>
        </p:txBody>
      </p:sp>
      <p:pic>
        <p:nvPicPr>
          <p:cNvPr id="36" name="svg-3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37" name="text-36"/>
          <p:cNvSpPr txBox="1"/>
          <p:nvPr/>
        </p:nvSpPr>
        <p:spPr>
          <a:xfrm>
            <a:off x="457200" y="7303740"/>
            <a:ext cx="63002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соңында бәріне ортақ нәрсе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200" y="406400"/>
            <a:ext cx="18669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7400" y="482600"/>
            <a:ext cx="14942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· ОРТАҚ НЕ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13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1458"/>
            <a:ext cx="63002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Бәріне ортақ </a:t>
            </a:r>
            <a:pPr algn="l" indent="0" marL="0">
              <a:lnSpc>
                <a:spcPts val="4280"/>
              </a:lnSpc>
              <a:buNone/>
            </a:pPr>
            <a:r>
              <a:rPr lang="en-US" sz="48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не</a:t>
            </a:r>
            <a:pPr algn="l" indent="0" marL="0">
              <a:lnSpc>
                <a:spcPts val="4280"/>
              </a:lnSpc>
              <a:buNone/>
            </a:pPr>
            <a:r>
              <a:rPr lang="en-US" sz="4200" b="1" spc="-15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?</a:t>
            </a:r>
            <a:endParaRPr lang="en-US" sz="4200" dirty="0"/>
          </a:p>
        </p:txBody>
      </p:sp>
      <p:sp>
        <p:nvSpPr>
          <p:cNvPr id="7" name="shape-6"/>
          <p:cNvSpPr/>
          <p:nvPr/>
        </p:nvSpPr>
        <p:spPr>
          <a:xfrm rot="-60000">
            <a:off x="457200" y="2032050"/>
            <a:ext cx="5943600" cy="768350"/>
          </a:xfrm>
          <a:prstGeom prst="roundRect">
            <a:avLst>
              <a:gd name="adj" fmla="val 23140"/>
            </a:avLst>
          </a:prstGeom>
          <a:solidFill>
            <a:srgbClr val="0A0A0A"/>
          </a:solidFill>
          <a:ln/>
        </p:spPr>
      </p:sp>
      <p:sp>
        <p:nvSpPr>
          <p:cNvPr id="8" name="text-7"/>
          <p:cNvSpPr txBox="1"/>
          <p:nvPr/>
        </p:nvSpPr>
        <p:spPr>
          <a:xfrm rot="-60000">
            <a:off x="657629" y="2184424"/>
            <a:ext cx="586943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-8"/>
          <p:cNvSpPr txBox="1"/>
          <p:nvPr/>
        </p:nvSpPr>
        <p:spPr>
          <a:xfrm rot="-60000">
            <a:off x="662229" y="2393984"/>
            <a:ext cx="586943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Бір салаға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терең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кірді.</a:t>
            </a:r>
            <a:endParaRPr lang="en-US" sz="1450" dirty="0"/>
          </a:p>
        </p:txBody>
      </p:sp>
      <p:sp>
        <p:nvSpPr>
          <p:cNvPr id="10" name="shape-9"/>
          <p:cNvSpPr/>
          <p:nvPr/>
        </p:nvSpPr>
        <p:spPr>
          <a:xfrm rot="60000">
            <a:off x="457200" y="2902148"/>
            <a:ext cx="5943600" cy="10223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1" name="text-10"/>
          <p:cNvSpPr txBox="1"/>
          <p:nvPr/>
        </p:nvSpPr>
        <p:spPr>
          <a:xfrm rot="60000">
            <a:off x="665389" y="3054493"/>
            <a:ext cx="586943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-11"/>
          <p:cNvSpPr txBox="1"/>
          <p:nvPr/>
        </p:nvSpPr>
        <p:spPr>
          <a:xfrm rot="60000">
            <a:off x="658571" y="3264083"/>
            <a:ext cx="5869432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Жолы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оңай болмаған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: ауру, соғыстан кейінгі ауыл, қызметтен кету.</a:t>
            </a:r>
            <a:endParaRPr lang="en-US" sz="1450" dirty="0"/>
          </a:p>
        </p:txBody>
      </p:sp>
      <p:sp>
        <p:nvSpPr>
          <p:cNvPr id="13" name="shape-12"/>
          <p:cNvSpPr/>
          <p:nvPr/>
        </p:nvSpPr>
        <p:spPr>
          <a:xfrm rot="-60000">
            <a:off x="457200" y="4026297"/>
            <a:ext cx="5943600" cy="1022350"/>
          </a:xfrm>
          <a:prstGeom prst="roundRect">
            <a:avLst>
              <a:gd name="adj" fmla="val 17391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 rot="-60000">
            <a:off x="655411" y="4178641"/>
            <a:ext cx="586943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900" dirty="0"/>
          </a:p>
        </p:txBody>
      </p:sp>
      <p:sp>
        <p:nvSpPr>
          <p:cNvPr id="15" name="text-14"/>
          <p:cNvSpPr txBox="1"/>
          <p:nvPr/>
        </p:nvSpPr>
        <p:spPr>
          <a:xfrm rot="-60000">
            <a:off x="662229" y="4388231"/>
            <a:ext cx="5869432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Білімін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еліне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жұмсады: кен орны, университет, ғылыми институт.</a:t>
            </a:r>
            <a:endParaRPr lang="en-US" sz="1450" dirty="0"/>
          </a:p>
        </p:txBody>
      </p:sp>
      <p:sp>
        <p:nvSpPr>
          <p:cNvPr id="16" name="shape-15"/>
          <p:cNvSpPr/>
          <p:nvPr/>
        </p:nvSpPr>
        <p:spPr>
          <a:xfrm rot="60000">
            <a:off x="457200" y="5150445"/>
            <a:ext cx="5943600" cy="10223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text-16"/>
          <p:cNvSpPr txBox="1"/>
          <p:nvPr/>
        </p:nvSpPr>
        <p:spPr>
          <a:xfrm rot="60000">
            <a:off x="665389" y="5302790"/>
            <a:ext cx="586943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text-17"/>
          <p:cNvSpPr txBox="1"/>
          <p:nvPr/>
        </p:nvSpPr>
        <p:spPr>
          <a:xfrm rot="60000">
            <a:off x="658571" y="5512379"/>
            <a:ext cx="5869432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Бір қызығушылықпен шектелмеді: Бөкетов химиямен қатар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әдебиетті</a:t>
            </a:r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аударды.</a:t>
            </a:r>
            <a:endParaRPr lang="en-US" sz="1450" dirty="0"/>
          </a:p>
        </p:txBody>
      </p:sp>
      <p:sp>
        <p:nvSpPr>
          <p:cNvPr id="19" name="text-18"/>
          <p:cNvSpPr txBox="1"/>
          <p:nvPr/>
        </p:nvSpPr>
        <p:spPr>
          <a:xfrm>
            <a:off x="457200" y="6350000"/>
            <a:ext cx="630021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Ал сенің портфолиоңда не бар?</a:t>
            </a:r>
            <a:endParaRPr lang="en-US" sz="2500" dirty="0"/>
          </a:p>
        </p:txBody>
      </p:sp>
      <p:sp>
        <p:nvSpPr>
          <p:cNvPr id="20" name="text-19"/>
          <p:cNvSpPr txBox="1"/>
          <p:nvPr/>
        </p:nvSpPr>
        <p:spPr>
          <a:xfrm>
            <a:off x="457845" y="80454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1" name="shape-20"/>
          <p:cNvSpPr/>
          <p:nvPr/>
        </p:nvSpPr>
        <p:spPr>
          <a:xfrm rot="-180000">
            <a:off x="455712" y="7048500"/>
            <a:ext cx="2590800" cy="4254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2" name="text-21"/>
          <p:cNvSpPr txBox="1"/>
          <p:nvPr/>
        </p:nvSpPr>
        <p:spPr>
          <a:xfrm rot="-180000">
            <a:off x="620812" y="7137400"/>
            <a:ext cx="23962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пікірге жаз · сақтап қой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i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Я отказался от 170 000 000 ₸</dc:title>
  <dc:subject>PptxGenJS Presentation</dc:subject>
  <dc:creator>PptxGenJS</dc:creator>
  <cp:lastModifiedBy>PptxGenJS</cp:lastModifiedBy>
  <cp:revision>1</cp:revision>
  <dcterms:created xsi:type="dcterms:W3CDTF">2026-10-27T15:54:50Z</dcterms:created>
  <dcterms:modified xsi:type="dcterms:W3CDTF">2026-10-27T15:54:50Z</dcterms:modified>
</cp:coreProperties>
</file>