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image" Target="../media/image-1-7.jpe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ЕЛЕСТЕТІП КӨРЕЙІК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13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3740"/>
            <a:ext cx="6300216" cy="182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45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Ұлы ғұламаларымыз </a:t>
            </a:r>
            <a:pPr algn="l" indent="0" marL="0">
              <a:lnSpc>
                <a:spcPts val="4590"/>
              </a:lnSpc>
              <a:buNone/>
            </a:pPr>
            <a:r>
              <a:rPr lang="en-US" sz="50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біздің жасымызда</a:t>
            </a:r>
            <a:pPr algn="l" indent="0" marL="0">
              <a:lnSpc>
                <a:spcPts val="4590"/>
              </a:lnSpc>
              <a:buNone/>
            </a:pPr>
            <a:r>
              <a:rPr lang="en-US" sz="45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болса...</a:t>
            </a:r>
            <a:endParaRPr lang="en-US" sz="45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904430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Олардың академиялық портфолиосы қандай болар еді: SAT, IELTS, GPA, олимпиада? Қай мамандыққа оқыр еді?</a:t>
            </a:r>
            <a:endParaRPr lang="en-US" sz="1500" dirty="0"/>
          </a:p>
        </p:txBody>
      </p:sp>
      <p:pic>
        <p:nvPicPr>
          <p:cNvPr id="8" name="img-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10000"/>
            <a:ext cx="520700" cy="520700"/>
          </a:xfrm>
          <a:prstGeom prst="rect">
            <a:avLst/>
          </a:prstGeom>
        </p:spPr>
      </p:pic>
      <p:sp>
        <p:nvSpPr>
          <p:cNvPr id="9" name="text-8"/>
          <p:cNvSpPr txBox="1"/>
          <p:nvPr/>
        </p:nvSpPr>
        <p:spPr>
          <a:xfrm>
            <a:off x="1880791" y="3835400"/>
            <a:ext cx="185775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500" i="1" dirty="0">
                <a:solidFill>
                  <a:srgbClr val="9C4F2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Сәтбаев</a:t>
            </a:r>
            <a:endParaRPr lang="en-US" sz="3500" dirty="0"/>
          </a:p>
        </p:txBody>
      </p:sp>
      <p:pic>
        <p:nvPicPr>
          <p:cNvPr id="10" name="img-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406900"/>
            <a:ext cx="520700" cy="520700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>
            <a:off x="2641501" y="4432300"/>
            <a:ext cx="232219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500" i="1" dirty="0">
                <a:solidFill>
                  <a:srgbClr val="1B6676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Уәлиханов</a:t>
            </a:r>
            <a:endParaRPr lang="en-US" sz="3500" dirty="0"/>
          </a:p>
        </p:txBody>
      </p:sp>
      <p:pic>
        <p:nvPicPr>
          <p:cNvPr id="12" name="img-1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03800"/>
            <a:ext cx="520700" cy="520700"/>
          </a:xfrm>
          <a:prstGeom prst="rect">
            <a:avLst/>
          </a:prstGeom>
        </p:spPr>
      </p:pic>
      <p:sp>
        <p:nvSpPr>
          <p:cNvPr id="13" name="text-12"/>
          <p:cNvSpPr txBox="1"/>
          <p:nvPr/>
        </p:nvSpPr>
        <p:spPr>
          <a:xfrm>
            <a:off x="1880939" y="5029200"/>
            <a:ext cx="188468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500" i="1" dirty="0">
                <a:solidFill>
                  <a:srgbClr val="5B2E91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Бөкетов</a:t>
            </a:r>
            <a:endParaRPr lang="en-US" sz="3500" dirty="0"/>
          </a:p>
        </p:txBody>
      </p:sp>
      <p:pic>
        <p:nvPicPr>
          <p:cNvPr id="14" name="img-1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5600700"/>
            <a:ext cx="520700" cy="520700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>
            <a:off x="2640112" y="5626100"/>
            <a:ext cx="2941447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500" i="1" dirty="0">
                <a:solidFill>
                  <a:srgbClr val="2338A0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Сұлтанғазин</a:t>
            </a:r>
            <a:endParaRPr lang="en-US" sz="3500" dirty="0"/>
          </a:p>
        </p:txBody>
      </p:sp>
      <p:pic>
        <p:nvPicPr>
          <p:cNvPr id="16" name="img-1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197600"/>
            <a:ext cx="520700" cy="520700"/>
          </a:xfrm>
          <a:prstGeom prst="rect">
            <a:avLst/>
          </a:prstGeom>
        </p:spPr>
      </p:pic>
      <p:sp>
        <p:nvSpPr>
          <p:cNvPr id="17" name="text-16"/>
          <p:cNvSpPr txBox="1"/>
          <p:nvPr/>
        </p:nvSpPr>
        <p:spPr>
          <a:xfrm>
            <a:off x="1879749" y="6223000"/>
            <a:ext cx="243662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500" i="1" dirty="0">
                <a:solidFill>
                  <a:srgbClr val="2F7A3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Айтхожин</a:t>
            </a:r>
            <a:endParaRPr lang="en-US" sz="3500" dirty="0"/>
          </a:p>
        </p:txBody>
      </p:sp>
      <p:sp>
        <p:nvSpPr>
          <p:cNvPr id="18" name="text-17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9" name="shape-18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0" name="text-19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2" name="shape-21"/>
          <p:cNvSpPr/>
          <p:nvPr/>
        </p:nvSpPr>
        <p:spPr>
          <a:xfrm rot="360000">
            <a:off x="4567138" y="4064000"/>
            <a:ext cx="184785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3" name="text-22"/>
          <p:cNvSpPr txBox="1"/>
          <p:nvPr/>
        </p:nvSpPr>
        <p:spPr>
          <a:xfrm rot="360000">
            <a:off x="4719538" y="4152900"/>
            <a:ext cx="16356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 ғалым · 5 сала</a:t>
            </a:r>
            <a:endParaRPr lang="en-US" sz="1500" dirty="0"/>
          </a:p>
        </p:txBody>
      </p:sp>
      <p:sp>
        <p:nvSpPr>
          <p:cNvPr id="24" name="text-23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алдымен посттың ережесі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15875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1198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ЕРЕЖЕ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13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Посттың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ережесі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Әр ғалымға екі слайд. Біріншісінде шын өмірі, екіншісінде 2026 жылғы портфолиосы.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72000">
            <a:off x="457200" y="2858691"/>
            <a:ext cx="5943600" cy="11493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52000">
            <a:off x="2941222" y="274332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72000">
            <a:off x="718423" y="3098857"/>
            <a:ext cx="573481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ШЫН ӨМІР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72000">
            <a:off x="726493" y="3309513"/>
            <a:ext cx="57348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Тексерілген деректер, қызық фактілер және өмірінде оңай болмаған кезеңдер.</a:t>
            </a:r>
            <a:endParaRPr lang="en-US" sz="1400" dirty="0"/>
          </a:p>
        </p:txBody>
      </p:sp>
      <p:sp>
        <p:nvSpPr>
          <p:cNvPr id="12" name="shape-11"/>
          <p:cNvSpPr/>
          <p:nvPr/>
        </p:nvSpPr>
        <p:spPr>
          <a:xfrm rot="72000">
            <a:off x="457200" y="4572149"/>
            <a:ext cx="5943600" cy="1377950"/>
          </a:xfrm>
          <a:prstGeom prst="roundRect">
            <a:avLst>
              <a:gd name="adj" fmla="val 12903"/>
            </a:avLst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 rot="72000">
            <a:off x="707147" y="4775290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ЖЫЛ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72000">
            <a:off x="696306" y="4984876"/>
            <a:ext cx="57886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Біздің болжамымыз. SAT, IELTS, GPA сандары ойдан алынған, бірақ әрқайсысын шын өмірбаянынан шығардық. Ешкім мінсіз емес.</a:t>
            </a:r>
            <a:endParaRPr lang="en-US" sz="1450" dirty="0"/>
          </a:p>
        </p:txBody>
      </p:sp>
      <p:sp>
        <p:nvSpPr>
          <p:cNvPr id="15" name="text-14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6" name="shape-15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бірінші кейіпкер жер астын зерттеген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9C4F22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14942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9C4F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1899 · ГЕОЛОГИЯ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9C4F22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3591"/>
            <a:ext cx="4092448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Қаныш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9C4F2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Сәтбаев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48000">
            <a:off x="457200" y="3176389"/>
            <a:ext cx="5943600" cy="1498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28000">
            <a:off x="2942623" y="306077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48000">
            <a:off x="653243" y="3340150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ШЫН ӨМІРДЕ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48000">
            <a:off x="836084" y="3548772"/>
            <a:ext cx="5680964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Томск технологиялық институтын тау-кен инженер-геологы ретінде бітірген.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 rot="-48000">
            <a:off x="843241" y="4061286"/>
            <a:ext cx="5680964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Жезқазған кен орнын зерттеген. Қазақ КСР Ғылым академиясының тұңғыш президенті болған.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48000">
            <a:off x="457200" y="4814888"/>
            <a:ext cx="5943600" cy="1212850"/>
          </a:xfrm>
          <a:prstGeom prst="roundRect">
            <a:avLst>
              <a:gd name="adj" fmla="val 13613"/>
            </a:avLst>
          </a:prstGeom>
          <a:solidFill>
            <a:srgbClr val="FAF8F3"/>
          </a:solidFill>
          <a:ln w="12700">
            <a:solidFill>
              <a:srgbClr val="9C4F22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48000">
            <a:off x="678226" y="4981214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9C4F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ҚЫЗЫҚ ДЕРЕК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48000">
            <a:off x="671726" y="5176828"/>
            <a:ext cx="58425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1921 жылы туберкулезбен ауырып жүргенде ауылға емделуге келген геолог Михаил Усовпен танысады. Сол кездесу оны Томскіге, геологияға алып келеді.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6165453"/>
            <a:ext cx="5943600" cy="933450"/>
          </a:xfrm>
          <a:prstGeom prst="roundRect">
            <a:avLst>
              <a:gd name="adj" fmla="val 17687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657749" y="6305961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ОҢАЙ БОЛМАҒАН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661431" y="6501998"/>
            <a:ext cx="586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1952 жылы академия президенті қызметінен кетеді. 1955 жылы ғана қайта сайланады.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0" name="shape-1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3" name="shape-22"/>
          <p:cNvSpPr/>
          <p:nvPr/>
        </p:nvSpPr>
        <p:spPr>
          <a:xfrm rot="240000">
            <a:off x="4660900" y="950913"/>
            <a:ext cx="1714500" cy="2349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shape-23"/>
          <p:cNvSpPr/>
          <p:nvPr/>
        </p:nvSpPr>
        <p:spPr>
          <a:xfrm rot="60000">
            <a:off x="5121964" y="840996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5" name="im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745516" y="1027406"/>
            <a:ext cx="1562100" cy="19558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240000">
            <a:off x="4557177" y="30043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1899–1964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 жылы оның портфолиосы қандай болар еді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17716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9C4F22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393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9C4F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СӘТБАЕВ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9C4F22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1458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Сәтбаев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9C4F2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90000">
            <a:off x="458143" y="2286000"/>
            <a:ext cx="2311400" cy="1117600"/>
          </a:xfrm>
          <a:prstGeom prst="roundRect">
            <a:avLst>
              <a:gd name="adj" fmla="val 13636"/>
            </a:avLst>
          </a:prstGeom>
          <a:solidFill>
            <a:srgbClr val="9C4F22"/>
          </a:solidFill>
          <a:ln/>
        </p:spPr>
      </p:sp>
      <p:sp>
        <p:nvSpPr>
          <p:cNvPr id="9" name="text-8"/>
          <p:cNvSpPr txBox="1"/>
          <p:nvPr/>
        </p:nvSpPr>
        <p:spPr>
          <a:xfrm rot="-90000">
            <a:off x="588783" y="2425819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598009" y="2609848"/>
            <a:ext cx="2153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1430</a:t>
            </a:r>
            <a:endParaRPr lang="en-US" sz="3800" dirty="0"/>
          </a:p>
        </p:txBody>
      </p:sp>
      <p:sp>
        <p:nvSpPr>
          <p:cNvPr id="11" name="text-10"/>
          <p:cNvSpPr txBox="1"/>
          <p:nvPr/>
        </p:nvSpPr>
        <p:spPr>
          <a:xfrm rot="-90000">
            <a:off x="607234" y="3130427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Math 770 · RW 660</a:t>
            </a:r>
            <a:endParaRPr lang="en-US" sz="900" dirty="0"/>
          </a:p>
        </p:txBody>
      </p:sp>
      <p:sp>
        <p:nvSpPr>
          <p:cNvPr id="12" name="shape-11"/>
          <p:cNvSpPr/>
          <p:nvPr/>
        </p:nvSpPr>
        <p:spPr>
          <a:xfrm rot="60000">
            <a:off x="2871589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9C4F22"/>
          </a:solidFill>
          <a:ln/>
        </p:spPr>
      </p:sp>
      <p:sp>
        <p:nvSpPr>
          <p:cNvPr id="13" name="text-12"/>
          <p:cNvSpPr txBox="1"/>
          <p:nvPr/>
        </p:nvSpPr>
        <p:spPr>
          <a:xfrm rot="60000">
            <a:off x="3017329" y="2425753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IELTS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60000">
            <a:off x="3011178" y="2609849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6.5</a:t>
            </a:r>
            <a:endParaRPr lang="en-US" sz="3800" dirty="0"/>
          </a:p>
        </p:txBody>
      </p:sp>
      <p:sp>
        <p:nvSpPr>
          <p:cNvPr id="15" name="text-14"/>
          <p:cNvSpPr txBox="1"/>
          <p:nvPr/>
        </p:nvSpPr>
        <p:spPr>
          <a:xfrm rot="60000">
            <a:off x="3005028" y="3130495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Academic</a:t>
            </a:r>
            <a:endParaRPr lang="en-US" sz="900" dirty="0"/>
          </a:p>
        </p:txBody>
      </p:sp>
      <p:sp>
        <p:nvSpPr>
          <p:cNvPr id="16" name="shape-15"/>
          <p:cNvSpPr/>
          <p:nvPr/>
        </p:nvSpPr>
        <p:spPr>
          <a:xfrm rot="-36000">
            <a:off x="4686746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9C4F22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4822822" y="2425719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GPA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4826513" y="2609850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4.6</a:t>
            </a:r>
            <a:endParaRPr lang="en-US" sz="38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4830203" y="3130530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баллдық жүйе</a:t>
            </a:r>
            <a:endParaRPr lang="en-US" sz="900" dirty="0"/>
          </a:p>
        </p:txBody>
      </p:sp>
      <p:sp>
        <p:nvSpPr>
          <p:cNvPr id="20" name="text-19"/>
          <p:cNvSpPr txBox="1"/>
          <p:nvPr/>
        </p:nvSpPr>
        <p:spPr>
          <a:xfrm rot="-60000">
            <a:off x="457200" y="3935710"/>
            <a:ext cx="630021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Орыс тілін мектепте үйренген, ағылшыны әлсіздеу болар еді. Есесіне математикасы мықты.</a:t>
            </a:r>
            <a:endParaRPr lang="en-US" sz="1700" dirty="0"/>
          </a:p>
        </p:txBody>
      </p:sp>
      <p:sp>
        <p:nvSpPr>
          <p:cNvPr id="21" name="shape-20"/>
          <p:cNvSpPr/>
          <p:nvPr/>
        </p:nvSpPr>
        <p:spPr>
          <a:xfrm rot="48000">
            <a:off x="457200" y="5208389"/>
            <a:ext cx="5943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shape-21"/>
          <p:cNvSpPr/>
          <p:nvPr/>
        </p:nvSpPr>
        <p:spPr>
          <a:xfrm rot="-432000">
            <a:off x="5712179" y="5052035"/>
            <a:ext cx="533400" cy="533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9C4F22"/>
            </a:solidFill>
            <a:prstDash val="solid"/>
          </a:ln>
        </p:spPr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32000">
            <a:off x="5832829" y="5172685"/>
            <a:ext cx="292100" cy="2921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 rot="48000">
            <a:off x="680788" y="5384854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ПОРТФОЛИО · 17 ЖАС</a:t>
            </a:r>
            <a:endParaRPr lang="en-US" sz="9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">
            <a:off x="677723" y="5563582"/>
            <a:ext cx="190500" cy="1905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48000">
            <a:off x="929558" y="5564917"/>
            <a:ext cx="533095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Халықаралық жер туралы ғылымдар олимпиадасы (IESO): қола медаль.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 rot="48000">
            <a:off x="847958" y="6108035"/>
            <a:ext cx="56540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Туған өлкенің кен орындарының картасы: жеке зерттеу жобасы.</a:t>
            </a:r>
            <a:endParaRPr lang="en-US" sz="1300" dirty="0"/>
          </a:p>
        </p:txBody>
      </p:sp>
      <p:sp>
        <p:nvSpPr>
          <p:cNvPr id="28" name="text-27"/>
          <p:cNvSpPr txBox="1"/>
          <p:nvPr/>
        </p:nvSpPr>
        <p:spPr>
          <a:xfrm rot="48000">
            <a:off x="843937" y="6396038"/>
            <a:ext cx="56540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Оқитын мамандығы: тау-кен немесе геологиялық инженерия.</a:t>
            </a:r>
            <a:endParaRPr lang="en-US" sz="1300" dirty="0"/>
          </a:p>
        </p:txBody>
      </p:sp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33" name="text-32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екіншісі 23 жасқа толмай Қашғарға барған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1B6676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1B66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1835 · ТАРИХ, ЭТНОГРАФИЯ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1B6676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3591"/>
            <a:ext cx="4092448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Шоқан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1B6676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Уәлиханов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48000">
            <a:off x="457200" y="3176389"/>
            <a:ext cx="5943600" cy="1498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28000">
            <a:off x="2942623" y="306077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48000">
            <a:off x="653243" y="3340150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ШЫН ӨМІРДЕ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48000">
            <a:off x="834517" y="3550817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1853 жылы Омбы кадет корпусын бітірген.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 rot="-48000">
            <a:off x="841674" y="3837906"/>
            <a:ext cx="5680964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1858–1859 жылдары көпес кейпінде Қашғарға барып, Шығыс Түркістан туралы материал жинаған. «Манас» жырының бір бөлігін алғаш жазып алған.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48000">
            <a:off x="457200" y="4815284"/>
            <a:ext cx="5943600" cy="984250"/>
          </a:xfrm>
          <a:prstGeom prst="roundRect">
            <a:avLst>
              <a:gd name="adj" fmla="val 16774"/>
            </a:avLst>
          </a:prstGeom>
          <a:solidFill>
            <a:srgbClr val="FAF8F3"/>
          </a:solidFill>
          <a:ln w="12700">
            <a:solidFill>
              <a:srgbClr val="1B6676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48000">
            <a:off x="676635" y="4981203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1B66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ҚЫЗЫҚ ДЕРЕК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48000">
            <a:off x="671726" y="5177225"/>
            <a:ext cx="584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Шын аты Мұхаммед-Қанафия, Шоқан бала кездегі есімі. Достоевскиймен дос болған, жазушы оны «бауырым» деп атаған.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5938044"/>
            <a:ext cx="5943600" cy="704850"/>
          </a:xfrm>
          <a:prstGeom prst="roundRect">
            <a:avLst>
              <a:gd name="adj" fmla="val 23423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658941" y="6078148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ОҢАЙ БОЛМАҒАН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661431" y="6274588"/>
            <a:ext cx="586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1865 жылы, 30 жасқа толмай қайтыс болған.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0" name="shape-1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3" name="shape-22"/>
          <p:cNvSpPr/>
          <p:nvPr/>
        </p:nvSpPr>
        <p:spPr>
          <a:xfrm rot="240000">
            <a:off x="4660900" y="950913"/>
            <a:ext cx="1714500" cy="2349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shape-23"/>
          <p:cNvSpPr/>
          <p:nvPr/>
        </p:nvSpPr>
        <p:spPr>
          <a:xfrm rot="60000">
            <a:off x="5121964" y="840996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5" name="im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745516" y="1027406"/>
            <a:ext cx="1562100" cy="19558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240000">
            <a:off x="4557177" y="30043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1835–1865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 жылы оның портфолиосы қандай болар еді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19621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1B6676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159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1B66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УӘЛИХАНОВ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1B6676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1458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Уәлиханов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1B6676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90000">
            <a:off x="458143" y="2286000"/>
            <a:ext cx="2311400" cy="1117600"/>
          </a:xfrm>
          <a:prstGeom prst="roundRect">
            <a:avLst>
              <a:gd name="adj" fmla="val 13636"/>
            </a:avLst>
          </a:prstGeom>
          <a:solidFill>
            <a:srgbClr val="1B6676"/>
          </a:solidFill>
          <a:ln/>
        </p:spPr>
      </p:sp>
      <p:sp>
        <p:nvSpPr>
          <p:cNvPr id="9" name="text-8"/>
          <p:cNvSpPr txBox="1"/>
          <p:nvPr/>
        </p:nvSpPr>
        <p:spPr>
          <a:xfrm rot="-90000">
            <a:off x="588783" y="2425819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598009" y="2609848"/>
            <a:ext cx="2153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1450</a:t>
            </a:r>
            <a:endParaRPr lang="en-US" sz="3800" dirty="0"/>
          </a:p>
        </p:txBody>
      </p:sp>
      <p:sp>
        <p:nvSpPr>
          <p:cNvPr id="11" name="text-10"/>
          <p:cNvSpPr txBox="1"/>
          <p:nvPr/>
        </p:nvSpPr>
        <p:spPr>
          <a:xfrm rot="-90000">
            <a:off x="607234" y="3130427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RW 770 · Math 680</a:t>
            </a:r>
            <a:endParaRPr lang="en-US" sz="900" dirty="0"/>
          </a:p>
        </p:txBody>
      </p:sp>
      <p:sp>
        <p:nvSpPr>
          <p:cNvPr id="12" name="shape-11"/>
          <p:cNvSpPr/>
          <p:nvPr/>
        </p:nvSpPr>
        <p:spPr>
          <a:xfrm rot="60000">
            <a:off x="2871589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1B6676"/>
          </a:solidFill>
          <a:ln/>
        </p:spPr>
      </p:sp>
      <p:sp>
        <p:nvSpPr>
          <p:cNvPr id="13" name="text-12"/>
          <p:cNvSpPr txBox="1"/>
          <p:nvPr/>
        </p:nvSpPr>
        <p:spPr>
          <a:xfrm rot="60000">
            <a:off x="3017329" y="2425753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IELTS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60000">
            <a:off x="3011178" y="2609849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8.0</a:t>
            </a:r>
            <a:endParaRPr lang="en-US" sz="3800" dirty="0"/>
          </a:p>
        </p:txBody>
      </p:sp>
      <p:sp>
        <p:nvSpPr>
          <p:cNvPr id="15" name="text-14"/>
          <p:cNvSpPr txBox="1"/>
          <p:nvPr/>
        </p:nvSpPr>
        <p:spPr>
          <a:xfrm rot="60000">
            <a:off x="3005028" y="3130495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Academic</a:t>
            </a:r>
            <a:endParaRPr lang="en-US" sz="900" dirty="0"/>
          </a:p>
        </p:txBody>
      </p:sp>
      <p:sp>
        <p:nvSpPr>
          <p:cNvPr id="16" name="shape-15"/>
          <p:cNvSpPr/>
          <p:nvPr/>
        </p:nvSpPr>
        <p:spPr>
          <a:xfrm rot="-36000">
            <a:off x="4686746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1B6676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4822822" y="2425719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GPA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4826513" y="2609850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4.4</a:t>
            </a:r>
            <a:endParaRPr lang="en-US" sz="38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4830203" y="3130530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баллдық жүйе</a:t>
            </a:r>
            <a:endParaRPr lang="en-US" sz="900" dirty="0"/>
          </a:p>
        </p:txBody>
      </p:sp>
      <p:sp>
        <p:nvSpPr>
          <p:cNvPr id="20" name="text-19"/>
          <p:cNvSpPr txBox="1"/>
          <p:nvPr/>
        </p:nvSpPr>
        <p:spPr>
          <a:xfrm rot="-60000">
            <a:off x="457200" y="3935710"/>
            <a:ext cx="630021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Тілдерге бейім. Дәл ғылымдардан гөрі тарих пен саяхатты жақсы көрер еді.</a:t>
            </a:r>
            <a:endParaRPr lang="en-US" sz="1700" dirty="0"/>
          </a:p>
        </p:txBody>
      </p:sp>
      <p:sp>
        <p:nvSpPr>
          <p:cNvPr id="21" name="shape-20"/>
          <p:cNvSpPr/>
          <p:nvPr/>
        </p:nvSpPr>
        <p:spPr>
          <a:xfrm rot="48000">
            <a:off x="457200" y="5208389"/>
            <a:ext cx="5943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shape-21"/>
          <p:cNvSpPr/>
          <p:nvPr/>
        </p:nvSpPr>
        <p:spPr>
          <a:xfrm rot="-432000">
            <a:off x="5712179" y="5052035"/>
            <a:ext cx="533400" cy="533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1B6676"/>
            </a:solidFill>
            <a:prstDash val="solid"/>
          </a:ln>
        </p:spPr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32000">
            <a:off x="5832829" y="5172685"/>
            <a:ext cx="292100" cy="2921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 rot="48000">
            <a:off x="680788" y="5384854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ПОРТФОЛИО · 17 ЖАС</a:t>
            </a:r>
            <a:endParaRPr lang="en-US" sz="9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">
            <a:off x="677723" y="5563582"/>
            <a:ext cx="190500" cy="1905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48000">
            <a:off x="931735" y="5592478"/>
            <a:ext cx="50145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Халықаралық география олимпиадасы (iGeo): күміс медаль.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 rot="48000">
            <a:off x="851093" y="5883524"/>
            <a:ext cx="56540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Қазақ және қырғыз ауыз әдебиетін жинайтын подкаст.</a:t>
            </a:r>
            <a:endParaRPr lang="en-US" sz="1300" dirty="0"/>
          </a:p>
        </p:txBody>
      </p:sp>
      <p:sp>
        <p:nvSpPr>
          <p:cNvPr id="28" name="text-27"/>
          <p:cNvSpPr txBox="1"/>
          <p:nvPr/>
        </p:nvSpPr>
        <p:spPr>
          <a:xfrm rot="48000">
            <a:off x="845504" y="6169483"/>
            <a:ext cx="5654040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Оқитын мамандығы: антропология немесе Орталық Азияны зерттеу.</a:t>
            </a:r>
            <a:endParaRPr lang="en-US" sz="1300" dirty="0"/>
          </a:p>
        </p:txBody>
      </p:sp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33" name="text-32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үшіншісі химия мен әдебиетті қатар алып жүрген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28067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B2E91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2490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5B2E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1925 · ХИМИЯ, МЕТАЛЛУРГИЯ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5B2E91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3591"/>
            <a:ext cx="4092448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Евней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5B2E91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Бөкетов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48000">
            <a:off x="457200" y="3176389"/>
            <a:ext cx="5943600" cy="1498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28000">
            <a:off x="2942623" y="306077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48000">
            <a:off x="653243" y="3340150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ШЫН ӨМІРДЕ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48000">
            <a:off x="836084" y="3548772"/>
            <a:ext cx="5680964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Химик-металлург, академик, КСРО Мемлекеттік сыйлығының лауреаты (1969).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 rot="-48000">
            <a:off x="843241" y="4061286"/>
            <a:ext cx="5680964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Қарағанды мемлекеттік университетінің тұңғыш ректоры, Сәтбаевтың шәкірті.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48000">
            <a:off x="457200" y="4814888"/>
            <a:ext cx="5943600" cy="1212850"/>
          </a:xfrm>
          <a:prstGeom prst="roundRect">
            <a:avLst>
              <a:gd name="adj" fmla="val 13613"/>
            </a:avLst>
          </a:prstGeom>
          <a:solidFill>
            <a:srgbClr val="FAF8F3"/>
          </a:solidFill>
          <a:ln w="12700">
            <a:solidFill>
              <a:srgbClr val="5B2E91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48000">
            <a:off x="678226" y="4981214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B2E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ҚЫЗЫҚ ДЕРЕК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48000">
            <a:off x="671726" y="5176828"/>
            <a:ext cx="58425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Мектепте 7–8-сыныпта Пушкиннің «Тас қонақ» трагедиясын сахнаға қойып, Дон Гуанды өзі ойнаған. Кейін әлем әдебиетін қазақ тіліне аударған.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6165453"/>
            <a:ext cx="5943600" cy="933450"/>
          </a:xfrm>
          <a:prstGeom prst="roundRect">
            <a:avLst>
              <a:gd name="adj" fmla="val 17687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657749" y="6305961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БАСҚАША ЖОЛ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661431" y="6501998"/>
            <a:ext cx="586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Аттестатты мектепті жай бітіріп емес, экстернмен емтихан тапсырып алған.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0" name="shape-1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3" name="shape-22"/>
          <p:cNvSpPr/>
          <p:nvPr/>
        </p:nvSpPr>
        <p:spPr>
          <a:xfrm rot="240000">
            <a:off x="4660900" y="950913"/>
            <a:ext cx="1714500" cy="2349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shape-23"/>
          <p:cNvSpPr/>
          <p:nvPr/>
        </p:nvSpPr>
        <p:spPr>
          <a:xfrm rot="60000">
            <a:off x="5121964" y="840996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5" name="im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745516" y="1027406"/>
            <a:ext cx="1562100" cy="19558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240000">
            <a:off x="4557177" y="30043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1925–1983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 жылы оның портфолиосы қандай болар еді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17716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B2E91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393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5B2E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БӨКЕТОВ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5B2E91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1458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Бөкетов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5B2E91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90000">
            <a:off x="458143" y="2286000"/>
            <a:ext cx="2311400" cy="1117600"/>
          </a:xfrm>
          <a:prstGeom prst="roundRect">
            <a:avLst>
              <a:gd name="adj" fmla="val 13636"/>
            </a:avLst>
          </a:prstGeom>
          <a:solidFill>
            <a:srgbClr val="5B2E91"/>
          </a:solidFill>
          <a:ln/>
        </p:spPr>
      </p:sp>
      <p:sp>
        <p:nvSpPr>
          <p:cNvPr id="9" name="text-8"/>
          <p:cNvSpPr txBox="1"/>
          <p:nvPr/>
        </p:nvSpPr>
        <p:spPr>
          <a:xfrm rot="-90000">
            <a:off x="588783" y="2425819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598009" y="2609848"/>
            <a:ext cx="2153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1510</a:t>
            </a:r>
            <a:endParaRPr lang="en-US" sz="3800" dirty="0"/>
          </a:p>
        </p:txBody>
      </p:sp>
      <p:sp>
        <p:nvSpPr>
          <p:cNvPr id="11" name="text-10"/>
          <p:cNvSpPr txBox="1"/>
          <p:nvPr/>
        </p:nvSpPr>
        <p:spPr>
          <a:xfrm rot="-90000">
            <a:off x="607234" y="3130427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Math 770 · RW 740</a:t>
            </a:r>
            <a:endParaRPr lang="en-US" sz="900" dirty="0"/>
          </a:p>
        </p:txBody>
      </p:sp>
      <p:sp>
        <p:nvSpPr>
          <p:cNvPr id="12" name="shape-11"/>
          <p:cNvSpPr/>
          <p:nvPr/>
        </p:nvSpPr>
        <p:spPr>
          <a:xfrm rot="60000">
            <a:off x="2871589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5B2E91"/>
          </a:solidFill>
          <a:ln/>
        </p:spPr>
      </p:sp>
      <p:sp>
        <p:nvSpPr>
          <p:cNvPr id="13" name="text-12"/>
          <p:cNvSpPr txBox="1"/>
          <p:nvPr/>
        </p:nvSpPr>
        <p:spPr>
          <a:xfrm rot="60000">
            <a:off x="3017329" y="2425753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IELTS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60000">
            <a:off x="3011178" y="2609849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7.5</a:t>
            </a:r>
            <a:endParaRPr lang="en-US" sz="3800" dirty="0"/>
          </a:p>
        </p:txBody>
      </p:sp>
      <p:sp>
        <p:nvSpPr>
          <p:cNvPr id="15" name="text-14"/>
          <p:cNvSpPr txBox="1"/>
          <p:nvPr/>
        </p:nvSpPr>
        <p:spPr>
          <a:xfrm rot="60000">
            <a:off x="3005028" y="3130495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Academic</a:t>
            </a:r>
            <a:endParaRPr lang="en-US" sz="900" dirty="0"/>
          </a:p>
        </p:txBody>
      </p:sp>
      <p:sp>
        <p:nvSpPr>
          <p:cNvPr id="16" name="shape-15"/>
          <p:cNvSpPr/>
          <p:nvPr/>
        </p:nvSpPr>
        <p:spPr>
          <a:xfrm rot="-36000">
            <a:off x="4686746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5B2E91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4822822" y="2425719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GPA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4826513" y="2609850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4.8</a:t>
            </a:r>
            <a:endParaRPr lang="en-US" sz="38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4830203" y="3130530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баллдық жүйе</a:t>
            </a:r>
            <a:endParaRPr lang="en-US" sz="900" dirty="0"/>
          </a:p>
        </p:txBody>
      </p:sp>
      <p:sp>
        <p:nvSpPr>
          <p:cNvPr id="20" name="text-19"/>
          <p:cNvSpPr txBox="1"/>
          <p:nvPr/>
        </p:nvSpPr>
        <p:spPr>
          <a:xfrm rot="-60000">
            <a:off x="457200" y="3935710"/>
            <a:ext cx="630021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Химиямен қатар әдебиетті сүйген адамның екі секциясы да мықты болар еді.</a:t>
            </a:r>
            <a:endParaRPr lang="en-US" sz="1700" dirty="0"/>
          </a:p>
        </p:txBody>
      </p:sp>
      <p:sp>
        <p:nvSpPr>
          <p:cNvPr id="21" name="shape-20"/>
          <p:cNvSpPr/>
          <p:nvPr/>
        </p:nvSpPr>
        <p:spPr>
          <a:xfrm rot="48000">
            <a:off x="457200" y="5208389"/>
            <a:ext cx="5943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shape-21"/>
          <p:cNvSpPr/>
          <p:nvPr/>
        </p:nvSpPr>
        <p:spPr>
          <a:xfrm rot="-432000">
            <a:off x="5712179" y="5052035"/>
            <a:ext cx="533400" cy="533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5B2E91"/>
            </a:solidFill>
            <a:prstDash val="solid"/>
          </a:ln>
        </p:spPr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32000">
            <a:off x="5832829" y="5172685"/>
            <a:ext cx="292100" cy="2921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 rot="48000">
            <a:off x="680788" y="5384854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ПОРТФОЛИО · 17 ЖАС</a:t>
            </a:r>
            <a:endParaRPr lang="en-US" sz="9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">
            <a:off x="677723" y="5563582"/>
            <a:ext cx="190500" cy="1905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48000">
            <a:off x="932243" y="5590801"/>
            <a:ext cx="475881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Халықаралық химия олимпиадасы (IChO): алтын медаль.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 rot="48000">
            <a:off x="851093" y="5883524"/>
            <a:ext cx="56540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Металлургия бойынша зерттеу жобасымен ISEF жеңімпазы.</a:t>
            </a:r>
            <a:endParaRPr lang="en-US" sz="1300" dirty="0"/>
          </a:p>
        </p:txBody>
      </p:sp>
      <p:sp>
        <p:nvSpPr>
          <p:cNvPr id="28" name="text-27"/>
          <p:cNvSpPr txBox="1"/>
          <p:nvPr/>
        </p:nvSpPr>
        <p:spPr>
          <a:xfrm rot="48000">
            <a:off x="845504" y="6169483"/>
            <a:ext cx="5654040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Оқитын мамандығы: химиялық инженерия немесе материалтану.</a:t>
            </a:r>
            <a:endParaRPr lang="en-US" sz="1300" dirty="0"/>
          </a:p>
        </p:txBody>
      </p:sp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33" name="text-32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төртіншісі математиканы ғарышқа шығарған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2338A0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2338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1936 · МАТЕМАТИКА, ҒАРЫШ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2338A0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2302"/>
            <a:ext cx="4092448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70"/>
              </a:lnSpc>
              <a:buNone/>
            </a:pPr>
            <a:r>
              <a:rPr lang="en-US" sz="3700" b="1" spc="-13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Өмірзақ </a:t>
            </a:r>
            <a:pPr algn="l" indent="0" marL="0">
              <a:lnSpc>
                <a:spcPts val="3770"/>
              </a:lnSpc>
              <a:buNone/>
            </a:pPr>
            <a:r>
              <a:rPr lang="en-US" sz="4000" i="1" spc="-80" kern="0" dirty="0">
                <a:solidFill>
                  <a:srgbClr val="2338A0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Сұлтанғазин</a:t>
            </a:r>
            <a:endParaRPr lang="en-US" sz="3700" dirty="0"/>
          </a:p>
        </p:txBody>
      </p:sp>
      <p:sp>
        <p:nvSpPr>
          <p:cNvPr id="8" name="shape-7"/>
          <p:cNvSpPr/>
          <p:nvPr/>
        </p:nvSpPr>
        <p:spPr>
          <a:xfrm rot="-48000">
            <a:off x="457200" y="3175248"/>
            <a:ext cx="5943600" cy="12763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28000">
            <a:off x="2944191" y="306076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48000">
            <a:off x="654811" y="3340139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ШЫН ӨМІРДЕ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48000">
            <a:off x="836085" y="3550806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ҚазМУ-дың механика-математика факультетін бітірген.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 rot="-48000">
            <a:off x="841674" y="3836765"/>
            <a:ext cx="5680964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1988–1994 жылдары Ғылым академиясының президенті, 1991 жылдан Ғарыштық зерттеулер институтының директоры.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48000">
            <a:off x="457200" y="4589959"/>
            <a:ext cx="5943600" cy="1441450"/>
          </a:xfrm>
          <a:prstGeom prst="roundRect">
            <a:avLst>
              <a:gd name="adj" fmla="val 11454"/>
            </a:avLst>
          </a:prstGeom>
          <a:solidFill>
            <a:srgbClr val="FAF8F3"/>
          </a:solidFill>
          <a:ln w="12700">
            <a:solidFill>
              <a:srgbClr val="2338A0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48000">
            <a:off x="679816" y="4756693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2338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ҚЫЗЫҚ ДЕРЕК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48000">
            <a:off x="671726" y="4951899"/>
            <a:ext cx="58425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Қараоба ауылының мектебінде мұғалімі, Берлин түбінде ауыр жараланған майдангер Мырзағали Қарсақбаев, қабілетті оқушылармен сабақтан кейін есеп шығарған. Сол мектептен 5 академик шыққан.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6168727"/>
            <a:ext cx="5943600" cy="933450"/>
          </a:xfrm>
          <a:prstGeom prst="roundRect">
            <a:avLst>
              <a:gd name="adj" fmla="val 17687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657749" y="6309235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ОҢАЙ БОЛМАҒАН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661431" y="6505272"/>
            <a:ext cx="586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Балалығы соғыстан кейінгі ауыр жылдарға тап келген. Ата-анасы колхозда таңнан кешке дейін жұмыс істеген.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0" name="shape-1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3" name="shape-22"/>
          <p:cNvSpPr/>
          <p:nvPr/>
        </p:nvSpPr>
        <p:spPr>
          <a:xfrm rot="240000">
            <a:off x="4660900" y="950913"/>
            <a:ext cx="1714500" cy="2349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shape-23"/>
          <p:cNvSpPr/>
          <p:nvPr/>
        </p:nvSpPr>
        <p:spPr>
          <a:xfrm rot="60000">
            <a:off x="5121964" y="840996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5" name="im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745516" y="1027406"/>
            <a:ext cx="1562100" cy="19558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240000">
            <a:off x="4557177" y="30043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1936–2005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 жылы оның портфолиосы қандай болар еді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2338A0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2338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СҰЛТАНҒАЗИН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2338A0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1458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Сұлтанғазин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2338A0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90000">
            <a:off x="458143" y="2286000"/>
            <a:ext cx="2311400" cy="1117600"/>
          </a:xfrm>
          <a:prstGeom prst="roundRect">
            <a:avLst>
              <a:gd name="adj" fmla="val 13636"/>
            </a:avLst>
          </a:prstGeom>
          <a:solidFill>
            <a:srgbClr val="2338A0"/>
          </a:solidFill>
          <a:ln/>
        </p:spPr>
      </p:sp>
      <p:sp>
        <p:nvSpPr>
          <p:cNvPr id="9" name="text-8"/>
          <p:cNvSpPr txBox="1"/>
          <p:nvPr/>
        </p:nvSpPr>
        <p:spPr>
          <a:xfrm rot="-90000">
            <a:off x="588783" y="2425819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598009" y="2609848"/>
            <a:ext cx="2153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1470</a:t>
            </a:r>
            <a:endParaRPr lang="en-US" sz="3800" dirty="0"/>
          </a:p>
        </p:txBody>
      </p:sp>
      <p:sp>
        <p:nvSpPr>
          <p:cNvPr id="11" name="text-10"/>
          <p:cNvSpPr txBox="1"/>
          <p:nvPr/>
        </p:nvSpPr>
        <p:spPr>
          <a:xfrm rot="-90000">
            <a:off x="607234" y="3130427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Math 800 · RW 670</a:t>
            </a:r>
            <a:endParaRPr lang="en-US" sz="900" dirty="0"/>
          </a:p>
        </p:txBody>
      </p:sp>
      <p:sp>
        <p:nvSpPr>
          <p:cNvPr id="12" name="shape-11"/>
          <p:cNvSpPr/>
          <p:nvPr/>
        </p:nvSpPr>
        <p:spPr>
          <a:xfrm rot="60000">
            <a:off x="2871589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2338A0"/>
          </a:solidFill>
          <a:ln/>
        </p:spPr>
      </p:sp>
      <p:sp>
        <p:nvSpPr>
          <p:cNvPr id="13" name="text-12"/>
          <p:cNvSpPr txBox="1"/>
          <p:nvPr/>
        </p:nvSpPr>
        <p:spPr>
          <a:xfrm rot="60000">
            <a:off x="3017329" y="2425753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IELTS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60000">
            <a:off x="3011178" y="2609849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6.0</a:t>
            </a:r>
            <a:endParaRPr lang="en-US" sz="3800" dirty="0"/>
          </a:p>
        </p:txBody>
      </p:sp>
      <p:sp>
        <p:nvSpPr>
          <p:cNvPr id="15" name="text-14"/>
          <p:cNvSpPr txBox="1"/>
          <p:nvPr/>
        </p:nvSpPr>
        <p:spPr>
          <a:xfrm rot="60000">
            <a:off x="3005028" y="3130495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Academic</a:t>
            </a:r>
            <a:endParaRPr lang="en-US" sz="900" dirty="0"/>
          </a:p>
        </p:txBody>
      </p:sp>
      <p:sp>
        <p:nvSpPr>
          <p:cNvPr id="16" name="shape-15"/>
          <p:cNvSpPr/>
          <p:nvPr/>
        </p:nvSpPr>
        <p:spPr>
          <a:xfrm rot="-36000">
            <a:off x="4686746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2338A0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4822822" y="2425719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GPA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4826513" y="2609850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4.9</a:t>
            </a:r>
            <a:endParaRPr lang="en-US" sz="38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4830203" y="3130530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баллдық жүйе</a:t>
            </a:r>
            <a:endParaRPr lang="en-US" sz="900" dirty="0"/>
          </a:p>
        </p:txBody>
      </p:sp>
      <p:sp>
        <p:nvSpPr>
          <p:cNvPr id="20" name="text-19"/>
          <p:cNvSpPr txBox="1"/>
          <p:nvPr/>
        </p:nvSpPr>
        <p:spPr>
          <a:xfrm rot="-60000">
            <a:off x="457200" y="3935710"/>
            <a:ext cx="630021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Ауыл мектебінде ағылшын тілін үйрену қиын болар еді, бірақ математикасы мінсіз.</a:t>
            </a:r>
            <a:endParaRPr lang="en-US" sz="1700" dirty="0"/>
          </a:p>
        </p:txBody>
      </p:sp>
      <p:sp>
        <p:nvSpPr>
          <p:cNvPr id="21" name="shape-20"/>
          <p:cNvSpPr/>
          <p:nvPr/>
        </p:nvSpPr>
        <p:spPr>
          <a:xfrm rot="48000">
            <a:off x="457200" y="5208389"/>
            <a:ext cx="5943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shape-21"/>
          <p:cNvSpPr/>
          <p:nvPr/>
        </p:nvSpPr>
        <p:spPr>
          <a:xfrm rot="-432000">
            <a:off x="5712179" y="5052035"/>
            <a:ext cx="533400" cy="533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2338A0"/>
            </a:solidFill>
            <a:prstDash val="solid"/>
          </a:ln>
        </p:spPr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32000">
            <a:off x="5832829" y="5172685"/>
            <a:ext cx="292100" cy="2921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 rot="48000">
            <a:off x="680788" y="5384854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ПОРТФОЛИО · 17 ЖАС</a:t>
            </a:r>
            <a:endParaRPr lang="en-US" sz="9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">
            <a:off x="677723" y="5563582"/>
            <a:ext cx="190500" cy="1905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48000">
            <a:off x="931415" y="5595710"/>
            <a:ext cx="550595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Халықаралық математика олимпиадасы (IMO): құрмет грамотасы.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 rot="48000">
            <a:off x="851093" y="5883524"/>
            <a:ext cx="56540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Спутник деректерімен жоба: NASA Space Apps Challenge.</a:t>
            </a:r>
            <a:endParaRPr lang="en-US" sz="1300" dirty="0"/>
          </a:p>
        </p:txBody>
      </p:sp>
      <p:sp>
        <p:nvSpPr>
          <p:cNvPr id="28" name="text-27"/>
          <p:cNvSpPr txBox="1"/>
          <p:nvPr/>
        </p:nvSpPr>
        <p:spPr>
          <a:xfrm rot="48000">
            <a:off x="845504" y="6169483"/>
            <a:ext cx="5654040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Оқитын мамандығы: қолданбалы математика немесе аэроғарыш инженериясы.</a:t>
            </a:r>
            <a:endParaRPr lang="en-US" sz="1300" dirty="0"/>
          </a:p>
        </p:txBody>
      </p:sp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33" name="text-32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бесіншісі жасушаның ішінен жаңалық ашқан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9972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2F7A33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69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2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1939 · МОЛЕКУЛАЛЫҚ БИОЛОГИЯ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2F7A33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3591"/>
            <a:ext cx="4092448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Мұрат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2F7A3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Айтхожин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48000">
            <a:off x="457200" y="3176389"/>
            <a:ext cx="5943600" cy="1498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28000">
            <a:off x="2942623" y="306077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48000">
            <a:off x="653243" y="3340150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ШЫН ӨМІРДЕ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48000">
            <a:off x="836084" y="3548772"/>
            <a:ext cx="5680964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Оқуының басым бөлігін Мәскеу университетінде өткерген. Қазақстандағы молекулалық биологияның негізін қалаушы.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 rot="-48000">
            <a:off x="843241" y="4061286"/>
            <a:ext cx="5680964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Информосомаларды ашқан ғалымдар тобында болып, 1976 жылы Ленин сыйлығын алған.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48000">
            <a:off x="457200" y="4815284"/>
            <a:ext cx="5943600" cy="984250"/>
          </a:xfrm>
          <a:prstGeom prst="roundRect">
            <a:avLst>
              <a:gd name="adj" fmla="val 16774"/>
            </a:avLst>
          </a:prstGeom>
          <a:solidFill>
            <a:srgbClr val="FAF8F3"/>
          </a:solidFill>
          <a:ln w="12700">
            <a:solidFill>
              <a:srgbClr val="2F7A33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 rot="48000">
            <a:off x="676635" y="4981203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2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ҚЫЗЫҚ ДЕРЕК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48000">
            <a:off x="671726" y="5177225"/>
            <a:ext cx="5842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1961 жылы, студент кезінде, курстық жұмысы Ашхабадтағы студенттік ғылыми конференцияда бірінші орын алған.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-36000">
            <a:off x="457200" y="5937647"/>
            <a:ext cx="5943600" cy="933450"/>
          </a:xfrm>
          <a:prstGeom prst="roundRect">
            <a:avLst>
              <a:gd name="adj" fmla="val 17687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657749" y="6078155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ОҢАЙ БОЛМАҒАН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661431" y="6274191"/>
            <a:ext cx="586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48 жасында қайтыс болған. Артында есімімен аталатын Молекулалық биология және биохимия институты қалды.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0" name="shape-1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3" name="shape-22"/>
          <p:cNvSpPr/>
          <p:nvPr/>
        </p:nvSpPr>
        <p:spPr>
          <a:xfrm rot="240000">
            <a:off x="4660900" y="950913"/>
            <a:ext cx="1714500" cy="2349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shape-23"/>
          <p:cNvSpPr/>
          <p:nvPr/>
        </p:nvSpPr>
        <p:spPr>
          <a:xfrm rot="60000">
            <a:off x="5121964" y="840996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5" name="im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4745516" y="1027406"/>
            <a:ext cx="1562100" cy="19558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240000">
            <a:off x="4557177" y="30043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1939–1987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 жылы оның портфолиосы қандай болар еді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2F7A33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14942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2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АЙТХОЖИН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13</a:t>
            </a:r>
            <a:endParaRPr lang="en-US" sz="1000" dirty="0"/>
          </a:p>
        </p:txBody>
      </p:sp>
      <p:sp>
        <p:nvSpPr>
          <p:cNvPr id="6" name="shape-5"/>
          <p:cNvSpPr/>
          <p:nvPr/>
        </p:nvSpPr>
        <p:spPr>
          <a:xfrm>
            <a:off x="0" y="0"/>
            <a:ext cx="6858000" cy="88900"/>
          </a:xfrm>
          <a:prstGeom prst="rect">
            <a:avLst/>
          </a:prstGeom>
          <a:solidFill>
            <a:srgbClr val="2F7A33"/>
          </a:solidFill>
          <a:ln/>
        </p:spPr>
      </p:sp>
      <p:sp>
        <p:nvSpPr>
          <p:cNvPr id="7" name="text-6"/>
          <p:cNvSpPr txBox="1"/>
          <p:nvPr/>
        </p:nvSpPr>
        <p:spPr>
          <a:xfrm>
            <a:off x="457200" y="951458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Айтхожин </a:t>
            </a:r>
            <a:pPr algn="l" indent="0" marL="0">
              <a:lnSpc>
                <a:spcPts val="4280"/>
              </a:lnSpc>
              <a:buNone/>
            </a:pPr>
            <a:r>
              <a:rPr lang="en-US" sz="5200" i="1" spc="-100" kern="0" dirty="0">
                <a:solidFill>
                  <a:srgbClr val="2F7A3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</a:t>
            </a:r>
            <a:endParaRPr lang="en-US" sz="4200" dirty="0"/>
          </a:p>
        </p:txBody>
      </p:sp>
      <p:sp>
        <p:nvSpPr>
          <p:cNvPr id="8" name="shape-7"/>
          <p:cNvSpPr/>
          <p:nvPr/>
        </p:nvSpPr>
        <p:spPr>
          <a:xfrm rot="-90000">
            <a:off x="458143" y="2286000"/>
            <a:ext cx="2311400" cy="1117600"/>
          </a:xfrm>
          <a:prstGeom prst="roundRect">
            <a:avLst>
              <a:gd name="adj" fmla="val 13636"/>
            </a:avLst>
          </a:prstGeom>
          <a:solidFill>
            <a:srgbClr val="2F7A33"/>
          </a:solidFill>
          <a:ln/>
        </p:spPr>
      </p:sp>
      <p:sp>
        <p:nvSpPr>
          <p:cNvPr id="9" name="text-8"/>
          <p:cNvSpPr txBox="1"/>
          <p:nvPr/>
        </p:nvSpPr>
        <p:spPr>
          <a:xfrm rot="-90000">
            <a:off x="588783" y="2425819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598009" y="2609848"/>
            <a:ext cx="21539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1500</a:t>
            </a:r>
            <a:endParaRPr lang="en-US" sz="3800" dirty="0"/>
          </a:p>
        </p:txBody>
      </p:sp>
      <p:sp>
        <p:nvSpPr>
          <p:cNvPr id="11" name="text-10"/>
          <p:cNvSpPr txBox="1"/>
          <p:nvPr/>
        </p:nvSpPr>
        <p:spPr>
          <a:xfrm rot="-90000">
            <a:off x="607234" y="3130427"/>
            <a:ext cx="21539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Math 750 · RW 750</a:t>
            </a:r>
            <a:endParaRPr lang="en-US" sz="900" dirty="0"/>
          </a:p>
        </p:txBody>
      </p:sp>
      <p:sp>
        <p:nvSpPr>
          <p:cNvPr id="12" name="shape-11"/>
          <p:cNvSpPr/>
          <p:nvPr/>
        </p:nvSpPr>
        <p:spPr>
          <a:xfrm rot="60000">
            <a:off x="2871589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2F7A33"/>
          </a:solidFill>
          <a:ln/>
        </p:spPr>
      </p:sp>
      <p:sp>
        <p:nvSpPr>
          <p:cNvPr id="13" name="text-12"/>
          <p:cNvSpPr txBox="1"/>
          <p:nvPr/>
        </p:nvSpPr>
        <p:spPr>
          <a:xfrm rot="60000">
            <a:off x="3017329" y="2425753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IELTS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 rot="60000">
            <a:off x="3011178" y="2609849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7.0</a:t>
            </a:r>
            <a:endParaRPr lang="en-US" sz="3800" dirty="0"/>
          </a:p>
        </p:txBody>
      </p:sp>
      <p:sp>
        <p:nvSpPr>
          <p:cNvPr id="15" name="text-14"/>
          <p:cNvSpPr txBox="1"/>
          <p:nvPr/>
        </p:nvSpPr>
        <p:spPr>
          <a:xfrm rot="60000">
            <a:off x="3005028" y="3130495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Academic</a:t>
            </a:r>
            <a:endParaRPr lang="en-US" sz="900" dirty="0"/>
          </a:p>
        </p:txBody>
      </p:sp>
      <p:sp>
        <p:nvSpPr>
          <p:cNvPr id="16" name="shape-15"/>
          <p:cNvSpPr/>
          <p:nvPr/>
        </p:nvSpPr>
        <p:spPr>
          <a:xfrm rot="-36000">
            <a:off x="4686746" y="2286000"/>
            <a:ext cx="1714500" cy="1117600"/>
          </a:xfrm>
          <a:prstGeom prst="roundRect">
            <a:avLst>
              <a:gd name="adj" fmla="val 13636"/>
            </a:avLst>
          </a:prstGeom>
          <a:solidFill>
            <a:srgbClr val="2F7A33"/>
          </a:solidFill>
          <a:ln/>
        </p:spPr>
      </p:sp>
      <p:sp>
        <p:nvSpPr>
          <p:cNvPr id="17" name="text-16"/>
          <p:cNvSpPr txBox="1"/>
          <p:nvPr/>
        </p:nvSpPr>
        <p:spPr>
          <a:xfrm rot="-36000">
            <a:off x="4822822" y="2425719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GPA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36000">
            <a:off x="4826513" y="2609850"/>
            <a:ext cx="15212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4.7</a:t>
            </a:r>
            <a:endParaRPr lang="en-US" sz="3800" dirty="0"/>
          </a:p>
        </p:txBody>
      </p:sp>
      <p:sp>
        <p:nvSpPr>
          <p:cNvPr id="19" name="text-18"/>
          <p:cNvSpPr txBox="1"/>
          <p:nvPr/>
        </p:nvSpPr>
        <p:spPr>
          <a:xfrm rot="-36000">
            <a:off x="4830203" y="3130530"/>
            <a:ext cx="152120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5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баллдық жүйе</a:t>
            </a:r>
            <a:endParaRPr lang="en-US" sz="900" dirty="0"/>
          </a:p>
        </p:txBody>
      </p:sp>
      <p:sp>
        <p:nvSpPr>
          <p:cNvPr id="20" name="text-19"/>
          <p:cNvSpPr txBox="1"/>
          <p:nvPr/>
        </p:nvSpPr>
        <p:spPr>
          <a:xfrm rot="-60000">
            <a:off x="457200" y="3935710"/>
            <a:ext cx="630021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Студент кезінен зертханада жүрген адам. Баллы тепе-тең, ал басты күші зерттеуде.</a:t>
            </a:r>
            <a:endParaRPr lang="en-US" sz="1700" dirty="0"/>
          </a:p>
        </p:txBody>
      </p:sp>
      <p:sp>
        <p:nvSpPr>
          <p:cNvPr id="21" name="shape-20"/>
          <p:cNvSpPr/>
          <p:nvPr/>
        </p:nvSpPr>
        <p:spPr>
          <a:xfrm rot="48000">
            <a:off x="457200" y="5207248"/>
            <a:ext cx="5943600" cy="13779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shape-21"/>
          <p:cNvSpPr/>
          <p:nvPr/>
        </p:nvSpPr>
        <p:spPr>
          <a:xfrm rot="-432000">
            <a:off x="5710612" y="5052024"/>
            <a:ext cx="533400" cy="533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2F7A33"/>
            </a:solidFill>
            <a:prstDash val="solid"/>
          </a:ln>
        </p:spPr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32000">
            <a:off x="5831262" y="5172674"/>
            <a:ext cx="292100" cy="2921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 rot="48000">
            <a:off x="679221" y="5384843"/>
            <a:ext cx="584250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ПОРТФОЛИО · 17 ЖАС</a:t>
            </a:r>
            <a:endParaRPr lang="en-US" sz="9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">
            <a:off x="676156" y="5563571"/>
            <a:ext cx="190500" cy="1905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48000">
            <a:off x="929831" y="5590955"/>
            <a:ext cx="478574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Халықаралық биология олимпиадасы (IBO): қола медаль.</a:t>
            </a:r>
            <a:endParaRPr lang="en-US" sz="1300" dirty="0"/>
          </a:p>
        </p:txBody>
      </p:sp>
      <p:sp>
        <p:nvSpPr>
          <p:cNvPr id="27" name="text-26"/>
          <p:cNvSpPr txBox="1"/>
          <p:nvPr/>
        </p:nvSpPr>
        <p:spPr>
          <a:xfrm rot="48000">
            <a:off x="849526" y="5883513"/>
            <a:ext cx="56540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Зертханалық зерттеу жобасы, ISEF деңгейінде.</a:t>
            </a:r>
            <a:endParaRPr lang="en-US" sz="1300" dirty="0"/>
          </a:p>
        </p:txBody>
      </p:sp>
      <p:sp>
        <p:nvSpPr>
          <p:cNvPr id="28" name="text-27"/>
          <p:cNvSpPr txBox="1"/>
          <p:nvPr/>
        </p:nvSpPr>
        <p:spPr>
          <a:xfrm rot="48000">
            <a:off x="845504" y="6171517"/>
            <a:ext cx="56540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Оқитын мамандығы: молекулалық биология немесе биохимия.</a:t>
            </a:r>
            <a:endParaRPr lang="en-US" sz="1300" dirty="0"/>
          </a:p>
        </p:txBody>
      </p:sp>
      <p:sp>
        <p:nvSpPr>
          <p:cNvPr id="29" name="text-2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0" name="shape-29"/>
          <p:cNvSpPr/>
          <p:nvPr/>
        </p:nvSpPr>
        <p:spPr>
          <a:xfrm>
            <a:off x="5060305" y="7893050"/>
            <a:ext cx="13398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1" name="text-30"/>
          <p:cNvSpPr txBox="1"/>
          <p:nvPr/>
        </p:nvSpPr>
        <p:spPr>
          <a:xfrm>
            <a:off x="520000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ӘРІ ҚАРАЙ</a:t>
            </a:r>
            <a:endParaRPr lang="en-US" sz="1000" dirty="0"/>
          </a:p>
        </p:txBody>
      </p:sp>
      <p:pic>
        <p:nvPicPr>
          <p:cNvPr id="32" name="svg-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33" name="text-32"/>
          <p:cNvSpPr txBox="1"/>
          <p:nvPr/>
        </p:nvSpPr>
        <p:spPr>
          <a:xfrm>
            <a:off x="457200" y="7303740"/>
            <a:ext cx="6300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соңында бәріне ортақ нәрсе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14942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ОРТАҚ НЕ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13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Бәріне ортақ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не</a:t>
            </a:r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?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60000">
            <a:off x="457200" y="2032050"/>
            <a:ext cx="5943600" cy="768350"/>
          </a:xfrm>
          <a:prstGeom prst="roundRect">
            <a:avLst>
              <a:gd name="adj" fmla="val 23140"/>
            </a:avLst>
          </a:prstGeom>
          <a:solidFill>
            <a:srgbClr val="0A0A0A"/>
          </a:solidFill>
          <a:ln/>
        </p:spPr>
      </p:sp>
      <p:sp>
        <p:nvSpPr>
          <p:cNvPr id="8" name="text-7"/>
          <p:cNvSpPr txBox="1"/>
          <p:nvPr/>
        </p:nvSpPr>
        <p:spPr>
          <a:xfrm rot="-60000">
            <a:off x="657629" y="2184424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-8"/>
          <p:cNvSpPr txBox="1"/>
          <p:nvPr/>
        </p:nvSpPr>
        <p:spPr>
          <a:xfrm rot="-60000">
            <a:off x="662229" y="2393984"/>
            <a:ext cx="58694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Бір салаға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терең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кірді.</a:t>
            </a:r>
            <a:endParaRPr lang="en-US" sz="1450" dirty="0"/>
          </a:p>
        </p:txBody>
      </p:sp>
      <p:sp>
        <p:nvSpPr>
          <p:cNvPr id="10" name="shape-9"/>
          <p:cNvSpPr/>
          <p:nvPr/>
        </p:nvSpPr>
        <p:spPr>
          <a:xfrm rot="60000">
            <a:off x="457200" y="2902148"/>
            <a:ext cx="5943600" cy="10223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 rot="60000">
            <a:off x="665389" y="3054493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-11"/>
          <p:cNvSpPr txBox="1"/>
          <p:nvPr/>
        </p:nvSpPr>
        <p:spPr>
          <a:xfrm rot="60000">
            <a:off x="658571" y="3264083"/>
            <a:ext cx="586943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Жолы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оңай болмаған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ауру, соғыстан кейінгі ауыл, қызметтен кету.</a:t>
            </a:r>
            <a:endParaRPr lang="en-US" sz="1450" dirty="0"/>
          </a:p>
        </p:txBody>
      </p:sp>
      <p:sp>
        <p:nvSpPr>
          <p:cNvPr id="13" name="shape-12"/>
          <p:cNvSpPr/>
          <p:nvPr/>
        </p:nvSpPr>
        <p:spPr>
          <a:xfrm rot="-60000">
            <a:off x="457200" y="4026297"/>
            <a:ext cx="5943600" cy="1022350"/>
          </a:xfrm>
          <a:prstGeom prst="roundRect">
            <a:avLst>
              <a:gd name="adj" fmla="val 17391"/>
            </a:avLst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 rot="-60000">
            <a:off x="655411" y="4178641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-60000">
            <a:off x="662229" y="4388231"/>
            <a:ext cx="586943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Білімін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еліне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жұмсады: кен орны, университет, ғылыми институт.</a:t>
            </a:r>
            <a:endParaRPr lang="en-US" sz="1450" dirty="0"/>
          </a:p>
        </p:txBody>
      </p:sp>
      <p:sp>
        <p:nvSpPr>
          <p:cNvPr id="16" name="shape-15"/>
          <p:cNvSpPr/>
          <p:nvPr/>
        </p:nvSpPr>
        <p:spPr>
          <a:xfrm rot="60000">
            <a:off x="457200" y="5150445"/>
            <a:ext cx="5943600" cy="10223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 rot="60000">
            <a:off x="665389" y="5302790"/>
            <a:ext cx="586943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60000">
            <a:off x="658571" y="5512379"/>
            <a:ext cx="586943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Бір қызығушылықпен шектелмеді: Бөкетов химиямен қатар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әдебиетті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аударды.</a:t>
            </a:r>
            <a:endParaRPr lang="en-US" sz="1450" dirty="0"/>
          </a:p>
        </p:txBody>
      </p:sp>
      <p:sp>
        <p:nvSpPr>
          <p:cNvPr id="19" name="text-18"/>
          <p:cNvSpPr txBox="1"/>
          <p:nvPr/>
        </p:nvSpPr>
        <p:spPr>
          <a:xfrm>
            <a:off x="457200" y="6350000"/>
            <a:ext cx="630021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Ал сенің портфолиоңда не бар?</a:t>
            </a:r>
            <a:endParaRPr lang="en-US" sz="2500" dirty="0"/>
          </a:p>
        </p:txBody>
      </p:sp>
      <p:sp>
        <p:nvSpPr>
          <p:cNvPr id="20" name="text-19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1" name="shape-20"/>
          <p:cNvSpPr/>
          <p:nvPr/>
        </p:nvSpPr>
        <p:spPr>
          <a:xfrm rot="-180000">
            <a:off x="455712" y="7048500"/>
            <a:ext cx="259080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text-21"/>
          <p:cNvSpPr txBox="1"/>
          <p:nvPr/>
        </p:nvSpPr>
        <p:spPr>
          <a:xfrm rot="-180000">
            <a:off x="620812" y="7137400"/>
            <a:ext cx="23962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пікірге жаз · сақтап қой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2026-10-27T12:04:12Z</dcterms:created>
  <dcterms:modified xsi:type="dcterms:W3CDTF">2026-10-27T12:04:12Z</dcterms:modified>
</cp:coreProperties>
</file>