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6858000" cy="8572500"/>
  <p:notesSz cx="8572500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jpe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jpeg"/><Relationship Id="rId7" Type="http://schemas.openxmlformats.org/officeDocument/2006/relationships/image" Target="../media/image-2-7.jpe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jpeg"/><Relationship Id="rId5" Type="http://schemas.openxmlformats.org/officeDocument/2006/relationships/image" Target="../media/image-3-5.jpeg"/><Relationship Id="rId6" Type="http://schemas.openxmlformats.org/officeDocument/2006/relationships/image" Target="../media/image-3-6.jpe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0" y="0"/>
            <a:ext cx="6858000" cy="76200"/>
          </a:xfrm>
          <a:prstGeom prst="rect">
            <a:avLst/>
          </a:prstGeom>
          <a:solidFill>
            <a:srgbClr val="57068C"/>
          </a:solidFill>
          <a:ln/>
        </p:spPr>
      </p:sp>
      <p:sp>
        <p:nvSpPr>
          <p:cNvPr id="3" name="shape-2"/>
          <p:cNvSpPr/>
          <p:nvPr/>
        </p:nvSpPr>
        <p:spPr>
          <a:xfrm>
            <a:off x="458490" y="406400"/>
            <a:ext cx="167640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57068C"/>
            </a:solidFill>
            <a:prstDash val="solid"/>
          </a:ln>
        </p:spPr>
      </p:sp>
      <p:pic>
        <p:nvPicPr>
          <p:cNvPr id="4" name="svg-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5" name="text-4"/>
          <p:cNvSpPr txBox="1"/>
          <p:nvPr/>
        </p:nvSpPr>
        <p:spPr>
          <a:xfrm>
            <a:off x="788690" y="482600"/>
            <a:ext cx="129235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NYU ABU DHABI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 / 09</a:t>
            </a:r>
            <a:endParaRPr lang="en-US" sz="1000" dirty="0"/>
          </a:p>
        </p:txBody>
      </p:sp>
      <p:sp>
        <p:nvSpPr>
          <p:cNvPr id="7" name="text-6"/>
          <p:cNvSpPr txBox="1"/>
          <p:nvPr/>
        </p:nvSpPr>
        <p:spPr>
          <a:xfrm>
            <a:off x="457200" y="952500"/>
            <a:ext cx="6300216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200" b="1" spc="-100" kern="0" dirty="0">
                <a:solidFill>
                  <a:srgbClr val="D7261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Я отказался</a:t>
            </a:r>
            <a:pPr algn="l" indent="0" marL="0">
              <a:lnSpc>
                <a:spcPts val="3200"/>
              </a:lnSpc>
              <a:buNone/>
            </a:pPr>
            <a:r>
              <a:rPr lang="en-US" sz="3200" b="1" spc="-10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от</a:t>
            </a:r>
            <a:endParaRPr lang="en-US" sz="3200" dirty="0"/>
          </a:p>
        </p:txBody>
      </p:sp>
      <p:sp>
        <p:nvSpPr>
          <p:cNvPr id="8" name="text-7"/>
          <p:cNvSpPr txBox="1"/>
          <p:nvPr/>
        </p:nvSpPr>
        <p:spPr>
          <a:xfrm>
            <a:off x="457200" y="1409700"/>
            <a:ext cx="6300216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500"/>
              </a:lnSpc>
              <a:buNone/>
            </a:pPr>
            <a:r>
              <a:rPr lang="en-US" sz="7500" i="1" spc="-220" kern="0" dirty="0">
                <a:solidFill>
                  <a:srgbClr val="57068C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170 000 000 ₸</a:t>
            </a:r>
            <a:endParaRPr lang="en-US" sz="7500" dirty="0"/>
          </a:p>
        </p:txBody>
      </p:sp>
      <p:sp>
        <p:nvSpPr>
          <p:cNvPr id="9" name="text-8"/>
          <p:cNvSpPr txBox="1"/>
          <p:nvPr/>
        </p:nvSpPr>
        <p:spPr>
          <a:xfrm>
            <a:off x="455910" y="2476500"/>
            <a:ext cx="5357876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Полная стипендия NYU Abu Dhabi на четыре года. Рассказываю, почему </a:t>
            </a:r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D7261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сказал «нет»</a:t>
            </a:r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.</a:t>
            </a:r>
            <a:endParaRPr lang="en-US" sz="1500" dirty="0"/>
          </a:p>
        </p:txBody>
      </p:sp>
      <p:sp>
        <p:nvSpPr>
          <p:cNvPr id="10" name="text-9"/>
          <p:cNvSpPr txBox="1"/>
          <p:nvPr/>
        </p:nvSpPr>
        <p:spPr>
          <a:xfrm>
            <a:off x="457200" y="5715000"/>
            <a:ext cx="282702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spc="50" kern="0" dirty="0">
                <a:solidFill>
                  <a:srgbClr val="5A58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$88 862 в год × 4 года по пакету помощи NYUAD 2026–27, по курсу от 478 ₸ за $1</a:t>
            </a:r>
            <a:endParaRPr lang="en-US" sz="900" dirty="0"/>
          </a:p>
        </p:txBody>
      </p:sp>
      <p:pic>
        <p:nvPicPr>
          <p:cNvPr id="11" name="svg-1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000" y="3556000"/>
            <a:ext cx="254000" cy="254000"/>
          </a:xfrm>
          <a:prstGeom prst="rect">
            <a:avLst/>
          </a:prstGeom>
        </p:spPr>
      </p:pic>
      <p:pic>
        <p:nvPicPr>
          <p:cNvPr id="12" name="svg-1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0000" y="7175500"/>
            <a:ext cx="190500" cy="190500"/>
          </a:xfrm>
          <a:prstGeom prst="rect">
            <a:avLst/>
          </a:prstGeom>
        </p:spPr>
      </p:pic>
      <p:sp>
        <p:nvSpPr>
          <p:cNvPr id="13" name="text-12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4" name="shape-13"/>
          <p:cNvSpPr/>
          <p:nvPr/>
        </p:nvSpPr>
        <p:spPr>
          <a:xfrm>
            <a:off x="5340945" y="7893050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15" name="text-14"/>
          <p:cNvSpPr txBox="1"/>
          <p:nvPr/>
        </p:nvSpPr>
        <p:spPr>
          <a:xfrm>
            <a:off x="5480645" y="796925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ЛИСТАЙ</a:t>
            </a:r>
            <a:endParaRPr lang="en-US" sz="1000" dirty="0"/>
          </a:p>
        </p:txBody>
      </p:sp>
      <p:pic>
        <p:nvPicPr>
          <p:cNvPr id="16" name="svg-1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17" name="shape-16"/>
          <p:cNvSpPr/>
          <p:nvPr/>
        </p:nvSpPr>
        <p:spPr>
          <a:xfrm rot="240000">
            <a:off x="3619500" y="3556000"/>
            <a:ext cx="2794000" cy="4038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8" name="shape-17"/>
          <p:cNvSpPr/>
          <p:nvPr/>
        </p:nvSpPr>
        <p:spPr>
          <a:xfrm rot="60000">
            <a:off x="4742837" y="3459257"/>
            <a:ext cx="825500" cy="2540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pic>
        <p:nvPicPr>
          <p:cNvPr id="19" name="img-18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40000">
            <a:off x="3730845" y="3657940"/>
            <a:ext cx="2590800" cy="3556000"/>
          </a:xfrm>
          <a:prstGeom prst="rect">
            <a:avLst/>
          </a:prstGeom>
        </p:spPr>
      </p:pic>
      <p:sp>
        <p:nvSpPr>
          <p:cNvPr id="20" name="text-19"/>
          <p:cNvSpPr txBox="1"/>
          <p:nvPr/>
        </p:nvSpPr>
        <p:spPr>
          <a:xfrm rot="240000">
            <a:off x="3437157" y="7253634"/>
            <a:ext cx="290576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Абу-Даби, март 2026</a:t>
            </a:r>
            <a:endParaRPr lang="en-US" sz="1500" dirty="0"/>
          </a:p>
        </p:txBody>
      </p:sp>
      <p:sp>
        <p:nvSpPr>
          <p:cNvPr id="21" name="shape-20"/>
          <p:cNvSpPr/>
          <p:nvPr/>
        </p:nvSpPr>
        <p:spPr>
          <a:xfrm rot="-300000">
            <a:off x="381595" y="4064000"/>
            <a:ext cx="2076450" cy="374650"/>
          </a:xfrm>
          <a:prstGeom prst="roundRect">
            <a:avLst>
              <a:gd name="adj" fmla="val 50000"/>
            </a:avLst>
          </a:prstGeom>
          <a:solidFill>
            <a:srgbClr val="57068C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2" name="svg-21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-300000">
            <a:off x="511131" y="4234147"/>
            <a:ext cx="177800" cy="177800"/>
          </a:xfrm>
          <a:prstGeom prst="rect">
            <a:avLst/>
          </a:prstGeom>
        </p:spPr>
      </p:pic>
      <p:sp>
        <p:nvSpPr>
          <p:cNvPr id="23" name="text-22"/>
          <p:cNvSpPr txBox="1"/>
          <p:nvPr/>
        </p:nvSpPr>
        <p:spPr>
          <a:xfrm rot="-300000">
            <a:off x="762112" y="4129131"/>
            <a:ext cx="1662557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полная стипендия</a:t>
            </a:r>
            <a:endParaRPr lang="en-US" sz="1350" dirty="0"/>
          </a:p>
        </p:txBody>
      </p:sp>
      <p:sp>
        <p:nvSpPr>
          <p:cNvPr id="24" name="shape-23"/>
          <p:cNvSpPr/>
          <p:nvPr/>
        </p:nvSpPr>
        <p:spPr>
          <a:xfrm rot="180000">
            <a:off x="634107" y="4889500"/>
            <a:ext cx="2178050" cy="4000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5" name="svg-2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180000">
            <a:off x="775878" y="4955641"/>
            <a:ext cx="177800" cy="177800"/>
          </a:xfrm>
          <a:prstGeom prst="rect">
            <a:avLst/>
          </a:prstGeom>
        </p:spPr>
      </p:pic>
      <p:sp>
        <p:nvSpPr>
          <p:cNvPr id="26" name="text-25"/>
          <p:cNvSpPr txBox="1"/>
          <p:nvPr/>
        </p:nvSpPr>
        <p:spPr>
          <a:xfrm rot="180000">
            <a:off x="1027633" y="4985047"/>
            <a:ext cx="1743329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≈ $355 000 · 4 года</a:t>
            </a:r>
            <a:endParaRPr lang="en-US" sz="1350" dirty="0"/>
          </a:p>
        </p:txBody>
      </p:sp>
      <p:sp>
        <p:nvSpPr>
          <p:cNvPr id="27" name="shape-26"/>
          <p:cNvSpPr/>
          <p:nvPr/>
        </p:nvSpPr>
        <p:spPr>
          <a:xfrm rot="-480000">
            <a:off x="1905000" y="3302000"/>
            <a:ext cx="584200" cy="584200"/>
          </a:xfrm>
          <a:prstGeom prst="ellipse">
            <a:avLst/>
          </a:prstGeom>
          <a:solidFill>
            <a:srgbClr val="57068C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8" name="svg-2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-480000">
            <a:off x="2051050" y="3448050"/>
            <a:ext cx="292100" cy="2921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0" y="0"/>
            <a:ext cx="6858000" cy="76200"/>
          </a:xfrm>
          <a:prstGeom prst="rect">
            <a:avLst/>
          </a:prstGeom>
          <a:solidFill>
            <a:srgbClr val="57068C"/>
          </a:solidFill>
          <a:ln/>
        </p:spPr>
      </p:sp>
      <p:sp>
        <p:nvSpPr>
          <p:cNvPr id="3" name="shape-2"/>
          <p:cNvSpPr/>
          <p:nvPr/>
        </p:nvSpPr>
        <p:spPr>
          <a:xfrm>
            <a:off x="456605" y="406400"/>
            <a:ext cx="149225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57068C"/>
            </a:solidFill>
            <a:prstDash val="solid"/>
          </a:ln>
        </p:spPr>
      </p:sp>
      <p:pic>
        <p:nvPicPr>
          <p:cNvPr id="4" name="svg-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5" name="text-4"/>
          <p:cNvSpPr txBox="1"/>
          <p:nvPr/>
        </p:nvSpPr>
        <p:spPr>
          <a:xfrm>
            <a:off x="786805" y="482600"/>
            <a:ext cx="109715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ПРЕДЫСТОРИЯ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/ 09</a:t>
            </a:r>
            <a:endParaRPr lang="en-US" sz="1000" dirty="0"/>
          </a:p>
        </p:txBody>
      </p:sp>
      <p:pic>
        <p:nvPicPr>
          <p:cNvPr id="7" name="svg-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2000" y="1079500"/>
            <a:ext cx="254000" cy="254000"/>
          </a:xfrm>
          <a:prstGeom prst="rect">
            <a:avLst/>
          </a:prstGeom>
        </p:spPr>
      </p:pic>
      <p:pic>
        <p:nvPicPr>
          <p:cNvPr id="8" name="svg-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5500" y="4826000"/>
            <a:ext cx="190500" cy="190500"/>
          </a:xfrm>
          <a:prstGeom prst="rect">
            <a:avLst/>
          </a:prstGeom>
        </p:spPr>
      </p:pic>
      <p:sp>
        <p:nvSpPr>
          <p:cNvPr id="9" name="text-8"/>
          <p:cNvSpPr txBox="1"/>
          <p:nvPr/>
        </p:nvSpPr>
        <p:spPr>
          <a:xfrm>
            <a:off x="457200" y="5880100"/>
            <a:ext cx="6300216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4600" b="1" spc="-16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Как я там </a:t>
            </a:r>
            <a:pPr algn="l" indent="0" marL="0">
              <a:lnSpc>
                <a:spcPts val="4600"/>
              </a:lnSpc>
              <a:buNone/>
            </a:pPr>
            <a:r>
              <a:rPr lang="en-US" sz="5200" i="1" spc="-100" kern="0" dirty="0">
                <a:solidFill>
                  <a:srgbClr val="57068C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оказался</a:t>
            </a:r>
            <a:endParaRPr lang="en-US" sz="4600" dirty="0"/>
          </a:p>
        </p:txBody>
      </p:sp>
      <p:sp>
        <p:nvSpPr>
          <p:cNvPr id="10" name="text-9"/>
          <p:cNvSpPr txBox="1"/>
          <p:nvPr/>
        </p:nvSpPr>
        <p:spPr>
          <a:xfrm>
            <a:off x="457349" y="6654800"/>
            <a:ext cx="6024245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Весной меня позвали в Абу-Даби на Candidate Weekend. В планах было три дня: экскурсии, пары с профессорами и тимбилдинг, где я впервые увидел своё имя на арабском.</a:t>
            </a:r>
            <a:endParaRPr lang="en-US" sz="1250" dirty="0"/>
          </a:p>
        </p:txBody>
      </p:sp>
      <p:sp>
        <p:nvSpPr>
          <p:cNvPr id="11" name="text-10"/>
          <p:cNvSpPr txBox="1"/>
          <p:nvPr/>
        </p:nvSpPr>
        <p:spPr>
          <a:xfrm>
            <a:off x="457349" y="7397750"/>
            <a:ext cx="602424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Интервью стояло на 1 марта. В ночь перед ним всё пошло не по плану.</a:t>
            </a:r>
            <a:endParaRPr lang="en-US" sz="1250" dirty="0"/>
          </a:p>
        </p:txBody>
      </p:sp>
      <p:sp>
        <p:nvSpPr>
          <p:cNvPr id="12" name="text-11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3" name="shape-12"/>
          <p:cNvSpPr/>
          <p:nvPr/>
        </p:nvSpPr>
        <p:spPr>
          <a:xfrm>
            <a:off x="5340945" y="7893050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14" name="text-13"/>
          <p:cNvSpPr txBox="1"/>
          <p:nvPr/>
        </p:nvSpPr>
        <p:spPr>
          <a:xfrm>
            <a:off x="5480645" y="796925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ЛИСТАЙ</a:t>
            </a:r>
            <a:endParaRPr lang="en-US" sz="1000" dirty="0"/>
          </a:p>
        </p:txBody>
      </p:sp>
      <p:pic>
        <p:nvPicPr>
          <p:cNvPr id="15" name="svg-1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16" name="shape-15"/>
          <p:cNvSpPr/>
          <p:nvPr/>
        </p:nvSpPr>
        <p:spPr>
          <a:xfrm rot="-180000">
            <a:off x="381000" y="952500"/>
            <a:ext cx="3810000" cy="264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7" name="shape-16"/>
          <p:cNvSpPr/>
          <p:nvPr/>
        </p:nvSpPr>
        <p:spPr>
          <a:xfrm rot="-360000">
            <a:off x="1805454" y="852675"/>
            <a:ext cx="825500" cy="2540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pic>
        <p:nvPicPr>
          <p:cNvPr id="18" name="img-17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-180000">
            <a:off x="475289" y="1054291"/>
            <a:ext cx="3606800" cy="2159000"/>
          </a:xfrm>
          <a:prstGeom prst="rect">
            <a:avLst/>
          </a:prstGeom>
        </p:spPr>
      </p:pic>
      <p:sp>
        <p:nvSpPr>
          <p:cNvPr id="19" name="text-18"/>
          <p:cNvSpPr txBox="1"/>
          <p:nvPr/>
        </p:nvSpPr>
        <p:spPr>
          <a:xfrm rot="-180000">
            <a:off x="363124" y="3256023"/>
            <a:ext cx="396240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с профессором NYUAD</a:t>
            </a:r>
            <a:endParaRPr lang="en-US" sz="1500" dirty="0"/>
          </a:p>
        </p:txBody>
      </p:sp>
      <p:sp>
        <p:nvSpPr>
          <p:cNvPr id="20" name="shape-19"/>
          <p:cNvSpPr/>
          <p:nvPr/>
        </p:nvSpPr>
        <p:spPr>
          <a:xfrm rot="300000">
            <a:off x="4356100" y="1397000"/>
            <a:ext cx="2095500" cy="25781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21" name="shape-20"/>
          <p:cNvSpPr/>
          <p:nvPr/>
        </p:nvSpPr>
        <p:spPr>
          <a:xfrm rot="120000">
            <a:off x="5101234" y="1300209"/>
            <a:ext cx="825500" cy="2540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pic>
        <p:nvPicPr>
          <p:cNvPr id="22" name="img-21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300000">
            <a:off x="4469876" y="1499132"/>
            <a:ext cx="1892300" cy="2095500"/>
          </a:xfrm>
          <a:prstGeom prst="rect">
            <a:avLst/>
          </a:prstGeom>
        </p:spPr>
      </p:pic>
      <p:sp>
        <p:nvSpPr>
          <p:cNvPr id="23" name="text-22"/>
          <p:cNvSpPr txBox="1"/>
          <p:nvPr/>
        </p:nvSpPr>
        <p:spPr>
          <a:xfrm rot="300000">
            <a:off x="4219829" y="3634430"/>
            <a:ext cx="217932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моё имя на арабском</a:t>
            </a:r>
            <a:endParaRPr lang="en-US" sz="1500" dirty="0"/>
          </a:p>
        </p:txBody>
      </p:sp>
      <p:sp>
        <p:nvSpPr>
          <p:cNvPr id="24" name="shape-23"/>
          <p:cNvSpPr/>
          <p:nvPr/>
        </p:nvSpPr>
        <p:spPr>
          <a:xfrm rot="-240000">
            <a:off x="444649" y="3810000"/>
            <a:ext cx="2159000" cy="374650"/>
          </a:xfrm>
          <a:prstGeom prst="roundRect">
            <a:avLst>
              <a:gd name="adj" fmla="val 50000"/>
            </a:avLst>
          </a:prstGeom>
          <a:solidFill>
            <a:srgbClr val="57068C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5" name="svg-2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-240000">
            <a:off x="573604" y="3968677"/>
            <a:ext cx="177800" cy="177800"/>
          </a:xfrm>
          <a:prstGeom prst="rect">
            <a:avLst/>
          </a:prstGeom>
        </p:spPr>
      </p:pic>
      <p:sp>
        <p:nvSpPr>
          <p:cNvPr id="26" name="text-25"/>
          <p:cNvSpPr txBox="1"/>
          <p:nvPr/>
        </p:nvSpPr>
        <p:spPr>
          <a:xfrm rot="-240000">
            <a:off x="825339" y="3877341"/>
            <a:ext cx="175006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Candidate Weekend</a:t>
            </a:r>
            <a:endParaRPr lang="en-US" sz="1350" dirty="0"/>
          </a:p>
        </p:txBody>
      </p:sp>
      <p:sp>
        <p:nvSpPr>
          <p:cNvPr id="27" name="shape-26"/>
          <p:cNvSpPr/>
          <p:nvPr/>
        </p:nvSpPr>
        <p:spPr>
          <a:xfrm rot="240000">
            <a:off x="4622105" y="4064000"/>
            <a:ext cx="1790700" cy="4000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8" name="svg-2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240000">
            <a:off x="4762737" y="4128566"/>
            <a:ext cx="177800" cy="177800"/>
          </a:xfrm>
          <a:prstGeom prst="rect">
            <a:avLst/>
          </a:prstGeom>
        </p:spPr>
      </p:pic>
      <p:sp>
        <p:nvSpPr>
          <p:cNvPr id="29" name="text-28"/>
          <p:cNvSpPr txBox="1"/>
          <p:nvPr/>
        </p:nvSpPr>
        <p:spPr>
          <a:xfrm rot="240000">
            <a:off x="5015496" y="4161759"/>
            <a:ext cx="133273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3 дня по плану</a:t>
            </a:r>
            <a:endParaRPr lang="en-US" sz="1350" dirty="0"/>
          </a:p>
        </p:txBody>
      </p:sp>
      <p:sp>
        <p:nvSpPr>
          <p:cNvPr id="30" name="shape-29"/>
          <p:cNvSpPr/>
          <p:nvPr/>
        </p:nvSpPr>
        <p:spPr>
          <a:xfrm rot="-120000">
            <a:off x="2286695" y="4381500"/>
            <a:ext cx="2120900" cy="4000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31" name="svg-30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-120000">
            <a:off x="2426207" y="4521680"/>
            <a:ext cx="177800" cy="177800"/>
          </a:xfrm>
          <a:prstGeom prst="rect">
            <a:avLst/>
          </a:prstGeom>
        </p:spPr>
      </p:pic>
      <p:sp>
        <p:nvSpPr>
          <p:cNvPr id="32" name="text-31"/>
          <p:cNvSpPr txBox="1"/>
          <p:nvPr/>
        </p:nvSpPr>
        <p:spPr>
          <a:xfrm rot="-120000">
            <a:off x="2680317" y="4465968"/>
            <a:ext cx="168275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интервью · 1 марта</a:t>
            </a:r>
            <a:endParaRPr lang="en-US" sz="1350" dirty="0"/>
          </a:p>
        </p:txBody>
      </p:sp>
      <p:sp>
        <p:nvSpPr>
          <p:cNvPr id="33" name="shape-32"/>
          <p:cNvSpPr/>
          <p:nvPr/>
        </p:nvSpPr>
        <p:spPr>
          <a:xfrm rot="360000">
            <a:off x="3810000" y="3556000"/>
            <a:ext cx="584200" cy="584200"/>
          </a:xfrm>
          <a:prstGeom prst="ellipse">
            <a:avLst/>
          </a:prstGeom>
          <a:solidFill>
            <a:srgbClr val="FAF8F3"/>
          </a:solidFill>
          <a:ln w="19050">
            <a:solidFill>
              <a:srgbClr val="57068C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34" name="svg-33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360000">
            <a:off x="3956050" y="3702050"/>
            <a:ext cx="292100" cy="2921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0" y="0"/>
            <a:ext cx="6858000" cy="76200"/>
          </a:xfrm>
          <a:prstGeom prst="rect">
            <a:avLst/>
          </a:prstGeom>
          <a:solidFill>
            <a:srgbClr val="57068C"/>
          </a:solidFill>
          <a:ln/>
        </p:spPr>
      </p:sp>
      <p:sp>
        <p:nvSpPr>
          <p:cNvPr id="3" name="shape-2"/>
          <p:cNvSpPr/>
          <p:nvPr/>
        </p:nvSpPr>
        <p:spPr>
          <a:xfrm>
            <a:off x="457845" y="406400"/>
            <a:ext cx="130175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57068C"/>
            </a:solidFill>
            <a:prstDash val="solid"/>
          </a:ln>
        </p:spPr>
      </p:sp>
      <p:pic>
        <p:nvPicPr>
          <p:cNvPr id="4" name="svg-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5" name="text-4"/>
          <p:cNvSpPr txBox="1"/>
          <p:nvPr/>
        </p:nvSpPr>
        <p:spPr>
          <a:xfrm>
            <a:off x="788045" y="48260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1–9 МАРТА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/ 09</a:t>
            </a:r>
            <a:endParaRPr lang="en-US" sz="1000" dirty="0"/>
          </a:p>
        </p:txBody>
      </p:sp>
      <p:sp>
        <p:nvSpPr>
          <p:cNvPr id="7" name="text-6"/>
          <p:cNvSpPr txBox="1"/>
          <p:nvPr/>
        </p:nvSpPr>
        <p:spPr>
          <a:xfrm>
            <a:off x="457200" y="889000"/>
            <a:ext cx="6300216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4600" b="1" spc="-16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9 дней вместо </a:t>
            </a:r>
            <a:pPr algn="l" indent="0" marL="0">
              <a:lnSpc>
                <a:spcPts val="4600"/>
              </a:lnSpc>
              <a:buNone/>
            </a:pPr>
            <a:r>
              <a:rPr lang="en-US" sz="5200" i="1" spc="-100" kern="0" dirty="0">
                <a:solidFill>
                  <a:srgbClr val="57068C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трёх</a:t>
            </a:r>
            <a:endParaRPr lang="en-US" sz="4600" dirty="0"/>
          </a:p>
        </p:txBody>
      </p:sp>
      <p:sp>
        <p:nvSpPr>
          <p:cNvPr id="8" name="text-7"/>
          <p:cNvSpPr txBox="1"/>
          <p:nvPr/>
        </p:nvSpPr>
        <p:spPr>
          <a:xfrm>
            <a:off x="457349" y="1664940"/>
            <a:ext cx="6024245" cy="717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35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В ночь на 1 марта завыла сирена, на телефоны пришёл emergency alert. Мы спустились вниз и три часа просто сидели. Потом разбомбили порт, дым было видно по всему городу. Рейсы отменили.</a:t>
            </a:r>
            <a:endParaRPr lang="en-US" sz="1350" dirty="0"/>
          </a:p>
        </p:txBody>
      </p:sp>
      <p:sp>
        <p:nvSpPr>
          <p:cNvPr id="9" name="text-8"/>
          <p:cNvSpPr txBox="1"/>
          <p:nvPr/>
        </p:nvSpPr>
        <p:spPr>
          <a:xfrm>
            <a:off x="457349" y="2461171"/>
            <a:ext cx="6024245" cy="717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35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Домой нас вывезло посольство Казахстана, рейсом Шарджа – Алматы. Через месяц пришёл оффер с полной стипендией. </a:t>
            </a:r>
            <a:pPr algn="l" indent="0" marL="0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D7261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Я от него отказался.</a:t>
            </a:r>
            <a:endParaRPr lang="en-US" sz="1350" dirty="0"/>
          </a:p>
        </p:txBody>
      </p:sp>
      <p:sp>
        <p:nvSpPr>
          <p:cNvPr id="10" name="text-9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1" name="shape-10"/>
          <p:cNvSpPr/>
          <p:nvPr/>
        </p:nvSpPr>
        <p:spPr>
          <a:xfrm>
            <a:off x="5340945" y="7893050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12" name="text-11"/>
          <p:cNvSpPr txBox="1"/>
          <p:nvPr/>
        </p:nvSpPr>
        <p:spPr>
          <a:xfrm>
            <a:off x="5480645" y="796925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ЛИСТАЙ</a:t>
            </a:r>
            <a:endParaRPr lang="en-US" sz="1000" dirty="0"/>
          </a:p>
        </p:txBody>
      </p:sp>
      <p:pic>
        <p:nvPicPr>
          <p:cNvPr id="13" name="svg-1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14" name="shape-13"/>
          <p:cNvSpPr/>
          <p:nvPr/>
        </p:nvSpPr>
        <p:spPr>
          <a:xfrm rot="-240000">
            <a:off x="355600" y="3619500"/>
            <a:ext cx="2413000" cy="3581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5" name="shape-14"/>
          <p:cNvSpPr/>
          <p:nvPr/>
        </p:nvSpPr>
        <p:spPr>
          <a:xfrm rot="-420000">
            <a:off x="1026209" y="3522200"/>
            <a:ext cx="825500" cy="2540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pic>
        <p:nvPicPr>
          <p:cNvPr id="16" name="img-15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-240000">
            <a:off x="422941" y="3696009"/>
            <a:ext cx="2260600" cy="3175000"/>
          </a:xfrm>
          <a:prstGeom prst="rect">
            <a:avLst/>
          </a:prstGeom>
        </p:spPr>
      </p:pic>
      <p:sp>
        <p:nvSpPr>
          <p:cNvPr id="17" name="text-16"/>
          <p:cNvSpPr txBox="1"/>
          <p:nvPr/>
        </p:nvSpPr>
        <p:spPr>
          <a:xfrm rot="-240000">
            <a:off x="417857" y="6860491"/>
            <a:ext cx="250952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мой канал, 1 марта</a:t>
            </a:r>
            <a:endParaRPr lang="en-US" sz="1500" dirty="0"/>
          </a:p>
        </p:txBody>
      </p:sp>
      <p:sp>
        <p:nvSpPr>
          <p:cNvPr id="18" name="shape-17"/>
          <p:cNvSpPr/>
          <p:nvPr/>
        </p:nvSpPr>
        <p:spPr>
          <a:xfrm rot="180000">
            <a:off x="2794000" y="3460750"/>
            <a:ext cx="3746500" cy="193675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9" name="shape-18"/>
          <p:cNvSpPr/>
          <p:nvPr/>
        </p:nvSpPr>
        <p:spPr>
          <a:xfrm>
            <a:off x="4303852" y="3360442"/>
            <a:ext cx="825500" cy="2540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pic>
        <p:nvPicPr>
          <p:cNvPr id="20" name="img-19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80000">
            <a:off x="2870200" y="3536950"/>
            <a:ext cx="3594100" cy="1784350"/>
          </a:xfrm>
          <a:prstGeom prst="rect">
            <a:avLst/>
          </a:prstGeom>
        </p:spPr>
      </p:pic>
      <p:sp>
        <p:nvSpPr>
          <p:cNvPr id="21" name="shape-20"/>
          <p:cNvSpPr/>
          <p:nvPr/>
        </p:nvSpPr>
        <p:spPr>
          <a:xfrm rot="-120000">
            <a:off x="3683000" y="5524500"/>
            <a:ext cx="2667000" cy="2311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22" name="shape-21"/>
          <p:cNvSpPr/>
          <p:nvPr/>
        </p:nvSpPr>
        <p:spPr>
          <a:xfrm rot="-300000">
            <a:off x="4564303" y="5423589"/>
            <a:ext cx="825500" cy="2540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pic>
        <p:nvPicPr>
          <p:cNvPr id="23" name="img-22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-120000">
            <a:off x="3754768" y="5600778"/>
            <a:ext cx="2514600" cy="1905000"/>
          </a:xfrm>
          <a:prstGeom prst="rect">
            <a:avLst/>
          </a:prstGeom>
        </p:spPr>
      </p:pic>
      <p:sp>
        <p:nvSpPr>
          <p:cNvPr id="24" name="text-23"/>
          <p:cNvSpPr txBox="1"/>
          <p:nvPr/>
        </p:nvSpPr>
        <p:spPr>
          <a:xfrm rot="-120000">
            <a:off x="3662791" y="7498772"/>
            <a:ext cx="277368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посольство</a:t>
            </a:r>
            <a:endParaRPr lang="en-US" sz="1500" dirty="0"/>
          </a:p>
        </p:txBody>
      </p:sp>
      <p:sp>
        <p:nvSpPr>
          <p:cNvPr id="25" name="shape-24"/>
          <p:cNvSpPr/>
          <p:nvPr/>
        </p:nvSpPr>
        <p:spPr>
          <a:xfrm rot="-240000">
            <a:off x="444450" y="7302500"/>
            <a:ext cx="2584450" cy="374650"/>
          </a:xfrm>
          <a:prstGeom prst="roundRect">
            <a:avLst>
              <a:gd name="adj" fmla="val 50000"/>
            </a:avLst>
          </a:prstGeom>
          <a:solidFill>
            <a:srgbClr val="57068C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6" name="svg-2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-240000">
            <a:off x="574122" y="7476002"/>
            <a:ext cx="177800" cy="177800"/>
          </a:xfrm>
          <a:prstGeom prst="rect">
            <a:avLst/>
          </a:prstGeom>
        </p:spPr>
      </p:pic>
      <p:sp>
        <p:nvSpPr>
          <p:cNvPr id="27" name="text-26"/>
          <p:cNvSpPr txBox="1"/>
          <p:nvPr/>
        </p:nvSpPr>
        <p:spPr>
          <a:xfrm rot="-240000">
            <a:off x="825141" y="7369841"/>
            <a:ext cx="2201037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эвакуация посольством</a:t>
            </a:r>
            <a:endParaRPr lang="en-US" sz="1350" dirty="0"/>
          </a:p>
        </p:txBody>
      </p:sp>
      <p:sp>
        <p:nvSpPr>
          <p:cNvPr id="28" name="shape-27"/>
          <p:cNvSpPr/>
          <p:nvPr/>
        </p:nvSpPr>
        <p:spPr>
          <a:xfrm rot="-360000">
            <a:off x="2538512" y="5461000"/>
            <a:ext cx="2190750" cy="4000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9" name="svg-28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-360000">
            <a:off x="2684440" y="5662572"/>
            <a:ext cx="177800" cy="177800"/>
          </a:xfrm>
          <a:prstGeom prst="rect">
            <a:avLst/>
          </a:prstGeom>
        </p:spPr>
      </p:pic>
      <p:sp>
        <p:nvSpPr>
          <p:cNvPr id="30" name="text-29"/>
          <p:cNvSpPr txBox="1"/>
          <p:nvPr/>
        </p:nvSpPr>
        <p:spPr>
          <a:xfrm rot="-360000">
            <a:off x="2931516" y="5536625"/>
            <a:ext cx="1756791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Шарджа → Алматы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0" y="0"/>
            <a:ext cx="6858000" cy="76200"/>
          </a:xfrm>
          <a:prstGeom prst="rect">
            <a:avLst/>
          </a:prstGeom>
          <a:solidFill>
            <a:srgbClr val="57068C"/>
          </a:solidFill>
          <a:ln/>
        </p:spPr>
      </p:sp>
      <p:sp>
        <p:nvSpPr>
          <p:cNvPr id="3" name="shape-2"/>
          <p:cNvSpPr/>
          <p:nvPr/>
        </p:nvSpPr>
        <p:spPr>
          <a:xfrm>
            <a:off x="457845" y="406400"/>
            <a:ext cx="130175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57068C"/>
            </a:solidFill>
            <a:prstDash val="solid"/>
          </a:ln>
        </p:spPr>
      </p:sp>
      <p:pic>
        <p:nvPicPr>
          <p:cNvPr id="4" name="svg-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5" name="text-4"/>
          <p:cNvSpPr txBox="1"/>
          <p:nvPr/>
        </p:nvSpPr>
        <p:spPr>
          <a:xfrm>
            <a:off x="788045" y="48260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ПРИЧИНА 1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/ 09</a:t>
            </a:r>
            <a:endParaRPr lang="en-US" sz="1000" dirty="0"/>
          </a:p>
        </p:txBody>
      </p:sp>
      <p:pic>
        <p:nvPicPr>
          <p:cNvPr id="7" name="svg-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" y="1079500"/>
            <a:ext cx="254000" cy="254000"/>
          </a:xfrm>
          <a:prstGeom prst="rect">
            <a:avLst/>
          </a:prstGeom>
        </p:spPr>
      </p:pic>
      <p:pic>
        <p:nvPicPr>
          <p:cNvPr id="8" name="svg-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4500" y="4381500"/>
            <a:ext cx="190500" cy="190500"/>
          </a:xfrm>
          <a:prstGeom prst="rect">
            <a:avLst/>
          </a:prstGeom>
        </p:spPr>
      </p:pic>
      <p:sp>
        <p:nvSpPr>
          <p:cNvPr id="9" name="text-8"/>
          <p:cNvSpPr txBox="1"/>
          <p:nvPr/>
        </p:nvSpPr>
        <p:spPr>
          <a:xfrm>
            <a:off x="457200" y="5164137"/>
            <a:ext cx="6300216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4600" b="1" spc="-16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Я видел, как всё </a:t>
            </a:r>
            <a:pPr algn="l" indent="0" marL="0">
              <a:lnSpc>
                <a:spcPts val="4600"/>
              </a:lnSpc>
              <a:buNone/>
            </a:pPr>
            <a:r>
              <a:rPr lang="en-US" sz="5200" i="1" spc="-100" kern="0" dirty="0">
                <a:solidFill>
                  <a:srgbClr val="57068C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началось</a:t>
            </a:r>
            <a:endParaRPr lang="en-US" sz="4600" dirty="0"/>
          </a:p>
        </p:txBody>
      </p:sp>
      <p:sp>
        <p:nvSpPr>
          <p:cNvPr id="10" name="text-9"/>
          <p:cNvSpPr txBox="1"/>
          <p:nvPr/>
        </p:nvSpPr>
        <p:spPr>
          <a:xfrm>
            <a:off x="457845" y="6536928"/>
            <a:ext cx="6246368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Война началась прямо в день моего интервью. Жить четыре года рядом с этим я не захотел.</a:t>
            </a:r>
            <a:endParaRPr lang="en-US" sz="1400" dirty="0"/>
          </a:p>
        </p:txBody>
      </p:sp>
      <p:sp>
        <p:nvSpPr>
          <p:cNvPr id="11" name="text-10"/>
          <p:cNvSpPr txBox="1"/>
          <p:nvPr/>
        </p:nvSpPr>
        <p:spPr>
          <a:xfrm>
            <a:off x="457845" y="7123509"/>
            <a:ext cx="6246368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Трое друзей из той же поездки всё равно поехали учиться, и у них всё хорошо. Каждый решает за себя.</a:t>
            </a:r>
            <a:endParaRPr lang="en-US" sz="1400" dirty="0"/>
          </a:p>
        </p:txBody>
      </p:sp>
      <p:sp>
        <p:nvSpPr>
          <p:cNvPr id="12" name="text-11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3" name="shape-12"/>
          <p:cNvSpPr/>
          <p:nvPr/>
        </p:nvSpPr>
        <p:spPr>
          <a:xfrm>
            <a:off x="5340945" y="7893050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14" name="text-13"/>
          <p:cNvSpPr txBox="1"/>
          <p:nvPr/>
        </p:nvSpPr>
        <p:spPr>
          <a:xfrm>
            <a:off x="5480645" y="796925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ЛИСТАЙ</a:t>
            </a:r>
            <a:endParaRPr lang="en-US" sz="1000" dirty="0"/>
          </a:p>
        </p:txBody>
      </p:sp>
      <p:pic>
        <p:nvPicPr>
          <p:cNvPr id="15" name="svg-1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16" name="shape-15"/>
          <p:cNvSpPr/>
          <p:nvPr/>
        </p:nvSpPr>
        <p:spPr>
          <a:xfrm rot="240000">
            <a:off x="3302000" y="889000"/>
            <a:ext cx="2984500" cy="355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7" name="shape-16"/>
          <p:cNvSpPr/>
          <p:nvPr/>
        </p:nvSpPr>
        <p:spPr>
          <a:xfrm rot="60000">
            <a:off x="4503755" y="791669"/>
            <a:ext cx="825500" cy="2540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sp>
        <p:nvSpPr>
          <p:cNvPr id="18" name="text-17"/>
          <p:cNvSpPr txBox="1"/>
          <p:nvPr/>
        </p:nvSpPr>
        <p:spPr>
          <a:xfrm rot="240000">
            <a:off x="3847385" y="762306"/>
            <a:ext cx="2026031" cy="355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0"/>
              </a:lnSpc>
              <a:buNone/>
            </a:pPr>
            <a:r>
              <a:rPr lang="en-US" sz="280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1</a:t>
            </a:r>
            <a:endParaRPr lang="en-US" sz="28000" dirty="0"/>
          </a:p>
        </p:txBody>
      </p:sp>
      <p:sp>
        <p:nvSpPr>
          <p:cNvPr id="19" name="shape-18"/>
          <p:cNvSpPr/>
          <p:nvPr/>
        </p:nvSpPr>
        <p:spPr>
          <a:xfrm rot="-300000">
            <a:off x="406152" y="1587500"/>
            <a:ext cx="2374900" cy="374650"/>
          </a:xfrm>
          <a:prstGeom prst="roundRect">
            <a:avLst>
              <a:gd name="adj" fmla="val 50000"/>
            </a:avLst>
          </a:prstGeom>
          <a:solidFill>
            <a:srgbClr val="57068C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0" name="svg-19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-300000">
            <a:off x="537096" y="1770580"/>
            <a:ext cx="177800" cy="177800"/>
          </a:xfrm>
          <a:prstGeom prst="rect">
            <a:avLst/>
          </a:prstGeom>
        </p:spPr>
      </p:pic>
      <p:sp>
        <p:nvSpPr>
          <p:cNvPr id="21" name="text-20"/>
          <p:cNvSpPr txBox="1"/>
          <p:nvPr/>
        </p:nvSpPr>
        <p:spPr>
          <a:xfrm rot="-300000">
            <a:off x="786669" y="1652631"/>
            <a:ext cx="1978914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обстановка в регионе</a:t>
            </a:r>
            <a:endParaRPr lang="en-US" sz="1350" dirty="0"/>
          </a:p>
        </p:txBody>
      </p:sp>
      <p:sp>
        <p:nvSpPr>
          <p:cNvPr id="22" name="shape-21"/>
          <p:cNvSpPr/>
          <p:nvPr/>
        </p:nvSpPr>
        <p:spPr>
          <a:xfrm rot="180000">
            <a:off x="634901" y="2540000"/>
            <a:ext cx="2800350" cy="4000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3" name="svg-22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80000">
            <a:off x="776305" y="2589815"/>
            <a:ext cx="177800" cy="177800"/>
          </a:xfrm>
          <a:prstGeom prst="rect">
            <a:avLst/>
          </a:prstGeom>
        </p:spPr>
      </p:pic>
      <p:sp>
        <p:nvSpPr>
          <p:cNvPr id="24" name="text-23"/>
          <p:cNvSpPr txBox="1"/>
          <p:nvPr/>
        </p:nvSpPr>
        <p:spPr>
          <a:xfrm rot="180000">
            <a:off x="1028427" y="2635547"/>
            <a:ext cx="2402967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3 друга всё равно поехали</a:t>
            </a:r>
            <a:endParaRPr lang="en-US" sz="1350" dirty="0"/>
          </a:p>
        </p:txBody>
      </p:sp>
      <p:sp>
        <p:nvSpPr>
          <p:cNvPr id="25" name="text-24"/>
          <p:cNvSpPr txBox="1"/>
          <p:nvPr/>
        </p:nvSpPr>
        <p:spPr>
          <a:xfrm rot="-240000">
            <a:off x="506710" y="3554809"/>
            <a:ext cx="1891411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каждый решает</a:t>
            </a:r>
            <a:endParaRPr lang="en-US" sz="1800" dirty="0"/>
          </a:p>
          <a:p>
            <a:pPr algn="l" indent="0" marL="0">
              <a:lnSpc>
                <a:spcPts val="202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сам за себя</a:t>
            </a:r>
            <a:endParaRPr lang="en-US" sz="1800" dirty="0"/>
          </a:p>
        </p:txBody>
      </p:sp>
      <p:sp>
        <p:nvSpPr>
          <p:cNvPr id="26" name="shape-25"/>
          <p:cNvSpPr/>
          <p:nvPr/>
        </p:nvSpPr>
        <p:spPr>
          <a:xfrm rot="-360000">
            <a:off x="3289300" y="2984500"/>
            <a:ext cx="584200" cy="584200"/>
          </a:xfrm>
          <a:prstGeom prst="ellipse">
            <a:avLst/>
          </a:prstGeom>
          <a:solidFill>
            <a:srgbClr val="57068C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7" name="svg-2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-360000">
            <a:off x="3435350" y="3130550"/>
            <a:ext cx="292100" cy="2921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0" y="0"/>
            <a:ext cx="6858000" cy="76200"/>
          </a:xfrm>
          <a:prstGeom prst="rect">
            <a:avLst/>
          </a:prstGeom>
          <a:solidFill>
            <a:srgbClr val="57068C"/>
          </a:solidFill>
          <a:ln/>
        </p:spPr>
      </p:sp>
      <p:sp>
        <p:nvSpPr>
          <p:cNvPr id="3" name="shape-2"/>
          <p:cNvSpPr/>
          <p:nvPr/>
        </p:nvSpPr>
        <p:spPr>
          <a:xfrm>
            <a:off x="457845" y="406400"/>
            <a:ext cx="130175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57068C"/>
            </a:solidFill>
            <a:prstDash val="solid"/>
          </a:ln>
        </p:spPr>
      </p:sp>
      <p:pic>
        <p:nvPicPr>
          <p:cNvPr id="4" name="svg-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5" name="text-4"/>
          <p:cNvSpPr txBox="1"/>
          <p:nvPr/>
        </p:nvSpPr>
        <p:spPr>
          <a:xfrm>
            <a:off x="788045" y="48260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ПРИЧИНА 2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/ 09</a:t>
            </a:r>
            <a:endParaRPr lang="en-US" sz="1000" dirty="0"/>
          </a:p>
        </p:txBody>
      </p:sp>
      <p:pic>
        <p:nvPicPr>
          <p:cNvPr id="7" name="svg-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0" y="1206500"/>
            <a:ext cx="254000" cy="254000"/>
          </a:xfrm>
          <a:prstGeom prst="rect">
            <a:avLst/>
          </a:prstGeom>
        </p:spPr>
      </p:pic>
      <p:pic>
        <p:nvPicPr>
          <p:cNvPr id="8" name="svg-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0500" y="5461000"/>
            <a:ext cx="190500" cy="190500"/>
          </a:xfrm>
          <a:prstGeom prst="rect">
            <a:avLst/>
          </a:prstGeom>
        </p:spPr>
      </p:pic>
      <p:sp>
        <p:nvSpPr>
          <p:cNvPr id="9" name="text-8"/>
          <p:cNvSpPr txBox="1"/>
          <p:nvPr/>
        </p:nvSpPr>
        <p:spPr>
          <a:xfrm>
            <a:off x="457200" y="889000"/>
            <a:ext cx="6300216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4600" b="1" spc="-16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Родители </a:t>
            </a:r>
            <a:pPr algn="l" indent="0" marL="0">
              <a:lnSpc>
                <a:spcPts val="4600"/>
              </a:lnSpc>
              <a:buNone/>
            </a:pPr>
            <a:r>
              <a:rPr lang="en-US" sz="5200" i="1" spc="-100" kern="0" dirty="0">
                <a:solidFill>
                  <a:srgbClr val="57068C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переживали</a:t>
            </a:r>
            <a:endParaRPr lang="en-US" sz="4600" dirty="0"/>
          </a:p>
        </p:txBody>
      </p:sp>
      <p:sp>
        <p:nvSpPr>
          <p:cNvPr id="10" name="text-9"/>
          <p:cNvSpPr txBox="1"/>
          <p:nvPr/>
        </p:nvSpPr>
        <p:spPr>
          <a:xfrm>
            <a:off x="457845" y="2261791"/>
            <a:ext cx="6246368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Мама и папа боялись за меня. Я мог настоять на своём, но не стал: их спокойствие оказалось для меня важнее.</a:t>
            </a:r>
            <a:endParaRPr lang="en-US" sz="1400" dirty="0"/>
          </a:p>
        </p:txBody>
      </p:sp>
      <p:sp>
        <p:nvSpPr>
          <p:cNvPr id="11" name="text-10"/>
          <p:cNvSpPr txBox="1"/>
          <p:nvPr/>
        </p:nvSpPr>
        <p:spPr>
          <a:xfrm>
            <a:off x="457845" y="2848372"/>
            <a:ext cx="6246368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Со стороны похоже, будто я просто послушался родителей. Дочитай до четвёртой причины.</a:t>
            </a:r>
            <a:endParaRPr lang="en-US" sz="1400" dirty="0"/>
          </a:p>
        </p:txBody>
      </p:sp>
      <p:sp>
        <p:nvSpPr>
          <p:cNvPr id="12" name="text-11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3" name="shape-12"/>
          <p:cNvSpPr/>
          <p:nvPr/>
        </p:nvSpPr>
        <p:spPr>
          <a:xfrm>
            <a:off x="5340945" y="7893050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14" name="text-13"/>
          <p:cNvSpPr txBox="1"/>
          <p:nvPr/>
        </p:nvSpPr>
        <p:spPr>
          <a:xfrm>
            <a:off x="5480645" y="796925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ЛИСТАЙ</a:t>
            </a:r>
            <a:endParaRPr lang="en-US" sz="1000" dirty="0"/>
          </a:p>
        </p:txBody>
      </p:sp>
      <p:pic>
        <p:nvPicPr>
          <p:cNvPr id="15" name="svg-1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16" name="shape-15"/>
          <p:cNvSpPr/>
          <p:nvPr/>
        </p:nvSpPr>
        <p:spPr>
          <a:xfrm rot="-240000">
            <a:off x="508000" y="4127500"/>
            <a:ext cx="2984500" cy="355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7" name="shape-16"/>
          <p:cNvSpPr/>
          <p:nvPr/>
        </p:nvSpPr>
        <p:spPr>
          <a:xfrm rot="-420000">
            <a:off x="1465245" y="4030169"/>
            <a:ext cx="825500" cy="2540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sp>
        <p:nvSpPr>
          <p:cNvPr id="18" name="text-17"/>
          <p:cNvSpPr txBox="1"/>
          <p:nvPr/>
        </p:nvSpPr>
        <p:spPr>
          <a:xfrm rot="-240000">
            <a:off x="1035666" y="4000813"/>
            <a:ext cx="2026031" cy="355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0"/>
              </a:lnSpc>
              <a:buNone/>
            </a:pPr>
            <a:r>
              <a:rPr lang="en-US" sz="280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2</a:t>
            </a:r>
            <a:endParaRPr lang="en-US" sz="28000" dirty="0"/>
          </a:p>
        </p:txBody>
      </p:sp>
      <p:sp>
        <p:nvSpPr>
          <p:cNvPr id="19" name="shape-18"/>
          <p:cNvSpPr/>
          <p:nvPr/>
        </p:nvSpPr>
        <p:spPr>
          <a:xfrm rot="300000">
            <a:off x="4311104" y="5213350"/>
            <a:ext cx="2165350" cy="374650"/>
          </a:xfrm>
          <a:prstGeom prst="roundRect">
            <a:avLst>
              <a:gd name="adj" fmla="val 50000"/>
            </a:avLst>
          </a:prstGeom>
          <a:solidFill>
            <a:srgbClr val="57068C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0" name="svg-19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300000">
            <a:off x="4440859" y="5236183"/>
            <a:ext cx="177800" cy="177800"/>
          </a:xfrm>
          <a:prstGeom prst="rect">
            <a:avLst/>
          </a:prstGeom>
        </p:spPr>
      </p:pic>
      <p:sp>
        <p:nvSpPr>
          <p:cNvPr id="21" name="text-20"/>
          <p:cNvSpPr txBox="1"/>
          <p:nvPr/>
        </p:nvSpPr>
        <p:spPr>
          <a:xfrm rot="300000">
            <a:off x="4691621" y="5300619"/>
            <a:ext cx="1756791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спокойствие семьи</a:t>
            </a:r>
            <a:endParaRPr lang="en-US" sz="1350" dirty="0"/>
          </a:p>
        </p:txBody>
      </p:sp>
      <p:sp>
        <p:nvSpPr>
          <p:cNvPr id="22" name="shape-21"/>
          <p:cNvSpPr/>
          <p:nvPr/>
        </p:nvSpPr>
        <p:spPr>
          <a:xfrm rot="-180000">
            <a:off x="4381550" y="6076950"/>
            <a:ext cx="1905000" cy="4000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3" name="svg-22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-180000">
            <a:off x="4522291" y="6225958"/>
            <a:ext cx="177800" cy="177800"/>
          </a:xfrm>
          <a:prstGeom prst="rect">
            <a:avLst/>
          </a:prstGeom>
        </p:spPr>
      </p:pic>
      <p:sp>
        <p:nvSpPr>
          <p:cNvPr id="24" name="text-23"/>
          <p:cNvSpPr txBox="1"/>
          <p:nvPr/>
        </p:nvSpPr>
        <p:spPr>
          <a:xfrm rot="-180000">
            <a:off x="4775076" y="6159203"/>
            <a:ext cx="1453896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не стал спорить</a:t>
            </a:r>
            <a:endParaRPr lang="en-US" sz="1350" dirty="0"/>
          </a:p>
        </p:txBody>
      </p:sp>
      <p:sp>
        <p:nvSpPr>
          <p:cNvPr id="25" name="text-24"/>
          <p:cNvSpPr txBox="1"/>
          <p:nvPr/>
        </p:nvSpPr>
        <p:spPr>
          <a:xfrm rot="-240000">
            <a:off x="4828397" y="6979841"/>
            <a:ext cx="1521206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02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дочитай</a:t>
            </a:r>
            <a:endParaRPr lang="en-US" sz="1800" dirty="0"/>
          </a:p>
          <a:p>
            <a:pPr algn="r" indent="0" marL="0">
              <a:lnSpc>
                <a:spcPts val="202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до причины 4</a:t>
            </a:r>
            <a:endParaRPr lang="en-US" sz="1800" dirty="0"/>
          </a:p>
        </p:txBody>
      </p:sp>
      <p:sp>
        <p:nvSpPr>
          <p:cNvPr id="26" name="shape-25"/>
          <p:cNvSpPr/>
          <p:nvPr/>
        </p:nvSpPr>
        <p:spPr>
          <a:xfrm rot="-360000">
            <a:off x="2984500" y="4051300"/>
            <a:ext cx="584200" cy="584200"/>
          </a:xfrm>
          <a:prstGeom prst="ellipse">
            <a:avLst/>
          </a:prstGeom>
          <a:solidFill>
            <a:srgbClr val="57068C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7" name="svg-2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-360000">
            <a:off x="3130550" y="4197350"/>
            <a:ext cx="292100" cy="2921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0" y="0"/>
            <a:ext cx="6858000" cy="76200"/>
          </a:xfrm>
          <a:prstGeom prst="rect">
            <a:avLst/>
          </a:prstGeom>
          <a:solidFill>
            <a:srgbClr val="57068C"/>
          </a:solidFill>
          <a:ln/>
        </p:spPr>
      </p:sp>
      <p:sp>
        <p:nvSpPr>
          <p:cNvPr id="3" name="shape-2"/>
          <p:cNvSpPr/>
          <p:nvPr/>
        </p:nvSpPr>
        <p:spPr>
          <a:xfrm>
            <a:off x="457845" y="406400"/>
            <a:ext cx="130175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57068C"/>
            </a:solidFill>
            <a:prstDash val="solid"/>
          </a:ln>
        </p:spPr>
      </p:sp>
      <p:pic>
        <p:nvPicPr>
          <p:cNvPr id="4" name="svg-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5" name="text-4"/>
          <p:cNvSpPr txBox="1"/>
          <p:nvPr/>
        </p:nvSpPr>
        <p:spPr>
          <a:xfrm>
            <a:off x="788045" y="48260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ПРИЧИНА 3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 / 09</a:t>
            </a:r>
            <a:endParaRPr lang="en-US" sz="1000" dirty="0"/>
          </a:p>
        </p:txBody>
      </p:sp>
      <p:pic>
        <p:nvPicPr>
          <p:cNvPr id="7" name="svg-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" y="1079500"/>
            <a:ext cx="254000" cy="254000"/>
          </a:xfrm>
          <a:prstGeom prst="rect">
            <a:avLst/>
          </a:prstGeom>
        </p:spPr>
      </p:pic>
      <p:pic>
        <p:nvPicPr>
          <p:cNvPr id="8" name="svg-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4500" y="4381500"/>
            <a:ext cx="190500" cy="190500"/>
          </a:xfrm>
          <a:prstGeom prst="rect">
            <a:avLst/>
          </a:prstGeom>
        </p:spPr>
      </p:pic>
      <p:sp>
        <p:nvSpPr>
          <p:cNvPr id="9" name="text-8"/>
          <p:cNvSpPr txBox="1"/>
          <p:nvPr/>
        </p:nvSpPr>
        <p:spPr>
          <a:xfrm>
            <a:off x="457200" y="5748338"/>
            <a:ext cx="6300216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4600" b="1" spc="-16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Я не увидел там </a:t>
            </a:r>
            <a:pPr algn="l" indent="0" marL="0">
              <a:lnSpc>
                <a:spcPts val="4600"/>
              </a:lnSpc>
              <a:buNone/>
            </a:pPr>
            <a:r>
              <a:rPr lang="en-US" sz="5200" i="1" spc="-100" kern="0" dirty="0">
                <a:solidFill>
                  <a:srgbClr val="57068C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себя</a:t>
            </a:r>
            <a:endParaRPr lang="en-US" sz="4600" dirty="0"/>
          </a:p>
        </p:txBody>
      </p:sp>
      <p:sp>
        <p:nvSpPr>
          <p:cNvPr id="10" name="text-9"/>
          <p:cNvSpPr txBox="1"/>
          <p:nvPr/>
        </p:nvSpPr>
        <p:spPr>
          <a:xfrm>
            <a:off x="457845" y="6536928"/>
            <a:ext cx="6246368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Когда подавался, я смотрел на две вещи: престиж и стипендию. В Абу-Даби понял, что этого мало.</a:t>
            </a:r>
            <a:endParaRPr lang="en-US" sz="1400" dirty="0"/>
          </a:p>
        </p:txBody>
      </p:sp>
      <p:sp>
        <p:nvSpPr>
          <p:cNvPr id="11" name="text-10"/>
          <p:cNvSpPr txBox="1"/>
          <p:nvPr/>
        </p:nvSpPr>
        <p:spPr>
          <a:xfrm>
            <a:off x="457845" y="7123509"/>
            <a:ext cx="6246368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Мне понравились люди и культура. Но представить себя там через четыре года я так и не смог. И жару я тоже не полюбил.</a:t>
            </a:r>
            <a:endParaRPr lang="en-US" sz="1400" dirty="0"/>
          </a:p>
        </p:txBody>
      </p:sp>
      <p:sp>
        <p:nvSpPr>
          <p:cNvPr id="12" name="text-11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3" name="shape-12"/>
          <p:cNvSpPr/>
          <p:nvPr/>
        </p:nvSpPr>
        <p:spPr>
          <a:xfrm>
            <a:off x="5340945" y="7893050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14" name="text-13"/>
          <p:cNvSpPr txBox="1"/>
          <p:nvPr/>
        </p:nvSpPr>
        <p:spPr>
          <a:xfrm>
            <a:off x="5480645" y="796925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ЛИСТАЙ</a:t>
            </a:r>
            <a:endParaRPr lang="en-US" sz="1000" dirty="0"/>
          </a:p>
        </p:txBody>
      </p:sp>
      <p:pic>
        <p:nvPicPr>
          <p:cNvPr id="15" name="svg-1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16" name="shape-15"/>
          <p:cNvSpPr/>
          <p:nvPr/>
        </p:nvSpPr>
        <p:spPr>
          <a:xfrm rot="240000">
            <a:off x="3302000" y="889000"/>
            <a:ext cx="2984500" cy="355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7" name="shape-16"/>
          <p:cNvSpPr/>
          <p:nvPr/>
        </p:nvSpPr>
        <p:spPr>
          <a:xfrm rot="60000">
            <a:off x="4503755" y="791669"/>
            <a:ext cx="825500" cy="2540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sp>
        <p:nvSpPr>
          <p:cNvPr id="18" name="text-17"/>
          <p:cNvSpPr txBox="1"/>
          <p:nvPr/>
        </p:nvSpPr>
        <p:spPr>
          <a:xfrm rot="240000">
            <a:off x="3847385" y="762306"/>
            <a:ext cx="2026031" cy="355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0"/>
              </a:lnSpc>
              <a:buNone/>
            </a:pPr>
            <a:r>
              <a:rPr lang="en-US" sz="280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3</a:t>
            </a:r>
            <a:endParaRPr lang="en-US" sz="28000" dirty="0"/>
          </a:p>
        </p:txBody>
      </p:sp>
      <p:sp>
        <p:nvSpPr>
          <p:cNvPr id="19" name="shape-18"/>
          <p:cNvSpPr/>
          <p:nvPr/>
        </p:nvSpPr>
        <p:spPr>
          <a:xfrm rot="-300000">
            <a:off x="407442" y="1587500"/>
            <a:ext cx="2336800" cy="374650"/>
          </a:xfrm>
          <a:prstGeom prst="roundRect">
            <a:avLst>
              <a:gd name="adj" fmla="val 50000"/>
            </a:avLst>
          </a:prstGeom>
          <a:solidFill>
            <a:srgbClr val="57068C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0" name="svg-19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-300000">
            <a:off x="537029" y="1769032"/>
            <a:ext cx="177800" cy="177800"/>
          </a:xfrm>
          <a:prstGeom prst="rect">
            <a:avLst/>
          </a:prstGeom>
        </p:spPr>
      </p:pic>
      <p:sp>
        <p:nvSpPr>
          <p:cNvPr id="21" name="text-20"/>
          <p:cNvSpPr txBox="1"/>
          <p:nvPr/>
        </p:nvSpPr>
        <p:spPr>
          <a:xfrm rot="-300000">
            <a:off x="787959" y="1652631"/>
            <a:ext cx="193852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престиж ≠ моё место</a:t>
            </a:r>
            <a:endParaRPr lang="en-US" sz="1350" dirty="0"/>
          </a:p>
        </p:txBody>
      </p:sp>
      <p:sp>
        <p:nvSpPr>
          <p:cNvPr id="22" name="shape-21"/>
          <p:cNvSpPr/>
          <p:nvPr/>
        </p:nvSpPr>
        <p:spPr>
          <a:xfrm rot="180000">
            <a:off x="636389" y="2540000"/>
            <a:ext cx="1530350" cy="4000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3" name="svg-22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80000">
            <a:off x="775437" y="2622970"/>
            <a:ext cx="177800" cy="177800"/>
          </a:xfrm>
          <a:prstGeom prst="rect">
            <a:avLst/>
          </a:prstGeom>
        </p:spPr>
      </p:pic>
      <p:sp>
        <p:nvSpPr>
          <p:cNvPr id="24" name="text-23"/>
          <p:cNvSpPr txBox="1"/>
          <p:nvPr/>
        </p:nvSpPr>
        <p:spPr>
          <a:xfrm rot="180000">
            <a:off x="1029915" y="2635547"/>
            <a:ext cx="1056767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+40° не моё</a:t>
            </a:r>
            <a:endParaRPr lang="en-US" sz="1350" dirty="0"/>
          </a:p>
        </p:txBody>
      </p:sp>
      <p:sp>
        <p:nvSpPr>
          <p:cNvPr id="25" name="text-24"/>
          <p:cNvSpPr txBox="1"/>
          <p:nvPr/>
        </p:nvSpPr>
        <p:spPr>
          <a:xfrm rot="-240000">
            <a:off x="506859" y="3554809"/>
            <a:ext cx="1326007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люди там</a:t>
            </a:r>
            <a:endParaRPr lang="en-US" sz="1800" dirty="0"/>
          </a:p>
          <a:p>
            <a:pPr algn="l" indent="0" marL="0">
              <a:lnSpc>
                <a:spcPts val="202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прекрасные</a:t>
            </a:r>
            <a:endParaRPr lang="en-US" sz="1800" dirty="0"/>
          </a:p>
        </p:txBody>
      </p:sp>
      <p:sp>
        <p:nvSpPr>
          <p:cNvPr id="26" name="shape-25"/>
          <p:cNvSpPr/>
          <p:nvPr/>
        </p:nvSpPr>
        <p:spPr>
          <a:xfrm rot="-360000">
            <a:off x="3289300" y="2984500"/>
            <a:ext cx="584200" cy="584200"/>
          </a:xfrm>
          <a:prstGeom prst="ellipse">
            <a:avLst/>
          </a:prstGeom>
          <a:solidFill>
            <a:srgbClr val="57068C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7" name="svg-2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-360000">
            <a:off x="3435350" y="3130550"/>
            <a:ext cx="292100" cy="2921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0" y="0"/>
            <a:ext cx="6858000" cy="76200"/>
          </a:xfrm>
          <a:prstGeom prst="rect">
            <a:avLst/>
          </a:prstGeom>
          <a:solidFill>
            <a:srgbClr val="57068C"/>
          </a:solidFill>
          <a:ln/>
        </p:spPr>
      </p:sp>
      <p:sp>
        <p:nvSpPr>
          <p:cNvPr id="3" name="shape-2"/>
          <p:cNvSpPr/>
          <p:nvPr/>
        </p:nvSpPr>
        <p:spPr>
          <a:xfrm>
            <a:off x="457845" y="406400"/>
            <a:ext cx="130175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57068C"/>
            </a:solidFill>
            <a:prstDash val="solid"/>
          </a:ln>
        </p:spPr>
      </p:sp>
      <p:pic>
        <p:nvPicPr>
          <p:cNvPr id="4" name="svg-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5" name="text-4"/>
          <p:cNvSpPr txBox="1"/>
          <p:nvPr/>
        </p:nvSpPr>
        <p:spPr>
          <a:xfrm>
            <a:off x="788045" y="48260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ПРИЧИНА 4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 / 09</a:t>
            </a:r>
            <a:endParaRPr lang="en-US" sz="1000" dirty="0"/>
          </a:p>
        </p:txBody>
      </p:sp>
      <p:pic>
        <p:nvPicPr>
          <p:cNvPr id="7" name="svg-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0" y="1206500"/>
            <a:ext cx="254000" cy="254000"/>
          </a:xfrm>
          <a:prstGeom prst="rect">
            <a:avLst/>
          </a:prstGeom>
        </p:spPr>
      </p:pic>
      <p:pic>
        <p:nvPicPr>
          <p:cNvPr id="8" name="svg-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0500" y="5461000"/>
            <a:ext cx="190500" cy="190500"/>
          </a:xfrm>
          <a:prstGeom prst="rect">
            <a:avLst/>
          </a:prstGeom>
        </p:spPr>
      </p:pic>
      <p:sp>
        <p:nvSpPr>
          <p:cNvPr id="9" name="text-8"/>
          <p:cNvSpPr txBox="1"/>
          <p:nvPr/>
        </p:nvSpPr>
        <p:spPr>
          <a:xfrm>
            <a:off x="457200" y="889000"/>
            <a:ext cx="6300216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4600" b="1" spc="-16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Я умею учиться </a:t>
            </a:r>
            <a:pPr algn="l" indent="0" marL="0">
              <a:lnSpc>
                <a:spcPts val="4600"/>
              </a:lnSpc>
              <a:buNone/>
            </a:pPr>
            <a:r>
              <a:rPr lang="en-US" sz="5200" i="1" spc="-100" kern="0" dirty="0">
                <a:solidFill>
                  <a:srgbClr val="57068C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сам</a:t>
            </a:r>
            <a:endParaRPr lang="en-US" sz="4600" dirty="0"/>
          </a:p>
        </p:txBody>
      </p:sp>
      <p:sp>
        <p:nvSpPr>
          <p:cNvPr id="10" name="text-9"/>
          <p:cNvSpPr txBox="1"/>
          <p:nvPr/>
        </p:nvSpPr>
        <p:spPr>
          <a:xfrm>
            <a:off x="457845" y="1677591"/>
            <a:ext cx="6246368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В конце 12 класса я заметил простую вещь. Всё, чего я добился, я выучил сам: химию, историю, SAT, IELTS, даже бодибилдинг.</a:t>
            </a:r>
            <a:endParaRPr lang="en-US" sz="1400" dirty="0"/>
          </a:p>
        </p:txBody>
      </p:sp>
      <p:sp>
        <p:nvSpPr>
          <p:cNvPr id="11" name="text-10"/>
          <p:cNvSpPr txBox="1"/>
          <p:nvPr/>
        </p:nvSpPr>
        <p:spPr>
          <a:xfrm>
            <a:off x="457845" y="2264172"/>
            <a:ext cx="6246368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Хороший университет помогает. Но если место не твоё, семья переживает, а цена слишком высокая, ехать нет смысла.</a:t>
            </a:r>
            <a:endParaRPr lang="en-US" sz="1400" dirty="0"/>
          </a:p>
        </p:txBody>
      </p:sp>
      <p:sp>
        <p:nvSpPr>
          <p:cNvPr id="12" name="text-11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3" name="shape-12"/>
          <p:cNvSpPr/>
          <p:nvPr/>
        </p:nvSpPr>
        <p:spPr>
          <a:xfrm>
            <a:off x="5340945" y="7893050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14" name="text-13"/>
          <p:cNvSpPr txBox="1"/>
          <p:nvPr/>
        </p:nvSpPr>
        <p:spPr>
          <a:xfrm>
            <a:off x="5480645" y="796925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ЛИСТАЙ</a:t>
            </a:r>
            <a:endParaRPr lang="en-US" sz="1000" dirty="0"/>
          </a:p>
        </p:txBody>
      </p:sp>
      <p:pic>
        <p:nvPicPr>
          <p:cNvPr id="15" name="svg-1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16" name="shape-15"/>
          <p:cNvSpPr/>
          <p:nvPr/>
        </p:nvSpPr>
        <p:spPr>
          <a:xfrm rot="-240000">
            <a:off x="508000" y="4127500"/>
            <a:ext cx="2984500" cy="355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7" name="shape-16"/>
          <p:cNvSpPr/>
          <p:nvPr/>
        </p:nvSpPr>
        <p:spPr>
          <a:xfrm rot="-420000">
            <a:off x="1465245" y="4030169"/>
            <a:ext cx="825500" cy="2540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sp>
        <p:nvSpPr>
          <p:cNvPr id="18" name="text-17"/>
          <p:cNvSpPr txBox="1"/>
          <p:nvPr/>
        </p:nvSpPr>
        <p:spPr>
          <a:xfrm rot="-240000">
            <a:off x="1035666" y="4000813"/>
            <a:ext cx="2026031" cy="355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0"/>
              </a:lnSpc>
              <a:buNone/>
            </a:pPr>
            <a:r>
              <a:rPr lang="en-US" sz="280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4</a:t>
            </a:r>
            <a:endParaRPr lang="en-US" sz="28000" dirty="0"/>
          </a:p>
        </p:txBody>
      </p:sp>
      <p:sp>
        <p:nvSpPr>
          <p:cNvPr id="19" name="shape-18"/>
          <p:cNvSpPr/>
          <p:nvPr/>
        </p:nvSpPr>
        <p:spPr>
          <a:xfrm rot="300000">
            <a:off x="5118001" y="5213350"/>
            <a:ext cx="1358900" cy="374650"/>
          </a:xfrm>
          <a:prstGeom prst="roundRect">
            <a:avLst>
              <a:gd name="adj" fmla="val 50000"/>
            </a:avLst>
          </a:prstGeom>
          <a:solidFill>
            <a:srgbClr val="57068C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0" name="svg-19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300000">
            <a:off x="5246666" y="5271365"/>
            <a:ext cx="177800" cy="177800"/>
          </a:xfrm>
          <a:prstGeom prst="rect">
            <a:avLst/>
          </a:prstGeom>
        </p:spPr>
      </p:pic>
      <p:sp>
        <p:nvSpPr>
          <p:cNvPr id="21" name="text-20"/>
          <p:cNvSpPr txBox="1"/>
          <p:nvPr/>
        </p:nvSpPr>
        <p:spPr>
          <a:xfrm rot="300000">
            <a:off x="5498517" y="5300619"/>
            <a:ext cx="901954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учусь сам</a:t>
            </a:r>
            <a:endParaRPr lang="en-US" sz="1350" dirty="0"/>
          </a:p>
        </p:txBody>
      </p:sp>
      <p:sp>
        <p:nvSpPr>
          <p:cNvPr id="22" name="shape-21"/>
          <p:cNvSpPr/>
          <p:nvPr/>
        </p:nvSpPr>
        <p:spPr>
          <a:xfrm rot="-180000">
            <a:off x="4236889" y="6076950"/>
            <a:ext cx="2051050" cy="4000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3" name="svg-22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-180000">
            <a:off x="4379118" y="6229708"/>
            <a:ext cx="177800" cy="177800"/>
          </a:xfrm>
          <a:prstGeom prst="rect">
            <a:avLst/>
          </a:prstGeom>
        </p:spPr>
      </p:pic>
      <p:sp>
        <p:nvSpPr>
          <p:cNvPr id="24" name="text-23"/>
          <p:cNvSpPr txBox="1"/>
          <p:nvPr/>
        </p:nvSpPr>
        <p:spPr>
          <a:xfrm rot="-180000">
            <a:off x="4630415" y="6159203"/>
            <a:ext cx="1608709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SAT · IELTS · химия</a:t>
            </a:r>
            <a:endParaRPr lang="en-US" sz="1350" dirty="0"/>
          </a:p>
        </p:txBody>
      </p:sp>
      <p:sp>
        <p:nvSpPr>
          <p:cNvPr id="25" name="text-24"/>
          <p:cNvSpPr txBox="1"/>
          <p:nvPr/>
        </p:nvSpPr>
        <p:spPr>
          <a:xfrm rot="-240000">
            <a:off x="4103384" y="6724848"/>
            <a:ext cx="2248154" cy="768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02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вот почему</a:t>
            </a:r>
            <a:endParaRPr lang="en-US" sz="1800" dirty="0"/>
          </a:p>
          <a:p>
            <a:pPr algn="r" indent="0" marL="0">
              <a:lnSpc>
                <a:spcPts val="202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это не «послушный</a:t>
            </a:r>
            <a:endParaRPr lang="en-US" sz="1800" dirty="0"/>
          </a:p>
          <a:p>
            <a:pPr algn="r" indent="0" marL="0">
              <a:lnSpc>
                <a:spcPts val="202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мальчик»</a:t>
            </a:r>
            <a:endParaRPr lang="en-US" sz="1800" dirty="0"/>
          </a:p>
        </p:txBody>
      </p:sp>
      <p:sp>
        <p:nvSpPr>
          <p:cNvPr id="26" name="shape-25"/>
          <p:cNvSpPr/>
          <p:nvPr/>
        </p:nvSpPr>
        <p:spPr>
          <a:xfrm rot="-360000">
            <a:off x="2984500" y="4051300"/>
            <a:ext cx="584200" cy="584200"/>
          </a:xfrm>
          <a:prstGeom prst="ellipse">
            <a:avLst/>
          </a:prstGeom>
          <a:solidFill>
            <a:srgbClr val="57068C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7" name="svg-2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-360000">
            <a:off x="3130550" y="4197350"/>
            <a:ext cx="292100" cy="2921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0" y="0"/>
            <a:ext cx="6858000" cy="76200"/>
          </a:xfrm>
          <a:prstGeom prst="rect">
            <a:avLst/>
          </a:prstGeom>
          <a:solidFill>
            <a:srgbClr val="57068C"/>
          </a:solidFill>
          <a:ln/>
        </p:spPr>
      </p:sp>
      <p:sp>
        <p:nvSpPr>
          <p:cNvPr id="3" name="shape-2"/>
          <p:cNvSpPr/>
          <p:nvPr/>
        </p:nvSpPr>
        <p:spPr>
          <a:xfrm>
            <a:off x="456605" y="406400"/>
            <a:ext cx="102235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57068C"/>
            </a:solidFill>
            <a:prstDash val="solid"/>
          </a:ln>
        </p:spPr>
      </p:sp>
      <p:pic>
        <p:nvPicPr>
          <p:cNvPr id="4" name="svg-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5" name="text-4"/>
          <p:cNvSpPr txBox="1"/>
          <p:nvPr/>
        </p:nvSpPr>
        <p:spPr>
          <a:xfrm>
            <a:off x="786805" y="48260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ЧЕСТНО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 / 09</a:t>
            </a:r>
            <a:endParaRPr lang="en-US" sz="1000" dirty="0"/>
          </a:p>
        </p:txBody>
      </p:sp>
      <p:pic>
        <p:nvPicPr>
          <p:cNvPr id="7" name="svg-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2000" y="889000"/>
            <a:ext cx="254000" cy="254000"/>
          </a:xfrm>
          <a:prstGeom prst="rect">
            <a:avLst/>
          </a:prstGeom>
        </p:spPr>
      </p:pic>
      <p:pic>
        <p:nvPicPr>
          <p:cNvPr id="8" name="svg-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4826000"/>
            <a:ext cx="190500" cy="190500"/>
          </a:xfrm>
          <a:prstGeom prst="rect">
            <a:avLst/>
          </a:prstGeom>
        </p:spPr>
      </p:pic>
      <p:sp>
        <p:nvSpPr>
          <p:cNvPr id="9" name="text-8"/>
          <p:cNvSpPr txBox="1"/>
          <p:nvPr/>
        </p:nvSpPr>
        <p:spPr>
          <a:xfrm>
            <a:off x="457200" y="6086078"/>
            <a:ext cx="6300216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4600" b="1" spc="-16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Это мой </a:t>
            </a:r>
            <a:pPr algn="l" indent="0" marL="0">
              <a:lnSpc>
                <a:spcPts val="4600"/>
              </a:lnSpc>
              <a:buNone/>
            </a:pPr>
            <a:r>
              <a:rPr lang="en-US" sz="5200" i="1" spc="-100" kern="0" dirty="0">
                <a:solidFill>
                  <a:srgbClr val="57068C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выбор</a:t>
            </a:r>
            <a:endParaRPr lang="en-US" sz="4600" dirty="0"/>
          </a:p>
        </p:txBody>
      </p:sp>
      <p:sp>
        <p:nvSpPr>
          <p:cNvPr id="10" name="text-9"/>
          <p:cNvSpPr txBox="1"/>
          <p:nvPr/>
        </p:nvSpPr>
        <p:spPr>
          <a:xfrm>
            <a:off x="457845" y="6872089"/>
            <a:ext cx="6246368" cy="749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Мои знакомые там учатся, и у них всё отлично. Если NYUAD тебе подходит, подавайся. Главное, выбирай место, где видишь себя через четыре года.</a:t>
            </a:r>
            <a:endParaRPr lang="en-US" sz="1400" dirty="0"/>
          </a:p>
        </p:txBody>
      </p:sp>
      <p:sp>
        <p:nvSpPr>
          <p:cNvPr id="11" name="text-10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2" name="shape-11"/>
          <p:cNvSpPr/>
          <p:nvPr/>
        </p:nvSpPr>
        <p:spPr>
          <a:xfrm>
            <a:off x="5340945" y="7893050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13" name="text-12"/>
          <p:cNvSpPr txBox="1"/>
          <p:nvPr/>
        </p:nvSpPr>
        <p:spPr>
          <a:xfrm>
            <a:off x="5480645" y="796925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ЛИСТАЙ</a:t>
            </a:r>
            <a:endParaRPr lang="en-US" sz="1000" dirty="0"/>
          </a:p>
        </p:txBody>
      </p:sp>
      <p:pic>
        <p:nvPicPr>
          <p:cNvPr id="14" name="svg-1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15" name="shape-14"/>
          <p:cNvSpPr/>
          <p:nvPr/>
        </p:nvSpPr>
        <p:spPr>
          <a:xfrm rot="-120000">
            <a:off x="508000" y="1079698"/>
            <a:ext cx="5842000" cy="2025650"/>
          </a:xfrm>
          <a:prstGeom prst="roundRect">
            <a:avLst>
              <a:gd name="adj" fmla="val 9404"/>
            </a:avLst>
          </a:prstGeom>
          <a:solidFill>
            <a:srgbClr val="0A0A0A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6" name="text-15"/>
          <p:cNvSpPr txBox="1"/>
          <p:nvPr/>
        </p:nvSpPr>
        <p:spPr>
          <a:xfrm rot="-120000">
            <a:off x="883570" y="1435393"/>
            <a:ext cx="5384800" cy="1003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50"/>
              </a:lnSpc>
              <a:buNone/>
            </a:pPr>
            <a:r>
              <a:rPr lang="en-US" sz="3800" i="1" dirty="0">
                <a:solidFill>
                  <a:srgbClr val="FAF8F3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NYUAD правда крутой университет.</a:t>
            </a:r>
            <a:endParaRPr lang="en-US" sz="3800" dirty="0"/>
          </a:p>
        </p:txBody>
      </p:sp>
      <p:sp>
        <p:nvSpPr>
          <p:cNvPr id="17" name="text-16"/>
          <p:cNvSpPr txBox="1"/>
          <p:nvPr/>
        </p:nvSpPr>
        <p:spPr>
          <a:xfrm rot="-120000">
            <a:off x="909395" y="2603541"/>
            <a:ext cx="538480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ЗНАЮ ТЕХ, КТО ТАМ УЧИТСЯ</a:t>
            </a:r>
            <a:endParaRPr lang="en-US" sz="900" dirty="0"/>
          </a:p>
        </p:txBody>
      </p:sp>
      <p:sp>
        <p:nvSpPr>
          <p:cNvPr id="18" name="shape-17"/>
          <p:cNvSpPr/>
          <p:nvPr/>
        </p:nvSpPr>
        <p:spPr>
          <a:xfrm rot="-240000">
            <a:off x="445840" y="4191000"/>
            <a:ext cx="2736850" cy="4000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19" name="svg-18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-240000">
            <a:off x="586980" y="4381729"/>
            <a:ext cx="177800" cy="177800"/>
          </a:xfrm>
          <a:prstGeom prst="rect">
            <a:avLst/>
          </a:prstGeom>
        </p:spPr>
      </p:pic>
      <p:sp>
        <p:nvSpPr>
          <p:cNvPr id="20" name="text-19"/>
          <p:cNvSpPr txBox="1"/>
          <p:nvPr/>
        </p:nvSpPr>
        <p:spPr>
          <a:xfrm rot="-240000">
            <a:off x="839230" y="4271041"/>
            <a:ext cx="2335657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мои знакомые учатся там</a:t>
            </a:r>
            <a:endParaRPr lang="en-US" sz="1350" dirty="0"/>
          </a:p>
        </p:txBody>
      </p:sp>
      <p:sp>
        <p:nvSpPr>
          <p:cNvPr id="21" name="shape-20"/>
          <p:cNvSpPr/>
          <p:nvPr/>
        </p:nvSpPr>
        <p:spPr>
          <a:xfrm rot="240000">
            <a:off x="4280098" y="4064000"/>
            <a:ext cx="2133600" cy="374650"/>
          </a:xfrm>
          <a:prstGeom prst="roundRect">
            <a:avLst>
              <a:gd name="adj" fmla="val 50000"/>
            </a:avLst>
          </a:prstGeom>
          <a:solidFill>
            <a:srgbClr val="57068C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2" name="svg-21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240000">
            <a:off x="4409369" y="4103083"/>
            <a:ext cx="177800" cy="177800"/>
          </a:xfrm>
          <a:prstGeom prst="rect">
            <a:avLst/>
          </a:prstGeom>
        </p:spPr>
      </p:pic>
      <p:sp>
        <p:nvSpPr>
          <p:cNvPr id="23" name="text-22"/>
          <p:cNvSpPr txBox="1"/>
          <p:nvPr/>
        </p:nvSpPr>
        <p:spPr>
          <a:xfrm rot="240000">
            <a:off x="4660789" y="4149059"/>
            <a:ext cx="1723136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и у них всё хорошо</a:t>
            </a:r>
            <a:endParaRPr lang="en-US" sz="1350" dirty="0"/>
          </a:p>
        </p:txBody>
      </p:sp>
      <p:sp>
        <p:nvSpPr>
          <p:cNvPr id="24" name="shape-23"/>
          <p:cNvSpPr/>
          <p:nvPr/>
        </p:nvSpPr>
        <p:spPr>
          <a:xfrm rot="480000">
            <a:off x="2984500" y="4826000"/>
            <a:ext cx="584200" cy="584200"/>
          </a:xfrm>
          <a:prstGeom prst="ellipse">
            <a:avLst/>
          </a:prstGeom>
          <a:solidFill>
            <a:srgbClr val="FAF8F3"/>
          </a:solidFill>
          <a:ln w="19050">
            <a:solidFill>
              <a:srgbClr val="57068C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5" name="svg-2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480000">
            <a:off x="3130550" y="4972050"/>
            <a:ext cx="292100" cy="2921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0" y="0"/>
            <a:ext cx="6858000" cy="76200"/>
          </a:xfrm>
          <a:prstGeom prst="rect">
            <a:avLst/>
          </a:prstGeom>
          <a:solidFill>
            <a:srgbClr val="57068C"/>
          </a:solidFill>
          <a:ln/>
        </p:spPr>
      </p:sp>
      <p:sp>
        <p:nvSpPr>
          <p:cNvPr id="3" name="shape-2"/>
          <p:cNvSpPr/>
          <p:nvPr/>
        </p:nvSpPr>
        <p:spPr>
          <a:xfrm>
            <a:off x="456605" y="406400"/>
            <a:ext cx="102235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57068C"/>
            </a:solidFill>
            <a:prstDash val="solid"/>
          </a:ln>
        </p:spPr>
      </p:sp>
      <p:pic>
        <p:nvPicPr>
          <p:cNvPr id="4" name="svg-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5" name="text-4"/>
          <p:cNvSpPr txBox="1"/>
          <p:nvPr/>
        </p:nvSpPr>
        <p:spPr>
          <a:xfrm>
            <a:off x="786805" y="48260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ДАЛЬШЕ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 / 09</a:t>
            </a:r>
            <a:endParaRPr lang="en-US" sz="1000" dirty="0"/>
          </a:p>
        </p:txBody>
      </p:sp>
      <p:sp>
        <p:nvSpPr>
          <p:cNvPr id="7" name="text-6"/>
          <p:cNvSpPr txBox="1"/>
          <p:nvPr/>
        </p:nvSpPr>
        <p:spPr>
          <a:xfrm>
            <a:off x="457200" y="952500"/>
            <a:ext cx="6300216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4600" b="1" spc="-16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Этому я и </a:t>
            </a:r>
            <a:pPr algn="l" indent="0" marL="0">
              <a:lnSpc>
                <a:spcPts val="4600"/>
              </a:lnSpc>
              <a:buNone/>
            </a:pPr>
            <a:r>
              <a:rPr lang="en-US" sz="5200" i="1" spc="-100" kern="0" dirty="0">
                <a:solidFill>
                  <a:srgbClr val="57068C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учу</a:t>
            </a:r>
            <a:endParaRPr lang="en-US" sz="4600" dirty="0"/>
          </a:p>
        </p:txBody>
      </p:sp>
      <p:sp>
        <p:nvSpPr>
          <p:cNvPr id="8" name="text-7"/>
          <p:cNvSpPr txBox="1"/>
          <p:nvPr/>
        </p:nvSpPr>
        <p:spPr>
          <a:xfrm>
            <a:off x="457845" y="1738511"/>
            <a:ext cx="6246368" cy="749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Умение учиться самому дало мне больше, чем любой оффер. Этому я учу на занятиях по SAT Verbal и химии, онлайн и без спешки. Начнём с бесплатной консультации.</a:t>
            </a:r>
            <a:endParaRPr lang="en-US" sz="1400" dirty="0"/>
          </a:p>
        </p:txBody>
      </p:sp>
      <p:pic>
        <p:nvPicPr>
          <p:cNvPr id="9" name="svg-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2000" y="3810000"/>
            <a:ext cx="254000" cy="254000"/>
          </a:xfrm>
          <a:prstGeom prst="rect">
            <a:avLst/>
          </a:prstGeom>
        </p:spPr>
      </p:pic>
      <p:pic>
        <p:nvPicPr>
          <p:cNvPr id="10" name="svg-9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4500" y="7493000"/>
            <a:ext cx="190500" cy="190500"/>
          </a:xfrm>
          <a:prstGeom prst="rect">
            <a:avLst/>
          </a:prstGeom>
        </p:spPr>
      </p:pic>
      <p:sp>
        <p:nvSpPr>
          <p:cNvPr id="11" name="text-10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2" name="shape-11"/>
          <p:cNvSpPr/>
          <p:nvPr/>
        </p:nvSpPr>
        <p:spPr>
          <a:xfrm>
            <a:off x="4711700" y="7893050"/>
            <a:ext cx="168910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13" name="text-12"/>
          <p:cNvSpPr txBox="1"/>
          <p:nvPr/>
        </p:nvSpPr>
        <p:spPr>
          <a:xfrm>
            <a:off x="4851400" y="7969250"/>
            <a:ext cx="149428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ПИШИ В TELEGRAM</a:t>
            </a:r>
            <a:endParaRPr lang="en-US" sz="1000" dirty="0"/>
          </a:p>
        </p:txBody>
      </p:sp>
      <p:sp>
        <p:nvSpPr>
          <p:cNvPr id="14" name="shape-13"/>
          <p:cNvSpPr/>
          <p:nvPr/>
        </p:nvSpPr>
        <p:spPr>
          <a:xfrm rot="480000">
            <a:off x="5702300" y="3556000"/>
            <a:ext cx="584200" cy="584200"/>
          </a:xfrm>
          <a:prstGeom prst="ellipse">
            <a:avLst/>
          </a:prstGeom>
          <a:solidFill>
            <a:srgbClr val="FAF8F3"/>
          </a:solidFill>
          <a:ln w="19050">
            <a:solidFill>
              <a:srgbClr val="57068C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15" name="svg-1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480000">
            <a:off x="5848350" y="3702050"/>
            <a:ext cx="292100" cy="292100"/>
          </a:xfrm>
          <a:prstGeom prst="rect">
            <a:avLst/>
          </a:prstGeom>
        </p:spPr>
      </p:pic>
      <p:sp>
        <p:nvSpPr>
          <p:cNvPr id="16" name="shape-15"/>
          <p:cNvSpPr/>
          <p:nvPr/>
        </p:nvSpPr>
        <p:spPr>
          <a:xfrm rot="-120000">
            <a:off x="508000" y="4064298"/>
            <a:ext cx="5842000" cy="2279650"/>
          </a:xfrm>
          <a:prstGeom prst="roundRect">
            <a:avLst>
              <a:gd name="adj" fmla="val 8357"/>
            </a:avLst>
          </a:prstGeom>
          <a:solidFill>
            <a:srgbClr val="57068C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7" name="text-16"/>
          <p:cNvSpPr txBox="1"/>
          <p:nvPr/>
        </p:nvSpPr>
        <p:spPr>
          <a:xfrm rot="-120000">
            <a:off x="811153" y="4356572"/>
            <a:ext cx="5492496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БЕСПЛАТНО · 20 МИНУТ · ОНЛАЙН</a:t>
            </a:r>
            <a:endParaRPr lang="en-US" sz="900" dirty="0"/>
          </a:p>
        </p:txBody>
      </p:sp>
      <p:sp>
        <p:nvSpPr>
          <p:cNvPr id="18" name="text-17"/>
          <p:cNvSpPr txBox="1"/>
          <p:nvPr/>
        </p:nvSpPr>
        <p:spPr>
          <a:xfrm rot="-120000">
            <a:off x="831108" y="4578771"/>
            <a:ext cx="5492496" cy="844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30"/>
              </a:lnSpc>
              <a:buNone/>
            </a:pPr>
            <a:r>
              <a:rPr lang="en-US" sz="3200" i="1" dirty="0">
                <a:solidFill>
                  <a:srgbClr val="FAF8F3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20 минут, чтобы понять, с чего начать</a:t>
            </a:r>
            <a:endParaRPr lang="en-US" sz="3200" dirty="0"/>
          </a:p>
        </p:txBody>
      </p:sp>
      <p:sp>
        <p:nvSpPr>
          <p:cNvPr id="19" name="shape-18"/>
          <p:cNvSpPr/>
          <p:nvPr/>
        </p:nvSpPr>
        <p:spPr>
          <a:xfrm rot="-120000">
            <a:off x="861987" y="5647790"/>
            <a:ext cx="1765300" cy="4635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/>
        </p:spPr>
      </p:sp>
      <p:pic>
        <p:nvPicPr>
          <p:cNvPr id="20" name="svg-19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-120000">
            <a:off x="1026226" y="5806076"/>
            <a:ext cx="190500" cy="190500"/>
          </a:xfrm>
          <a:prstGeom prst="rect">
            <a:avLst/>
          </a:prstGeom>
        </p:spPr>
      </p:pic>
      <p:sp>
        <p:nvSpPr>
          <p:cNvPr id="21" name="text-20"/>
          <p:cNvSpPr txBox="1"/>
          <p:nvPr/>
        </p:nvSpPr>
        <p:spPr>
          <a:xfrm rot="-120000">
            <a:off x="1293706" y="5744736"/>
            <a:ext cx="1238504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@nurzycom</a:t>
            </a:r>
            <a:endParaRPr lang="en-US" sz="1600" dirty="0"/>
          </a:p>
        </p:txBody>
      </p:sp>
      <p:sp>
        <p:nvSpPr>
          <p:cNvPr id="22" name="shape-21"/>
          <p:cNvSpPr/>
          <p:nvPr/>
        </p:nvSpPr>
        <p:spPr>
          <a:xfrm rot="-240000">
            <a:off x="445046" y="6604000"/>
            <a:ext cx="1422400" cy="4000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3" name="svg-22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-240000">
            <a:off x="585377" y="6748828"/>
            <a:ext cx="177800" cy="177800"/>
          </a:xfrm>
          <a:prstGeom prst="rect">
            <a:avLst/>
          </a:prstGeom>
        </p:spPr>
      </p:pic>
      <p:sp>
        <p:nvSpPr>
          <p:cNvPr id="24" name="text-23"/>
          <p:cNvSpPr txBox="1"/>
          <p:nvPr/>
        </p:nvSpPr>
        <p:spPr>
          <a:xfrm rot="-240000">
            <a:off x="838436" y="6684041"/>
            <a:ext cx="94234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SAT Verbal</a:t>
            </a:r>
            <a:endParaRPr lang="en-US" sz="1350" dirty="0"/>
          </a:p>
        </p:txBody>
      </p:sp>
      <p:sp>
        <p:nvSpPr>
          <p:cNvPr id="25" name="shape-24"/>
          <p:cNvSpPr/>
          <p:nvPr/>
        </p:nvSpPr>
        <p:spPr>
          <a:xfrm rot="240000">
            <a:off x="3748038" y="6731000"/>
            <a:ext cx="2667000" cy="4000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6" name="svg-25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240000">
            <a:off x="3891963" y="6765158"/>
            <a:ext cx="177800" cy="177800"/>
          </a:xfrm>
          <a:prstGeom prst="rect">
            <a:avLst/>
          </a:prstGeom>
        </p:spPr>
      </p:pic>
      <p:sp>
        <p:nvSpPr>
          <p:cNvPr id="27" name="text-26"/>
          <p:cNvSpPr txBox="1"/>
          <p:nvPr/>
        </p:nvSpPr>
        <p:spPr>
          <a:xfrm rot="240000">
            <a:off x="4141429" y="6828759"/>
            <a:ext cx="2261616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химия: IBDP · A-level · вуз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is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eis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Я отказался от 170 000 000 ₸</dc:title>
  <dc:subject>PptxGenJS Presentation</dc:subject>
  <dc:creator>PptxGenJS</dc:creator>
  <cp:lastModifiedBy>PptxGenJS</cp:lastModifiedBy>
  <cp:revision>1</cp:revision>
  <dcterms:created xsi:type="dcterms:W3CDTF">2026-10-14T07:19:27Z</dcterms:created>
  <dcterms:modified xsi:type="dcterms:W3CDTF">2026-10-14T07:19:27Z</dcterms:modified>
</cp:coreProperties>
</file>