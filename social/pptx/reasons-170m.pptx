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jpe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jpeg"/><Relationship Id="rId7" Type="http://schemas.openxmlformats.org/officeDocument/2006/relationships/image" Target="../media/image-2-7.jpe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jpeg"/><Relationship Id="rId5" Type="http://schemas.openxmlformats.org/officeDocument/2006/relationships/image" Target="../media/image-3-5.jpeg"/><Relationship Id="rId6" Type="http://schemas.openxmlformats.org/officeDocument/2006/relationships/image" Target="../media/image-3-6.jpe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jpe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jpe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0" y="0"/>
            <a:ext cx="6858000" cy="7620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3" name="shape-2"/>
          <p:cNvSpPr/>
          <p:nvPr/>
        </p:nvSpPr>
        <p:spPr>
          <a:xfrm>
            <a:off x="458490" y="406400"/>
            <a:ext cx="16764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57068C"/>
            </a:solidFill>
            <a:prstDash val="solid"/>
          </a:ln>
        </p:spPr>
      </p:sp>
      <p:pic>
        <p:nvPicPr>
          <p:cNvPr id="4" name="svg-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5" name="text-4"/>
          <p:cNvSpPr txBox="1"/>
          <p:nvPr/>
        </p:nvSpPr>
        <p:spPr>
          <a:xfrm>
            <a:off x="788690" y="482600"/>
            <a:ext cx="12923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NYU ABU DHABI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09</a:t>
            </a:r>
            <a:endParaRPr lang="en-US" sz="1000" dirty="0"/>
          </a:p>
        </p:txBody>
      </p:sp>
      <p:sp>
        <p:nvSpPr>
          <p:cNvPr id="7" name="text-6"/>
          <p:cNvSpPr txBox="1"/>
          <p:nvPr/>
        </p:nvSpPr>
        <p:spPr>
          <a:xfrm>
            <a:off x="457200" y="952500"/>
            <a:ext cx="6300216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spc="-100" kern="0" dirty="0">
                <a:solidFill>
                  <a:srgbClr val="D7261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Я отказался</a:t>
            </a:r>
            <a:pPr algn="l" indent="0" marL="0">
              <a:lnSpc>
                <a:spcPts val="3200"/>
              </a:lnSpc>
              <a:buNone/>
            </a:pPr>
            <a:r>
              <a:rPr lang="en-US" sz="3200" b="1" spc="-10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от</a:t>
            </a:r>
            <a:endParaRPr lang="en-US" sz="3200" dirty="0"/>
          </a:p>
        </p:txBody>
      </p:sp>
      <p:sp>
        <p:nvSpPr>
          <p:cNvPr id="8" name="text-7"/>
          <p:cNvSpPr txBox="1"/>
          <p:nvPr/>
        </p:nvSpPr>
        <p:spPr>
          <a:xfrm>
            <a:off x="457200" y="1409700"/>
            <a:ext cx="6300216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0"/>
              </a:lnSpc>
              <a:buNone/>
            </a:pPr>
            <a:r>
              <a:rPr lang="en-US" sz="7500" i="1" spc="-220" kern="0" dirty="0">
                <a:solidFill>
                  <a:srgbClr val="57068C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170 000 000 ₸</a:t>
            </a:r>
            <a:endParaRPr lang="en-US" sz="7500" dirty="0"/>
          </a:p>
        </p:txBody>
      </p:sp>
      <p:sp>
        <p:nvSpPr>
          <p:cNvPr id="9" name="text-8"/>
          <p:cNvSpPr txBox="1"/>
          <p:nvPr/>
        </p:nvSpPr>
        <p:spPr>
          <a:xfrm>
            <a:off x="455910" y="2476500"/>
            <a:ext cx="53578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Полная стипендия NYU Abu Dhabi на четыре года. Рассказываю, почему 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7261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сказал «нет»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500" dirty="0"/>
          </a:p>
        </p:txBody>
      </p:sp>
      <p:sp>
        <p:nvSpPr>
          <p:cNvPr id="10" name="text-9"/>
          <p:cNvSpPr txBox="1"/>
          <p:nvPr/>
        </p:nvSpPr>
        <p:spPr>
          <a:xfrm>
            <a:off x="457200" y="5715000"/>
            <a:ext cx="28270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5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$88 862 в год × 4 года по пакету помощи NYUAD 2026–27, по курсу от 478 ₸ за $1</a:t>
            </a:r>
            <a:endParaRPr lang="en-US" sz="900" dirty="0"/>
          </a:p>
        </p:txBody>
      </p:sp>
      <p:pic>
        <p:nvPicPr>
          <p:cNvPr id="11" name="svg-1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0" y="3556000"/>
            <a:ext cx="254000" cy="254000"/>
          </a:xfrm>
          <a:prstGeom prst="rect">
            <a:avLst/>
          </a:prstGeom>
        </p:spPr>
      </p:pic>
      <p:pic>
        <p:nvPicPr>
          <p:cNvPr id="12" name="svg-1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0" y="7175500"/>
            <a:ext cx="190500" cy="190500"/>
          </a:xfrm>
          <a:prstGeom prst="rect">
            <a:avLst/>
          </a:prstGeom>
        </p:spPr>
      </p:pic>
      <p:sp>
        <p:nvSpPr>
          <p:cNvPr id="13" name="text-12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14" name="shape-13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15" name="text-14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16" name="svg-1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17" name="shape-16"/>
          <p:cNvSpPr/>
          <p:nvPr/>
        </p:nvSpPr>
        <p:spPr>
          <a:xfrm rot="240000">
            <a:off x="3619500" y="3556000"/>
            <a:ext cx="2794000" cy="4038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8" name="shape-17"/>
          <p:cNvSpPr/>
          <p:nvPr/>
        </p:nvSpPr>
        <p:spPr>
          <a:xfrm rot="60000">
            <a:off x="4742837" y="3459257"/>
            <a:ext cx="825500" cy="2540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pic>
        <p:nvPicPr>
          <p:cNvPr id="19" name="img-1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40000">
            <a:off x="3730845" y="3657940"/>
            <a:ext cx="2590800" cy="3556000"/>
          </a:xfrm>
          <a:prstGeom prst="rect">
            <a:avLst/>
          </a:prstGeom>
        </p:spPr>
      </p:pic>
      <p:sp>
        <p:nvSpPr>
          <p:cNvPr id="20" name="text-19"/>
          <p:cNvSpPr txBox="1"/>
          <p:nvPr/>
        </p:nvSpPr>
        <p:spPr>
          <a:xfrm rot="240000">
            <a:off x="3437157" y="7253634"/>
            <a:ext cx="290576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Абу-Даби, март 2026</a:t>
            </a:r>
            <a:endParaRPr lang="en-US" sz="1500" dirty="0"/>
          </a:p>
        </p:txBody>
      </p:sp>
      <p:sp>
        <p:nvSpPr>
          <p:cNvPr id="21" name="shape-20"/>
          <p:cNvSpPr/>
          <p:nvPr/>
        </p:nvSpPr>
        <p:spPr>
          <a:xfrm rot="-300000">
            <a:off x="381595" y="4064000"/>
            <a:ext cx="2076450" cy="374650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2" name="svg-2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300000">
            <a:off x="511131" y="4234147"/>
            <a:ext cx="177800" cy="177800"/>
          </a:xfrm>
          <a:prstGeom prst="rect">
            <a:avLst/>
          </a:prstGeom>
        </p:spPr>
      </p:pic>
      <p:sp>
        <p:nvSpPr>
          <p:cNvPr id="23" name="text-22"/>
          <p:cNvSpPr txBox="1"/>
          <p:nvPr/>
        </p:nvSpPr>
        <p:spPr>
          <a:xfrm rot="-300000">
            <a:off x="762112" y="4129131"/>
            <a:ext cx="166255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полная стипендия</a:t>
            </a:r>
            <a:endParaRPr lang="en-US" sz="1350" dirty="0"/>
          </a:p>
        </p:txBody>
      </p:sp>
      <p:sp>
        <p:nvSpPr>
          <p:cNvPr id="24" name="shape-23"/>
          <p:cNvSpPr/>
          <p:nvPr/>
        </p:nvSpPr>
        <p:spPr>
          <a:xfrm rot="180000">
            <a:off x="634107" y="4889500"/>
            <a:ext cx="2178050" cy="4000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5" name="svg-2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80000">
            <a:off x="775878" y="4955641"/>
            <a:ext cx="177800" cy="177800"/>
          </a:xfrm>
          <a:prstGeom prst="rect">
            <a:avLst/>
          </a:prstGeom>
        </p:spPr>
      </p:pic>
      <p:sp>
        <p:nvSpPr>
          <p:cNvPr id="26" name="text-25"/>
          <p:cNvSpPr txBox="1"/>
          <p:nvPr/>
        </p:nvSpPr>
        <p:spPr>
          <a:xfrm rot="180000">
            <a:off x="1027633" y="4985047"/>
            <a:ext cx="1743329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≈ $355 000 · 4 года</a:t>
            </a:r>
            <a:endParaRPr lang="en-US" sz="1350" dirty="0"/>
          </a:p>
        </p:txBody>
      </p:sp>
      <p:sp>
        <p:nvSpPr>
          <p:cNvPr id="27" name="shape-26"/>
          <p:cNvSpPr/>
          <p:nvPr/>
        </p:nvSpPr>
        <p:spPr>
          <a:xfrm rot="-480000">
            <a:off x="1905000" y="3302000"/>
            <a:ext cx="584200" cy="584200"/>
          </a:xfrm>
          <a:prstGeom prst="ellipse">
            <a:avLst/>
          </a:prstGeom>
          <a:solidFill>
            <a:srgbClr val="57068C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8" name="svg-2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480000">
            <a:off x="2051050" y="3448050"/>
            <a:ext cx="2921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0" y="0"/>
            <a:ext cx="6858000" cy="7620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3" name="shape-2"/>
          <p:cNvSpPr/>
          <p:nvPr/>
        </p:nvSpPr>
        <p:spPr>
          <a:xfrm>
            <a:off x="456605" y="406400"/>
            <a:ext cx="14922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57068C"/>
            </a:solidFill>
            <a:prstDash val="solid"/>
          </a:ln>
        </p:spPr>
      </p:sp>
      <p:pic>
        <p:nvPicPr>
          <p:cNvPr id="4" name="svg-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5" name="text-4"/>
          <p:cNvSpPr txBox="1"/>
          <p:nvPr/>
        </p:nvSpPr>
        <p:spPr>
          <a:xfrm>
            <a:off x="786805" y="482600"/>
            <a:ext cx="109715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ПРЕДЫСТОРИЯ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09</a:t>
            </a:r>
            <a:endParaRPr lang="en-US" sz="1000" dirty="0"/>
          </a:p>
        </p:txBody>
      </p:sp>
      <p:pic>
        <p:nvPicPr>
          <p:cNvPr id="7" name="svg-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0" y="1079500"/>
            <a:ext cx="254000" cy="254000"/>
          </a:xfrm>
          <a:prstGeom prst="rect">
            <a:avLst/>
          </a:prstGeom>
        </p:spPr>
      </p:pic>
      <p:pic>
        <p:nvPicPr>
          <p:cNvPr id="8" name="svg-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4826000"/>
            <a:ext cx="190500" cy="190500"/>
          </a:xfrm>
          <a:prstGeom prst="rect">
            <a:avLst/>
          </a:prstGeom>
        </p:spPr>
      </p:pic>
      <p:sp>
        <p:nvSpPr>
          <p:cNvPr id="9" name="text-8"/>
          <p:cNvSpPr txBox="1"/>
          <p:nvPr/>
        </p:nvSpPr>
        <p:spPr>
          <a:xfrm>
            <a:off x="457200" y="5657850"/>
            <a:ext cx="6300216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spc="-16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Как я там </a:t>
            </a:r>
            <a:pPr algn="l" indent="0" marL="0">
              <a:lnSpc>
                <a:spcPts val="4600"/>
              </a:lnSpc>
              <a:buNone/>
            </a:pPr>
            <a:r>
              <a:rPr lang="en-US" sz="5200" i="1" spc="-100" kern="0" dirty="0">
                <a:solidFill>
                  <a:srgbClr val="57068C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оказался?</a:t>
            </a:r>
            <a:endParaRPr lang="en-US" sz="4600" dirty="0"/>
          </a:p>
        </p:txBody>
      </p:sp>
      <p:sp>
        <p:nvSpPr>
          <p:cNvPr id="10" name="text-9"/>
          <p:cNvSpPr txBox="1"/>
          <p:nvPr/>
        </p:nvSpPr>
        <p:spPr>
          <a:xfrm>
            <a:off x="457349" y="6432550"/>
            <a:ext cx="602424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Весной меня позвали в Абу-Даби на Candidate Weekend. В планах было три дня: знакомство со студентами со всего мира, экскурсии по кампусу, общежитиям NYUAD и Абу-Даби, пробные лекции и 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интервью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250" dirty="0"/>
          </a:p>
        </p:txBody>
      </p:sp>
      <p:sp>
        <p:nvSpPr>
          <p:cNvPr id="11" name="text-10"/>
          <p:cNvSpPr txBox="1"/>
          <p:nvPr/>
        </p:nvSpPr>
        <p:spPr>
          <a:xfrm>
            <a:off x="457349" y="7175500"/>
            <a:ext cx="6024245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Интервью стояло на 28 февраля, в 2 часа дня. Именно тогда всё пошло не по плану.</a:t>
            </a:r>
            <a:endParaRPr lang="en-US" sz="1250" dirty="0"/>
          </a:p>
        </p:txBody>
      </p:sp>
      <p:sp>
        <p:nvSpPr>
          <p:cNvPr id="12" name="text-11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13" name="shape-12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14" name="text-13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15" name="svg-1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16" name="shape-15"/>
          <p:cNvSpPr/>
          <p:nvPr/>
        </p:nvSpPr>
        <p:spPr>
          <a:xfrm rot="-180000">
            <a:off x="381000" y="952500"/>
            <a:ext cx="3810000" cy="264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7" name="shape-16"/>
          <p:cNvSpPr/>
          <p:nvPr/>
        </p:nvSpPr>
        <p:spPr>
          <a:xfrm rot="-360000">
            <a:off x="1805454" y="852675"/>
            <a:ext cx="825500" cy="2540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pic>
        <p:nvPicPr>
          <p:cNvPr id="18" name="img-17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80000">
            <a:off x="475289" y="1054291"/>
            <a:ext cx="3606800" cy="2159000"/>
          </a:xfrm>
          <a:prstGeom prst="rect">
            <a:avLst/>
          </a:prstGeom>
        </p:spPr>
      </p:pic>
      <p:sp>
        <p:nvSpPr>
          <p:cNvPr id="19" name="text-18"/>
          <p:cNvSpPr txBox="1"/>
          <p:nvPr/>
        </p:nvSpPr>
        <p:spPr>
          <a:xfrm rot="-180000">
            <a:off x="363124" y="3256023"/>
            <a:ext cx="39624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с профессором NYUAD</a:t>
            </a:r>
            <a:endParaRPr lang="en-US" sz="1500" dirty="0"/>
          </a:p>
        </p:txBody>
      </p:sp>
      <p:sp>
        <p:nvSpPr>
          <p:cNvPr id="20" name="shape-19"/>
          <p:cNvSpPr/>
          <p:nvPr/>
        </p:nvSpPr>
        <p:spPr>
          <a:xfrm rot="300000">
            <a:off x="4356100" y="1397000"/>
            <a:ext cx="2095500" cy="25781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1" name="shape-20"/>
          <p:cNvSpPr/>
          <p:nvPr/>
        </p:nvSpPr>
        <p:spPr>
          <a:xfrm rot="120000">
            <a:off x="5101234" y="1300209"/>
            <a:ext cx="825500" cy="2540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pic>
        <p:nvPicPr>
          <p:cNvPr id="22" name="img-2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300000">
            <a:off x="4469876" y="1499132"/>
            <a:ext cx="1892300" cy="2095500"/>
          </a:xfrm>
          <a:prstGeom prst="rect">
            <a:avLst/>
          </a:prstGeom>
        </p:spPr>
      </p:pic>
      <p:sp>
        <p:nvSpPr>
          <p:cNvPr id="23" name="text-22"/>
          <p:cNvSpPr txBox="1"/>
          <p:nvPr/>
        </p:nvSpPr>
        <p:spPr>
          <a:xfrm rot="300000">
            <a:off x="4219829" y="3634430"/>
            <a:ext cx="217932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моё имя на арабском</a:t>
            </a:r>
            <a:endParaRPr lang="en-US" sz="1500" dirty="0"/>
          </a:p>
        </p:txBody>
      </p:sp>
      <p:sp>
        <p:nvSpPr>
          <p:cNvPr id="24" name="shape-23"/>
          <p:cNvSpPr/>
          <p:nvPr/>
        </p:nvSpPr>
        <p:spPr>
          <a:xfrm rot="-240000">
            <a:off x="444649" y="3810000"/>
            <a:ext cx="2159000" cy="374650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5" name="svg-2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240000">
            <a:off x="573604" y="3968677"/>
            <a:ext cx="177800" cy="177800"/>
          </a:xfrm>
          <a:prstGeom prst="rect">
            <a:avLst/>
          </a:prstGeom>
        </p:spPr>
      </p:pic>
      <p:sp>
        <p:nvSpPr>
          <p:cNvPr id="26" name="text-25"/>
          <p:cNvSpPr txBox="1"/>
          <p:nvPr/>
        </p:nvSpPr>
        <p:spPr>
          <a:xfrm rot="-240000">
            <a:off x="825339" y="3877341"/>
            <a:ext cx="175006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Candidate Weekend</a:t>
            </a:r>
            <a:endParaRPr lang="en-US" sz="1350" dirty="0"/>
          </a:p>
        </p:txBody>
      </p:sp>
      <p:sp>
        <p:nvSpPr>
          <p:cNvPr id="27" name="shape-26"/>
          <p:cNvSpPr/>
          <p:nvPr/>
        </p:nvSpPr>
        <p:spPr>
          <a:xfrm rot="240000">
            <a:off x="4622105" y="4064000"/>
            <a:ext cx="1790700" cy="4000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8" name="svg-2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40000">
            <a:off x="4762737" y="4128566"/>
            <a:ext cx="177800" cy="177800"/>
          </a:xfrm>
          <a:prstGeom prst="rect">
            <a:avLst/>
          </a:prstGeom>
        </p:spPr>
      </p:pic>
      <p:sp>
        <p:nvSpPr>
          <p:cNvPr id="29" name="text-28"/>
          <p:cNvSpPr txBox="1"/>
          <p:nvPr/>
        </p:nvSpPr>
        <p:spPr>
          <a:xfrm rot="240000">
            <a:off x="5015496" y="4161759"/>
            <a:ext cx="13327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 дня по плану</a:t>
            </a:r>
            <a:endParaRPr lang="en-US" sz="1350" dirty="0"/>
          </a:p>
        </p:txBody>
      </p:sp>
      <p:sp>
        <p:nvSpPr>
          <p:cNvPr id="30" name="shape-29"/>
          <p:cNvSpPr/>
          <p:nvPr/>
        </p:nvSpPr>
        <p:spPr>
          <a:xfrm rot="-120000">
            <a:off x="2287191" y="4381500"/>
            <a:ext cx="2508250" cy="4000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31" name="svg-30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120000">
            <a:off x="2426325" y="4528457"/>
            <a:ext cx="177800" cy="177800"/>
          </a:xfrm>
          <a:prstGeom prst="rect">
            <a:avLst/>
          </a:prstGeom>
        </p:spPr>
      </p:pic>
      <p:sp>
        <p:nvSpPr>
          <p:cNvPr id="32" name="text-31"/>
          <p:cNvSpPr txBox="1"/>
          <p:nvPr/>
        </p:nvSpPr>
        <p:spPr>
          <a:xfrm rot="-120000">
            <a:off x="2680813" y="4465968"/>
            <a:ext cx="2093341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интервью · 28 февраля</a:t>
            </a:r>
            <a:endParaRPr lang="en-US" sz="1350" dirty="0"/>
          </a:p>
        </p:txBody>
      </p:sp>
      <p:sp>
        <p:nvSpPr>
          <p:cNvPr id="33" name="shape-32"/>
          <p:cNvSpPr/>
          <p:nvPr/>
        </p:nvSpPr>
        <p:spPr>
          <a:xfrm rot="360000">
            <a:off x="3810000" y="3556000"/>
            <a:ext cx="584200" cy="584200"/>
          </a:xfrm>
          <a:prstGeom prst="ellipse">
            <a:avLst/>
          </a:prstGeom>
          <a:solidFill>
            <a:srgbClr val="FAF8F3"/>
          </a:solidFill>
          <a:ln w="19050">
            <a:solidFill>
              <a:srgbClr val="57068C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34" name="svg-33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360000">
            <a:off x="3956050" y="3702050"/>
            <a:ext cx="2921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0" y="0"/>
            <a:ext cx="6858000" cy="7620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3" name="shape-2"/>
          <p:cNvSpPr/>
          <p:nvPr/>
        </p:nvSpPr>
        <p:spPr>
          <a:xfrm>
            <a:off x="455960" y="406400"/>
            <a:ext cx="15875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57068C"/>
            </a:solidFill>
            <a:prstDash val="solid"/>
          </a:ln>
        </p:spPr>
      </p:sp>
      <p:pic>
        <p:nvPicPr>
          <p:cNvPr id="4" name="svg-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5" name="text-4"/>
          <p:cNvSpPr txBox="1"/>
          <p:nvPr/>
        </p:nvSpPr>
        <p:spPr>
          <a:xfrm>
            <a:off x="786160" y="482600"/>
            <a:ext cx="11981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 28 ФЕВРАЛЯ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09</a:t>
            </a:r>
            <a:endParaRPr lang="en-US" sz="1000" dirty="0"/>
          </a:p>
        </p:txBody>
      </p:sp>
      <p:sp>
        <p:nvSpPr>
          <p:cNvPr id="7" name="text-6"/>
          <p:cNvSpPr txBox="1"/>
          <p:nvPr/>
        </p:nvSpPr>
        <p:spPr>
          <a:xfrm>
            <a:off x="457200" y="889000"/>
            <a:ext cx="6300216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spc="-16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 дней вместо </a:t>
            </a:r>
            <a:pPr algn="l" indent="0" marL="0">
              <a:lnSpc>
                <a:spcPts val="4600"/>
              </a:lnSpc>
              <a:buNone/>
            </a:pPr>
            <a:r>
              <a:rPr lang="en-US" sz="5200" i="1" spc="-100" kern="0" dirty="0">
                <a:solidFill>
                  <a:srgbClr val="57068C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трёх</a:t>
            </a:r>
            <a:endParaRPr lang="en-US" sz="4600" dirty="0"/>
          </a:p>
        </p:txBody>
      </p:sp>
      <p:sp>
        <p:nvSpPr>
          <p:cNvPr id="8" name="text-7"/>
          <p:cNvSpPr txBox="1"/>
          <p:nvPr/>
        </p:nvSpPr>
        <p:spPr>
          <a:xfrm>
            <a:off x="457349" y="1625600"/>
            <a:ext cx="602424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Пока я, нервничая, шёл с другом на интервью после пробной лекции, с неба послышались взрывы. Мы подняли головы и увидели ужасное: в голубом небе Абу-Даби тянулся дым от летящих ракет.</a:t>
            </a:r>
            <a:endParaRPr lang="en-US" sz="1250" dirty="0"/>
          </a:p>
        </p:txBody>
      </p:sp>
      <p:sp>
        <p:nvSpPr>
          <p:cNvPr id="9" name="text-8"/>
          <p:cNvSpPr txBox="1"/>
          <p:nvPr/>
        </p:nvSpPr>
        <p:spPr>
          <a:xfrm>
            <a:off x="456059" y="2343150"/>
            <a:ext cx="569442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Началась война США с Ираном, а в ОАЭ стоят американские базы.</a:t>
            </a:r>
            <a:endParaRPr lang="en-US" sz="1250" dirty="0"/>
          </a:p>
        </p:txBody>
      </p:sp>
      <p:sp>
        <p:nvSpPr>
          <p:cNvPr id="10" name="text-9"/>
          <p:cNvSpPr txBox="1"/>
          <p:nvPr/>
        </p:nvSpPr>
        <p:spPr>
          <a:xfrm>
            <a:off x="457349" y="2616200"/>
            <a:ext cx="602424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Домой нас вывезло посольство Казахстана рейсом Шарджа – Алматы. Через месяц пришёл оффер с полной стипендией.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D7261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Я от него отказался.</a:t>
            </a:r>
            <a:endParaRPr lang="en-US" sz="1250" dirty="0"/>
          </a:p>
        </p:txBody>
      </p:sp>
      <p:sp>
        <p:nvSpPr>
          <p:cNvPr id="11" name="text-10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12" name="shape-11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13" name="text-12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14" name="svg-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15" name="shape-14"/>
          <p:cNvSpPr/>
          <p:nvPr/>
        </p:nvSpPr>
        <p:spPr>
          <a:xfrm rot="-240000">
            <a:off x="355600" y="3651250"/>
            <a:ext cx="2159000" cy="31623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6" name="shape-15"/>
          <p:cNvSpPr/>
          <p:nvPr/>
        </p:nvSpPr>
        <p:spPr>
          <a:xfrm rot="-420000">
            <a:off x="913826" y="3553440"/>
            <a:ext cx="825500" cy="2540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pic>
        <p:nvPicPr>
          <p:cNvPr id="17" name="img-1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240000">
            <a:off x="410684" y="3715044"/>
            <a:ext cx="2032000" cy="2794000"/>
          </a:xfrm>
          <a:prstGeom prst="rect">
            <a:avLst/>
          </a:prstGeom>
        </p:spPr>
      </p:pic>
      <p:sp>
        <p:nvSpPr>
          <p:cNvPr id="18" name="text-17"/>
          <p:cNvSpPr txBox="1"/>
          <p:nvPr/>
        </p:nvSpPr>
        <p:spPr>
          <a:xfrm rot="-240000">
            <a:off x="408319" y="6473651"/>
            <a:ext cx="224536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мой ТГ-канал, 1 марта</a:t>
            </a:r>
            <a:endParaRPr lang="en-US" sz="1500" dirty="0"/>
          </a:p>
        </p:txBody>
      </p:sp>
      <p:sp>
        <p:nvSpPr>
          <p:cNvPr id="19" name="shape-18"/>
          <p:cNvSpPr/>
          <p:nvPr/>
        </p:nvSpPr>
        <p:spPr>
          <a:xfrm rot="180000">
            <a:off x="2984500" y="3587750"/>
            <a:ext cx="3556000" cy="17907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0" name="shape-19"/>
          <p:cNvSpPr/>
          <p:nvPr/>
        </p:nvSpPr>
        <p:spPr>
          <a:xfrm>
            <a:off x="4395280" y="3487342"/>
            <a:ext cx="825500" cy="2540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pic>
        <p:nvPicPr>
          <p:cNvPr id="21" name="img-2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0000">
            <a:off x="3048000" y="3651250"/>
            <a:ext cx="3429000" cy="1663700"/>
          </a:xfrm>
          <a:prstGeom prst="rect">
            <a:avLst/>
          </a:prstGeom>
        </p:spPr>
      </p:pic>
      <p:sp>
        <p:nvSpPr>
          <p:cNvPr id="22" name="shape-21"/>
          <p:cNvSpPr/>
          <p:nvPr/>
        </p:nvSpPr>
        <p:spPr>
          <a:xfrm rot="-120000">
            <a:off x="4064000" y="5429250"/>
            <a:ext cx="2349500" cy="22479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3" name="shape-22"/>
          <p:cNvSpPr/>
          <p:nvPr/>
        </p:nvSpPr>
        <p:spPr>
          <a:xfrm rot="-300000">
            <a:off x="4787661" y="5328319"/>
            <a:ext cx="825500" cy="2540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pic>
        <p:nvPicPr>
          <p:cNvPr id="24" name="img-2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20000">
            <a:off x="4123289" y="5492823"/>
            <a:ext cx="2222500" cy="1879600"/>
          </a:xfrm>
          <a:prstGeom prst="rect">
            <a:avLst/>
          </a:prstGeom>
        </p:spPr>
      </p:pic>
      <p:sp>
        <p:nvSpPr>
          <p:cNvPr id="25" name="text-24"/>
          <p:cNvSpPr txBox="1"/>
          <p:nvPr/>
        </p:nvSpPr>
        <p:spPr>
          <a:xfrm rot="-120000">
            <a:off x="4049033" y="7340041"/>
            <a:ext cx="244348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посольство</a:t>
            </a:r>
            <a:endParaRPr lang="en-US" sz="1500" dirty="0"/>
          </a:p>
        </p:txBody>
      </p:sp>
      <p:sp>
        <p:nvSpPr>
          <p:cNvPr id="26" name="shape-25"/>
          <p:cNvSpPr/>
          <p:nvPr/>
        </p:nvSpPr>
        <p:spPr>
          <a:xfrm rot="-240000">
            <a:off x="444450" y="7302500"/>
            <a:ext cx="2584450" cy="374650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7" name="svg-2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240000">
            <a:off x="574122" y="7476002"/>
            <a:ext cx="177800" cy="177800"/>
          </a:xfrm>
          <a:prstGeom prst="rect">
            <a:avLst/>
          </a:prstGeom>
        </p:spPr>
      </p:pic>
      <p:sp>
        <p:nvSpPr>
          <p:cNvPr id="28" name="text-27"/>
          <p:cNvSpPr txBox="1"/>
          <p:nvPr/>
        </p:nvSpPr>
        <p:spPr>
          <a:xfrm rot="-240000">
            <a:off x="825141" y="7369841"/>
            <a:ext cx="220103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эвакуация посольством</a:t>
            </a:r>
            <a:endParaRPr lang="en-US" sz="1350" dirty="0"/>
          </a:p>
        </p:txBody>
      </p:sp>
      <p:sp>
        <p:nvSpPr>
          <p:cNvPr id="29" name="shape-28"/>
          <p:cNvSpPr/>
          <p:nvPr/>
        </p:nvSpPr>
        <p:spPr>
          <a:xfrm rot="-300000">
            <a:off x="2094012" y="6826250"/>
            <a:ext cx="2190750" cy="4000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30" name="svg-29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300000">
            <a:off x="2238493" y="7012790"/>
            <a:ext cx="177800" cy="177800"/>
          </a:xfrm>
          <a:prstGeom prst="rect">
            <a:avLst/>
          </a:prstGeom>
        </p:spPr>
      </p:pic>
      <p:sp>
        <p:nvSpPr>
          <p:cNvPr id="31" name="text-30"/>
          <p:cNvSpPr txBox="1"/>
          <p:nvPr/>
        </p:nvSpPr>
        <p:spPr>
          <a:xfrm rot="-300000">
            <a:off x="2487229" y="6904081"/>
            <a:ext cx="1756791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Шарджа → Алматы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0" y="0"/>
            <a:ext cx="6858000" cy="7620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3" name="shape-2"/>
          <p:cNvSpPr/>
          <p:nvPr/>
        </p:nvSpPr>
        <p:spPr>
          <a:xfrm>
            <a:off x="457845" y="406400"/>
            <a:ext cx="13017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57068C"/>
            </a:solidFill>
            <a:prstDash val="solid"/>
          </a:ln>
        </p:spPr>
      </p:sp>
      <p:pic>
        <p:nvPicPr>
          <p:cNvPr id="4" name="svg-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5" name="text-4"/>
          <p:cNvSpPr txBox="1"/>
          <p:nvPr/>
        </p:nvSpPr>
        <p:spPr>
          <a:xfrm>
            <a:off x="788045" y="48260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ПРИЧИНА 1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09</a:t>
            </a:r>
            <a:endParaRPr lang="en-US" sz="1000" dirty="0"/>
          </a:p>
        </p:txBody>
      </p:sp>
      <p:pic>
        <p:nvPicPr>
          <p:cNvPr id="7" name="svg-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000" y="2667000"/>
            <a:ext cx="254000" cy="254000"/>
          </a:xfrm>
          <a:prstGeom prst="rect">
            <a:avLst/>
          </a:prstGeom>
        </p:spPr>
      </p:pic>
      <p:sp>
        <p:nvSpPr>
          <p:cNvPr id="8" name="text-7"/>
          <p:cNvSpPr txBox="1"/>
          <p:nvPr/>
        </p:nvSpPr>
        <p:spPr>
          <a:xfrm>
            <a:off x="457200" y="4666456"/>
            <a:ext cx="6300216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spc="-16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Я видел, как всё </a:t>
            </a:r>
            <a:pPr algn="l" indent="0" marL="0">
              <a:lnSpc>
                <a:spcPts val="4600"/>
              </a:lnSpc>
              <a:buNone/>
            </a:pPr>
            <a:r>
              <a:rPr lang="en-US" sz="5200" i="1" spc="-100" kern="0" dirty="0">
                <a:solidFill>
                  <a:srgbClr val="57068C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началось</a:t>
            </a:r>
            <a:endParaRPr lang="en-US" sz="4600" dirty="0"/>
          </a:p>
        </p:txBody>
      </p:sp>
      <p:sp>
        <p:nvSpPr>
          <p:cNvPr id="9" name="text-8"/>
          <p:cNvSpPr txBox="1"/>
          <p:nvPr/>
        </p:nvSpPr>
        <p:spPr>
          <a:xfrm>
            <a:off x="457845" y="6036667"/>
            <a:ext cx="6246368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Война началась буквально над моей головой. Жить четыре года рядом с этим я не захотел, несмотря на исключительные гарантии безопасности.</a:t>
            </a:r>
            <a:endParaRPr lang="en-US" sz="1400" dirty="0"/>
          </a:p>
        </p:txBody>
      </p:sp>
      <p:sp>
        <p:nvSpPr>
          <p:cNvPr id="10" name="text-9"/>
          <p:cNvSpPr txBox="1"/>
          <p:nvPr/>
        </p:nvSpPr>
        <p:spPr>
          <a:xfrm>
            <a:off x="457845" y="6872089"/>
            <a:ext cx="6246368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Мои знакомые, которые туда поступили, всё равно поехали учиться. У них всё отлично, они проживают лучшую студенческую жизнь. Всё-таки каждый решает за себя.</a:t>
            </a:r>
            <a:endParaRPr lang="en-US" sz="1400" dirty="0"/>
          </a:p>
        </p:txBody>
      </p:sp>
      <p:sp>
        <p:nvSpPr>
          <p:cNvPr id="11" name="text-10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12" name="shape-11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13" name="text-12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14" name="svg-1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15" name="shape-14"/>
          <p:cNvSpPr/>
          <p:nvPr/>
        </p:nvSpPr>
        <p:spPr>
          <a:xfrm rot="-180000">
            <a:off x="381000" y="889000"/>
            <a:ext cx="3810000" cy="29083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6" name="shape-15"/>
          <p:cNvSpPr/>
          <p:nvPr/>
        </p:nvSpPr>
        <p:spPr>
          <a:xfrm rot="-360000">
            <a:off x="1798475" y="789358"/>
            <a:ext cx="825500" cy="2540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pic>
        <p:nvPicPr>
          <p:cNvPr id="17" name="img-1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80000">
            <a:off x="462589" y="978091"/>
            <a:ext cx="3632200" cy="2451100"/>
          </a:xfrm>
          <a:prstGeom prst="rect">
            <a:avLst/>
          </a:prstGeom>
        </p:spPr>
      </p:pic>
      <p:sp>
        <p:nvSpPr>
          <p:cNvPr id="18" name="text-17"/>
          <p:cNvSpPr txBox="1"/>
          <p:nvPr/>
        </p:nvSpPr>
        <p:spPr>
          <a:xfrm rot="-180000">
            <a:off x="370602" y="3478077"/>
            <a:ext cx="3962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американские вузы под угрозой Ирана</a:t>
            </a:r>
            <a:endParaRPr lang="en-US" sz="1400" dirty="0"/>
          </a:p>
        </p:txBody>
      </p:sp>
      <p:sp>
        <p:nvSpPr>
          <p:cNvPr id="19" name="shape-18"/>
          <p:cNvSpPr/>
          <p:nvPr/>
        </p:nvSpPr>
        <p:spPr>
          <a:xfrm rot="240000">
            <a:off x="4102348" y="3175000"/>
            <a:ext cx="2374900" cy="374650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0" name="svg-1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40000">
            <a:off x="4231962" y="3205670"/>
            <a:ext cx="177800" cy="177800"/>
          </a:xfrm>
          <a:prstGeom prst="rect">
            <a:avLst/>
          </a:prstGeom>
        </p:spPr>
      </p:pic>
      <p:sp>
        <p:nvSpPr>
          <p:cNvPr id="21" name="text-20"/>
          <p:cNvSpPr txBox="1"/>
          <p:nvPr/>
        </p:nvSpPr>
        <p:spPr>
          <a:xfrm rot="240000">
            <a:off x="4483039" y="3260059"/>
            <a:ext cx="197891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обстановка в регионе</a:t>
            </a:r>
            <a:endParaRPr lang="en-US" sz="1350" dirty="0"/>
          </a:p>
        </p:txBody>
      </p:sp>
      <p:sp>
        <p:nvSpPr>
          <p:cNvPr id="22" name="text-21"/>
          <p:cNvSpPr txBox="1"/>
          <p:nvPr/>
        </p:nvSpPr>
        <p:spPr>
          <a:xfrm rot="-240000">
            <a:off x="5070267" y="3745309"/>
            <a:ext cx="127889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2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и это</a:t>
            </a:r>
            <a:endParaRPr lang="en-US" sz="1800" dirty="0"/>
          </a:p>
          <a:p>
            <a:pPr algn="r" indent="0" marL="0">
              <a:lnSpc>
                <a:spcPts val="202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нормально</a:t>
            </a:r>
            <a:endParaRPr lang="en-US" sz="1800" dirty="0"/>
          </a:p>
        </p:txBody>
      </p:sp>
      <p:sp>
        <p:nvSpPr>
          <p:cNvPr id="23" name="shape-22"/>
          <p:cNvSpPr/>
          <p:nvPr/>
        </p:nvSpPr>
        <p:spPr>
          <a:xfrm rot="-360000">
            <a:off x="3556000" y="2540000"/>
            <a:ext cx="584200" cy="584200"/>
          </a:xfrm>
          <a:prstGeom prst="ellipse">
            <a:avLst/>
          </a:prstGeom>
          <a:solidFill>
            <a:srgbClr val="57068C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4" name="svg-2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360000">
            <a:off x="3702050" y="2686050"/>
            <a:ext cx="292100" cy="292100"/>
          </a:xfrm>
          <a:prstGeom prst="rect">
            <a:avLst/>
          </a:prstGeom>
        </p:spPr>
      </p:pic>
      <p:sp>
        <p:nvSpPr>
          <p:cNvPr id="25" name="shape-24"/>
          <p:cNvSpPr/>
          <p:nvPr/>
        </p:nvSpPr>
        <p:spPr>
          <a:xfrm rot="360000">
            <a:off x="3473301" y="952500"/>
            <a:ext cx="3028950" cy="4000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6" name="svg-2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360000">
            <a:off x="3619897" y="929199"/>
            <a:ext cx="177800" cy="177800"/>
          </a:xfrm>
          <a:prstGeom prst="rect">
            <a:avLst/>
          </a:prstGeom>
        </p:spPr>
      </p:pic>
      <p:sp>
        <p:nvSpPr>
          <p:cNvPr id="27" name="text-26"/>
          <p:cNvSpPr txBox="1"/>
          <p:nvPr/>
        </p:nvSpPr>
        <p:spPr>
          <a:xfrm rot="360000">
            <a:off x="3866305" y="1054675"/>
            <a:ext cx="264528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знакомые всё равно поехали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0" y="0"/>
            <a:ext cx="6858000" cy="7620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3" name="shape-2"/>
          <p:cNvSpPr/>
          <p:nvPr/>
        </p:nvSpPr>
        <p:spPr>
          <a:xfrm>
            <a:off x="457845" y="406400"/>
            <a:ext cx="13017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57068C"/>
            </a:solidFill>
            <a:prstDash val="solid"/>
          </a:ln>
        </p:spPr>
      </p:sp>
      <p:pic>
        <p:nvPicPr>
          <p:cNvPr id="4" name="svg-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5" name="text-4"/>
          <p:cNvSpPr txBox="1"/>
          <p:nvPr/>
        </p:nvSpPr>
        <p:spPr>
          <a:xfrm>
            <a:off x="788045" y="48260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ПРИЧИНА 2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09</a:t>
            </a:r>
            <a:endParaRPr lang="en-US" sz="1000" dirty="0"/>
          </a:p>
        </p:txBody>
      </p:sp>
      <p:pic>
        <p:nvPicPr>
          <p:cNvPr id="7" name="svg-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000" y="6223000"/>
            <a:ext cx="254000" cy="254000"/>
          </a:xfrm>
          <a:prstGeom prst="rect">
            <a:avLst/>
          </a:prstGeom>
        </p:spPr>
      </p:pic>
      <p:sp>
        <p:nvSpPr>
          <p:cNvPr id="8" name="text-7"/>
          <p:cNvSpPr txBox="1"/>
          <p:nvPr/>
        </p:nvSpPr>
        <p:spPr>
          <a:xfrm>
            <a:off x="457200" y="889000"/>
            <a:ext cx="6300216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spc="-16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Родители </a:t>
            </a:r>
            <a:pPr algn="l" indent="0" marL="0">
              <a:lnSpc>
                <a:spcPts val="4600"/>
              </a:lnSpc>
              <a:buNone/>
            </a:pPr>
            <a:r>
              <a:rPr lang="en-US" sz="5200" i="1" spc="-100" kern="0" dirty="0">
                <a:solidFill>
                  <a:srgbClr val="57068C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переживали</a:t>
            </a:r>
            <a:endParaRPr lang="en-US" sz="4600" dirty="0"/>
          </a:p>
        </p:txBody>
      </p:sp>
      <p:sp>
        <p:nvSpPr>
          <p:cNvPr id="9" name="text-8"/>
          <p:cNvSpPr txBox="1"/>
          <p:nvPr/>
        </p:nvSpPr>
        <p:spPr>
          <a:xfrm>
            <a:off x="457845" y="2259806"/>
            <a:ext cx="6246368" cy="99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Мама и папа, братья и женгешки, все родственники и друзья очень боялись за меня. С мамой мы переписывались по 50 раз в день, днём и ночью. Я мог настоять на своём и полететь, но не стал: их спокойствие оказалось для меня важнее.</a:t>
            </a:r>
            <a:endParaRPr lang="en-US" sz="1400" dirty="0"/>
          </a:p>
        </p:txBody>
      </p:sp>
      <p:sp>
        <p:nvSpPr>
          <p:cNvPr id="10" name="text-9"/>
          <p:cNvSpPr txBox="1"/>
          <p:nvPr/>
        </p:nvSpPr>
        <p:spPr>
          <a:xfrm>
            <a:off x="457845" y="3343473"/>
            <a:ext cx="6246368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Со стороны это выглядит так, будто я просто послушался родителей и отказался от гранта всей своей жизни. Но дочитай до четвёртой причины.</a:t>
            </a:r>
            <a:endParaRPr lang="en-US" sz="1400" dirty="0"/>
          </a:p>
        </p:txBody>
      </p:sp>
      <p:sp>
        <p:nvSpPr>
          <p:cNvPr id="11" name="text-10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12" name="shape-11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13" name="text-12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14" name="svg-1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15" name="shape-14"/>
          <p:cNvSpPr/>
          <p:nvPr/>
        </p:nvSpPr>
        <p:spPr>
          <a:xfrm rot="-120000">
            <a:off x="381000" y="4127500"/>
            <a:ext cx="4318000" cy="24574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6" name="shape-15"/>
          <p:cNvSpPr/>
          <p:nvPr/>
        </p:nvSpPr>
        <p:spPr>
          <a:xfrm rot="-300000">
            <a:off x="2085255" y="4026633"/>
            <a:ext cx="825500" cy="2540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pic>
        <p:nvPicPr>
          <p:cNvPr id="17" name="img-1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65024" y="4216485"/>
            <a:ext cx="4140200" cy="2000250"/>
          </a:xfrm>
          <a:prstGeom prst="rect">
            <a:avLst/>
          </a:prstGeom>
        </p:spPr>
      </p:pic>
      <p:sp>
        <p:nvSpPr>
          <p:cNvPr id="18" name="text-17"/>
          <p:cNvSpPr txBox="1"/>
          <p:nvPr/>
        </p:nvSpPr>
        <p:spPr>
          <a:xfrm rot="-120000">
            <a:off x="330320" y="6247777"/>
            <a:ext cx="449072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переписка с мамой</a:t>
            </a:r>
            <a:endParaRPr lang="en-US" sz="1500" dirty="0"/>
          </a:p>
        </p:txBody>
      </p:sp>
      <p:sp>
        <p:nvSpPr>
          <p:cNvPr id="19" name="shape-18"/>
          <p:cNvSpPr/>
          <p:nvPr/>
        </p:nvSpPr>
        <p:spPr>
          <a:xfrm rot="-240000">
            <a:off x="445046" y="6858000"/>
            <a:ext cx="2165350" cy="374650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0" name="svg-1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240000">
            <a:off x="573613" y="7016926"/>
            <a:ext cx="177800" cy="177800"/>
          </a:xfrm>
          <a:prstGeom prst="rect">
            <a:avLst/>
          </a:prstGeom>
        </p:spPr>
      </p:pic>
      <p:sp>
        <p:nvSpPr>
          <p:cNvPr id="21" name="text-20"/>
          <p:cNvSpPr txBox="1"/>
          <p:nvPr/>
        </p:nvSpPr>
        <p:spPr>
          <a:xfrm rot="-240000">
            <a:off x="825736" y="6925341"/>
            <a:ext cx="1756791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спокойствие семьи</a:t>
            </a:r>
            <a:endParaRPr lang="en-US" sz="1350" dirty="0"/>
          </a:p>
        </p:txBody>
      </p:sp>
      <p:sp>
        <p:nvSpPr>
          <p:cNvPr id="22" name="shape-21"/>
          <p:cNvSpPr/>
          <p:nvPr/>
        </p:nvSpPr>
        <p:spPr>
          <a:xfrm rot="180000">
            <a:off x="2666950" y="7302500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3" name="svg-2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0000">
            <a:off x="2807692" y="7375742"/>
            <a:ext cx="177800" cy="177800"/>
          </a:xfrm>
          <a:prstGeom prst="rect">
            <a:avLst/>
          </a:prstGeom>
        </p:spPr>
      </p:pic>
      <p:sp>
        <p:nvSpPr>
          <p:cNvPr id="24" name="text-23"/>
          <p:cNvSpPr txBox="1"/>
          <p:nvPr/>
        </p:nvSpPr>
        <p:spPr>
          <a:xfrm rot="180000">
            <a:off x="3060476" y="7398046"/>
            <a:ext cx="145389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не стал спорить</a:t>
            </a:r>
            <a:endParaRPr lang="en-US" sz="1350" dirty="0"/>
          </a:p>
        </p:txBody>
      </p:sp>
      <p:sp>
        <p:nvSpPr>
          <p:cNvPr id="25" name="text-24"/>
          <p:cNvSpPr txBox="1"/>
          <p:nvPr/>
        </p:nvSpPr>
        <p:spPr>
          <a:xfrm rot="-240000">
            <a:off x="4921643" y="4824809"/>
            <a:ext cx="155486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2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50 сообщений</a:t>
            </a:r>
            <a:endParaRPr lang="en-US" sz="1800" dirty="0"/>
          </a:p>
          <a:p>
            <a:pPr algn="r" indent="0" marL="0">
              <a:lnSpc>
                <a:spcPts val="202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в день</a:t>
            </a:r>
            <a:endParaRPr lang="en-US" sz="1800" dirty="0"/>
          </a:p>
        </p:txBody>
      </p:sp>
      <p:sp>
        <p:nvSpPr>
          <p:cNvPr id="26" name="shape-25"/>
          <p:cNvSpPr/>
          <p:nvPr/>
        </p:nvSpPr>
        <p:spPr>
          <a:xfrm rot="-360000">
            <a:off x="4381500" y="3873500"/>
            <a:ext cx="584200" cy="584200"/>
          </a:xfrm>
          <a:prstGeom prst="ellipse">
            <a:avLst/>
          </a:prstGeom>
          <a:solidFill>
            <a:srgbClr val="57068C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7" name="svg-2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360000">
            <a:off x="4527550" y="4019550"/>
            <a:ext cx="2921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0" y="0"/>
            <a:ext cx="6858000" cy="7620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3" name="shape-2"/>
          <p:cNvSpPr/>
          <p:nvPr/>
        </p:nvSpPr>
        <p:spPr>
          <a:xfrm>
            <a:off x="457845" y="406400"/>
            <a:ext cx="13017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57068C"/>
            </a:solidFill>
            <a:prstDash val="solid"/>
          </a:ln>
        </p:spPr>
      </p:sp>
      <p:pic>
        <p:nvPicPr>
          <p:cNvPr id="4" name="svg-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5" name="text-4"/>
          <p:cNvSpPr txBox="1"/>
          <p:nvPr/>
        </p:nvSpPr>
        <p:spPr>
          <a:xfrm>
            <a:off x="788045" y="48260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ПРИЧИНА 3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09</a:t>
            </a:r>
            <a:endParaRPr lang="en-US" sz="1000" dirty="0"/>
          </a:p>
        </p:txBody>
      </p:sp>
      <p:pic>
        <p:nvPicPr>
          <p:cNvPr id="7" name="svg-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079500"/>
            <a:ext cx="254000" cy="254000"/>
          </a:xfrm>
          <a:prstGeom prst="rect">
            <a:avLst/>
          </a:prstGeom>
        </p:spPr>
      </p:pic>
      <p:pic>
        <p:nvPicPr>
          <p:cNvPr id="8" name="svg-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0" y="7302500"/>
            <a:ext cx="190500" cy="190500"/>
          </a:xfrm>
          <a:prstGeom prst="rect">
            <a:avLst/>
          </a:prstGeom>
        </p:spPr>
      </p:pic>
      <p:sp>
        <p:nvSpPr>
          <p:cNvPr id="9" name="text-8"/>
          <p:cNvSpPr txBox="1"/>
          <p:nvPr/>
        </p:nvSpPr>
        <p:spPr>
          <a:xfrm>
            <a:off x="457200" y="1651000"/>
            <a:ext cx="6300216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200" b="1" spc="-18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Я не увидел там </a:t>
            </a:r>
            <a:pPr algn="l" indent="0" marL="0">
              <a:lnSpc>
                <a:spcPts val="5200"/>
              </a:lnSpc>
              <a:buNone/>
            </a:pPr>
            <a:r>
              <a:rPr lang="en-US" sz="5800" i="1" spc="-120" kern="0" dirty="0">
                <a:solidFill>
                  <a:srgbClr val="57068C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себя</a:t>
            </a:r>
            <a:endParaRPr lang="en-US" sz="5200" dirty="0"/>
          </a:p>
        </p:txBody>
      </p:sp>
      <p:sp>
        <p:nvSpPr>
          <p:cNvPr id="10" name="text-9"/>
          <p:cNvSpPr txBox="1"/>
          <p:nvPr/>
        </p:nvSpPr>
        <p:spPr>
          <a:xfrm>
            <a:off x="456059" y="3201392"/>
            <a:ext cx="5714619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70"/>
              </a:lnSpc>
              <a:buNone/>
            </a:pPr>
            <a:r>
              <a:rPr lang="en-US" sz="16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Когда подавался, я, как и многие, смотрел на две вещи: престиж и стипендию. В Абу-Даби понял, что этого </a:t>
            </a:r>
            <a:pPr algn="l" indent="0" marL="0">
              <a:lnSpc>
                <a:spcPts val="2270"/>
              </a:lnSpc>
              <a:buNone/>
            </a:pPr>
            <a:r>
              <a:rPr lang="en-US" sz="1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мало</a:t>
            </a:r>
            <a:pPr algn="l" indent="0" marL="0">
              <a:lnSpc>
                <a:spcPts val="2270"/>
              </a:lnSpc>
              <a:buNone/>
            </a:pPr>
            <a:r>
              <a:rPr lang="en-US" sz="16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text-10"/>
          <p:cNvSpPr txBox="1"/>
          <p:nvPr/>
        </p:nvSpPr>
        <p:spPr>
          <a:xfrm>
            <a:off x="456059" y="4204891"/>
            <a:ext cx="5714619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70"/>
              </a:lnSpc>
              <a:buNone/>
            </a:pPr>
            <a:r>
              <a:rPr lang="en-US" sz="16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Мне понравились люди и культура. Ребята там классные, живые, необычные. Но представить себя там через четыре года я так и не смог. И жару после карагандинских снегопадов я тоже не полюбил.</a:t>
            </a:r>
            <a:endParaRPr lang="en-US" sz="1600" dirty="0"/>
          </a:p>
        </p:txBody>
      </p:sp>
      <p:sp>
        <p:nvSpPr>
          <p:cNvPr id="12" name="text-11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13" name="shape-12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14" name="text-13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15" name="svg-1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16" name="shape-15"/>
          <p:cNvSpPr/>
          <p:nvPr/>
        </p:nvSpPr>
        <p:spPr>
          <a:xfrm rot="-240000">
            <a:off x="458242" y="5715000"/>
            <a:ext cx="2336800" cy="374650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7" name="svg-1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240000">
            <a:off x="586523" y="5879941"/>
            <a:ext cx="177800" cy="177800"/>
          </a:xfrm>
          <a:prstGeom prst="rect">
            <a:avLst/>
          </a:prstGeom>
        </p:spPr>
      </p:pic>
      <p:sp>
        <p:nvSpPr>
          <p:cNvPr id="18" name="text-17"/>
          <p:cNvSpPr txBox="1"/>
          <p:nvPr/>
        </p:nvSpPr>
        <p:spPr>
          <a:xfrm rot="-240000">
            <a:off x="838932" y="5782341"/>
            <a:ext cx="193852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престиж ≠ моё место</a:t>
            </a:r>
            <a:endParaRPr lang="en-US" sz="1350" dirty="0"/>
          </a:p>
        </p:txBody>
      </p:sp>
      <p:sp>
        <p:nvSpPr>
          <p:cNvPr id="19" name="shape-18"/>
          <p:cNvSpPr/>
          <p:nvPr/>
        </p:nvSpPr>
        <p:spPr>
          <a:xfrm rot="180000">
            <a:off x="2285851" y="6286500"/>
            <a:ext cx="1530350" cy="4000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0" name="svg-19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0000">
            <a:off x="2426435" y="6369551"/>
            <a:ext cx="177800" cy="177800"/>
          </a:xfrm>
          <a:prstGeom prst="rect">
            <a:avLst/>
          </a:prstGeom>
        </p:spPr>
      </p:pic>
      <p:sp>
        <p:nvSpPr>
          <p:cNvPr id="21" name="text-20"/>
          <p:cNvSpPr txBox="1"/>
          <p:nvPr/>
        </p:nvSpPr>
        <p:spPr>
          <a:xfrm rot="180000">
            <a:off x="2679377" y="6382047"/>
            <a:ext cx="105676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+35° не моё</a:t>
            </a:r>
            <a:endParaRPr lang="en-US" sz="1350" dirty="0"/>
          </a:p>
        </p:txBody>
      </p:sp>
      <p:sp>
        <p:nvSpPr>
          <p:cNvPr id="22" name="text-21"/>
          <p:cNvSpPr txBox="1"/>
          <p:nvPr/>
        </p:nvSpPr>
        <p:spPr>
          <a:xfrm rot="-240000">
            <a:off x="4794941" y="6856809"/>
            <a:ext cx="155486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2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но люди там</a:t>
            </a:r>
            <a:endParaRPr lang="en-US" sz="1800" dirty="0"/>
          </a:p>
          <a:p>
            <a:pPr algn="r" indent="0" marL="0">
              <a:lnSpc>
                <a:spcPts val="202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прекрасные</a:t>
            </a:r>
            <a:endParaRPr lang="en-US" sz="1800" dirty="0"/>
          </a:p>
        </p:txBody>
      </p:sp>
      <p:sp>
        <p:nvSpPr>
          <p:cNvPr id="23" name="shape-22"/>
          <p:cNvSpPr/>
          <p:nvPr/>
        </p:nvSpPr>
        <p:spPr>
          <a:xfrm rot="-360000">
            <a:off x="457200" y="952500"/>
            <a:ext cx="584200" cy="584200"/>
          </a:xfrm>
          <a:prstGeom prst="ellipse">
            <a:avLst/>
          </a:prstGeom>
          <a:solidFill>
            <a:srgbClr val="57068C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4" name="svg-2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360000">
            <a:off x="603250" y="1098550"/>
            <a:ext cx="2921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0" y="0"/>
            <a:ext cx="6858000" cy="7620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3" name="shape-2"/>
          <p:cNvSpPr/>
          <p:nvPr/>
        </p:nvSpPr>
        <p:spPr>
          <a:xfrm>
            <a:off x="457845" y="406400"/>
            <a:ext cx="13017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57068C"/>
            </a:solidFill>
            <a:prstDash val="solid"/>
          </a:ln>
        </p:spPr>
      </p:sp>
      <p:pic>
        <p:nvPicPr>
          <p:cNvPr id="4" name="svg-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5" name="text-4"/>
          <p:cNvSpPr txBox="1"/>
          <p:nvPr/>
        </p:nvSpPr>
        <p:spPr>
          <a:xfrm>
            <a:off x="788045" y="48260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ПРИЧИНА 4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09</a:t>
            </a:r>
            <a:endParaRPr lang="en-US" sz="1000" dirty="0"/>
          </a:p>
        </p:txBody>
      </p:sp>
      <p:pic>
        <p:nvPicPr>
          <p:cNvPr id="7" name="svg-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0" y="1016000"/>
            <a:ext cx="254000" cy="254000"/>
          </a:xfrm>
          <a:prstGeom prst="rect">
            <a:avLst/>
          </a:prstGeom>
        </p:spPr>
      </p:pic>
      <p:pic>
        <p:nvPicPr>
          <p:cNvPr id="8" name="svg-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7493000"/>
            <a:ext cx="190500" cy="190500"/>
          </a:xfrm>
          <a:prstGeom prst="rect">
            <a:avLst/>
          </a:prstGeom>
        </p:spPr>
      </p:pic>
      <p:sp>
        <p:nvSpPr>
          <p:cNvPr id="9" name="text-8"/>
          <p:cNvSpPr txBox="1"/>
          <p:nvPr/>
        </p:nvSpPr>
        <p:spPr>
          <a:xfrm>
            <a:off x="457200" y="1460500"/>
            <a:ext cx="6300216" cy="130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spc="-17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Я умею учиться </a:t>
            </a:r>
            <a:pPr algn="l" indent="0" marL="0">
              <a:lnSpc>
                <a:spcPts val="4800"/>
              </a:lnSpc>
              <a:buNone/>
            </a:pPr>
            <a:r>
              <a:rPr lang="en-US" sz="5400" i="1" spc="-110" kern="0" dirty="0">
                <a:solidFill>
                  <a:srgbClr val="57068C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сам</a:t>
            </a:r>
            <a:endParaRPr lang="en-US" sz="4800" dirty="0"/>
          </a:p>
        </p:txBody>
      </p:sp>
      <p:sp>
        <p:nvSpPr>
          <p:cNvPr id="10" name="text-9"/>
          <p:cNvSpPr txBox="1"/>
          <p:nvPr/>
        </p:nvSpPr>
        <p:spPr>
          <a:xfrm>
            <a:off x="458391" y="2889151"/>
            <a:ext cx="5620385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В конце 12 класса я заметил простую вещь. Всё, чего я добился, я выучил сам: химию, математику, историю, SAT, IELTS, даже бодибилдинг. Я уверен, что могу научиться чему угодно. Поэтому для меня название университета было не главным.</a:t>
            </a:r>
            <a:endParaRPr lang="en-US" sz="1500" dirty="0"/>
          </a:p>
        </p:txBody>
      </p:sp>
      <p:sp>
        <p:nvSpPr>
          <p:cNvPr id="11" name="text-10"/>
          <p:cNvSpPr txBox="1"/>
          <p:nvPr/>
        </p:nvSpPr>
        <p:spPr>
          <a:xfrm>
            <a:off x="458391" y="4369792"/>
            <a:ext cx="5620385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Конечно, хороший университет помогает: NYUAD дал бы много знакомств, возможностей и знаний. Но если место не твоё, семья переживает, а риск снова оказаться в такой ситуации реален, </a:t>
            </a:r>
            <a:pPr algn="l" indent="0" marL="0">
              <a:lnSpc>
                <a:spcPts val="213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ехать не было смысла</a:t>
            </a:r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500" dirty="0"/>
          </a:p>
        </p:txBody>
      </p:sp>
      <p:sp>
        <p:nvSpPr>
          <p:cNvPr id="12" name="text-11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13" name="shape-12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14" name="text-13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15" name="svg-1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16" name="shape-15"/>
          <p:cNvSpPr/>
          <p:nvPr/>
        </p:nvSpPr>
        <p:spPr>
          <a:xfrm rot="-240000">
            <a:off x="457299" y="6413500"/>
            <a:ext cx="1358900" cy="374650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7" name="svg-1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240000">
            <a:off x="585329" y="6544268"/>
            <a:ext cx="177800" cy="177800"/>
          </a:xfrm>
          <a:prstGeom prst="rect">
            <a:avLst/>
          </a:prstGeom>
        </p:spPr>
      </p:pic>
      <p:sp>
        <p:nvSpPr>
          <p:cNvPr id="18" name="text-17"/>
          <p:cNvSpPr txBox="1"/>
          <p:nvPr/>
        </p:nvSpPr>
        <p:spPr>
          <a:xfrm rot="-240000">
            <a:off x="837990" y="6480841"/>
            <a:ext cx="90195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учусь сам</a:t>
            </a:r>
            <a:endParaRPr lang="en-US" sz="1350" dirty="0"/>
          </a:p>
        </p:txBody>
      </p:sp>
      <p:sp>
        <p:nvSpPr>
          <p:cNvPr id="19" name="shape-18"/>
          <p:cNvSpPr/>
          <p:nvPr/>
        </p:nvSpPr>
        <p:spPr>
          <a:xfrm rot="180000">
            <a:off x="2094012" y="6985000"/>
            <a:ext cx="1371600" cy="4000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0" name="svg-19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0000">
            <a:off x="2235824" y="7072275"/>
            <a:ext cx="177800" cy="177800"/>
          </a:xfrm>
          <a:prstGeom prst="rect">
            <a:avLst/>
          </a:prstGeom>
        </p:spPr>
      </p:pic>
      <p:sp>
        <p:nvSpPr>
          <p:cNvPr id="21" name="text-20"/>
          <p:cNvSpPr txBox="1"/>
          <p:nvPr/>
        </p:nvSpPr>
        <p:spPr>
          <a:xfrm rot="180000">
            <a:off x="2487538" y="7080546"/>
            <a:ext cx="88849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майндсет</a:t>
            </a:r>
            <a:endParaRPr lang="en-US" sz="1350" dirty="0"/>
          </a:p>
        </p:txBody>
      </p:sp>
      <p:sp>
        <p:nvSpPr>
          <p:cNvPr id="22" name="text-21"/>
          <p:cNvSpPr txBox="1"/>
          <p:nvPr/>
        </p:nvSpPr>
        <p:spPr>
          <a:xfrm rot="-240000">
            <a:off x="4103384" y="6540301"/>
            <a:ext cx="2248154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2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вот почему</a:t>
            </a:r>
            <a:endParaRPr lang="en-US" sz="1800" dirty="0"/>
          </a:p>
          <a:p>
            <a:pPr algn="r" indent="0" marL="0">
              <a:lnSpc>
                <a:spcPts val="202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это не «послушный</a:t>
            </a:r>
            <a:endParaRPr lang="en-US" sz="1800" dirty="0"/>
          </a:p>
          <a:p>
            <a:pPr algn="r" indent="0" marL="0">
              <a:lnSpc>
                <a:spcPts val="202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мальчик»</a:t>
            </a:r>
            <a:endParaRPr lang="en-US" sz="1800" dirty="0"/>
          </a:p>
        </p:txBody>
      </p:sp>
      <p:sp>
        <p:nvSpPr>
          <p:cNvPr id="23" name="shape-22"/>
          <p:cNvSpPr/>
          <p:nvPr/>
        </p:nvSpPr>
        <p:spPr>
          <a:xfrm rot="-360000">
            <a:off x="457200" y="825500"/>
            <a:ext cx="584200" cy="584200"/>
          </a:xfrm>
          <a:prstGeom prst="ellipse">
            <a:avLst/>
          </a:prstGeom>
          <a:solidFill>
            <a:srgbClr val="57068C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4" name="svg-2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360000">
            <a:off x="603250" y="971550"/>
            <a:ext cx="2921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0" y="0"/>
            <a:ext cx="6858000" cy="7620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3" name="shape-2"/>
          <p:cNvSpPr/>
          <p:nvPr/>
        </p:nvSpPr>
        <p:spPr>
          <a:xfrm>
            <a:off x="456605" y="406400"/>
            <a:ext cx="10223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57068C"/>
            </a:solidFill>
            <a:prstDash val="solid"/>
          </a:ln>
        </p:spPr>
      </p:sp>
      <p:pic>
        <p:nvPicPr>
          <p:cNvPr id="4" name="svg-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5" name="text-4"/>
          <p:cNvSpPr txBox="1"/>
          <p:nvPr/>
        </p:nvSpPr>
        <p:spPr>
          <a:xfrm>
            <a:off x="786805" y="48260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ЧЕСТНО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09</a:t>
            </a:r>
            <a:endParaRPr lang="en-US" sz="1000" dirty="0"/>
          </a:p>
        </p:txBody>
      </p:sp>
      <p:pic>
        <p:nvPicPr>
          <p:cNvPr id="7" name="svg-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0" y="889000"/>
            <a:ext cx="254000" cy="254000"/>
          </a:xfrm>
          <a:prstGeom prst="rect">
            <a:avLst/>
          </a:prstGeom>
        </p:spPr>
      </p:pic>
      <p:pic>
        <p:nvPicPr>
          <p:cNvPr id="8" name="svg-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4826000"/>
            <a:ext cx="190500" cy="190500"/>
          </a:xfrm>
          <a:prstGeom prst="rect">
            <a:avLst/>
          </a:prstGeom>
        </p:spPr>
      </p:pic>
      <p:sp>
        <p:nvSpPr>
          <p:cNvPr id="9" name="text-8"/>
          <p:cNvSpPr txBox="1"/>
          <p:nvPr/>
        </p:nvSpPr>
        <p:spPr>
          <a:xfrm>
            <a:off x="457200" y="6086078"/>
            <a:ext cx="6300216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spc="-16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Это мой </a:t>
            </a:r>
            <a:pPr algn="l" indent="0" marL="0">
              <a:lnSpc>
                <a:spcPts val="4600"/>
              </a:lnSpc>
              <a:buNone/>
            </a:pPr>
            <a:r>
              <a:rPr lang="en-US" sz="5200" i="1" spc="-100" kern="0" dirty="0">
                <a:solidFill>
                  <a:srgbClr val="57068C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выбор</a:t>
            </a:r>
            <a:endParaRPr lang="en-US" sz="4600" dirty="0"/>
          </a:p>
        </p:txBody>
      </p:sp>
      <p:sp>
        <p:nvSpPr>
          <p:cNvPr id="10" name="text-9"/>
          <p:cNvSpPr txBox="1"/>
          <p:nvPr/>
        </p:nvSpPr>
        <p:spPr>
          <a:xfrm>
            <a:off x="457845" y="6872089"/>
            <a:ext cx="6246368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Мои знакомые там учатся, и у них всё отлично. Если NYUAD тебе подходит, подавайся. Главное, выбирай место, где видишь себя через четыре года.</a:t>
            </a:r>
            <a:endParaRPr lang="en-US" sz="1400" dirty="0"/>
          </a:p>
        </p:txBody>
      </p:sp>
      <p:sp>
        <p:nvSpPr>
          <p:cNvPr id="11" name="text-10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12" name="shape-11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13" name="text-12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14" name="svg-1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15" name="shape-14"/>
          <p:cNvSpPr/>
          <p:nvPr/>
        </p:nvSpPr>
        <p:spPr>
          <a:xfrm rot="-120000">
            <a:off x="508000" y="1079698"/>
            <a:ext cx="5842000" cy="2025650"/>
          </a:xfrm>
          <a:prstGeom prst="roundRect">
            <a:avLst>
              <a:gd name="adj" fmla="val 9404"/>
            </a:avLst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6" name="text-15"/>
          <p:cNvSpPr txBox="1"/>
          <p:nvPr/>
        </p:nvSpPr>
        <p:spPr>
          <a:xfrm rot="-120000">
            <a:off x="883570" y="1435393"/>
            <a:ext cx="5384800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800" i="1" dirty="0">
                <a:solidFill>
                  <a:srgbClr val="FAF8F3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NYUAD правда крутой университет.</a:t>
            </a:r>
            <a:endParaRPr lang="en-US" sz="3800" dirty="0"/>
          </a:p>
        </p:txBody>
      </p:sp>
      <p:sp>
        <p:nvSpPr>
          <p:cNvPr id="17" name="text-16"/>
          <p:cNvSpPr txBox="1"/>
          <p:nvPr/>
        </p:nvSpPr>
        <p:spPr>
          <a:xfrm rot="-120000">
            <a:off x="909395" y="2603541"/>
            <a:ext cx="53848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ЗНАЮ ТЕХ, КТО ТАМ УЧИТСЯ</a:t>
            </a:r>
            <a:endParaRPr lang="en-US" sz="900" dirty="0"/>
          </a:p>
        </p:txBody>
      </p:sp>
      <p:sp>
        <p:nvSpPr>
          <p:cNvPr id="18" name="shape-17"/>
          <p:cNvSpPr/>
          <p:nvPr/>
        </p:nvSpPr>
        <p:spPr>
          <a:xfrm rot="-240000">
            <a:off x="445840" y="4191000"/>
            <a:ext cx="2736850" cy="4000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9" name="svg-1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240000">
            <a:off x="586980" y="4381729"/>
            <a:ext cx="177800" cy="177800"/>
          </a:xfrm>
          <a:prstGeom prst="rect">
            <a:avLst/>
          </a:prstGeom>
        </p:spPr>
      </p:pic>
      <p:sp>
        <p:nvSpPr>
          <p:cNvPr id="20" name="text-19"/>
          <p:cNvSpPr txBox="1"/>
          <p:nvPr/>
        </p:nvSpPr>
        <p:spPr>
          <a:xfrm rot="-240000">
            <a:off x="839230" y="4271041"/>
            <a:ext cx="233565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мои знакомые учатся там</a:t>
            </a:r>
            <a:endParaRPr lang="en-US" sz="1350" dirty="0"/>
          </a:p>
        </p:txBody>
      </p:sp>
      <p:sp>
        <p:nvSpPr>
          <p:cNvPr id="21" name="shape-20"/>
          <p:cNvSpPr/>
          <p:nvPr/>
        </p:nvSpPr>
        <p:spPr>
          <a:xfrm rot="240000">
            <a:off x="4280098" y="4064000"/>
            <a:ext cx="2133600" cy="374650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2" name="svg-2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40000">
            <a:off x="4409369" y="4103083"/>
            <a:ext cx="177800" cy="177800"/>
          </a:xfrm>
          <a:prstGeom prst="rect">
            <a:avLst/>
          </a:prstGeom>
        </p:spPr>
      </p:pic>
      <p:sp>
        <p:nvSpPr>
          <p:cNvPr id="23" name="text-22"/>
          <p:cNvSpPr txBox="1"/>
          <p:nvPr/>
        </p:nvSpPr>
        <p:spPr>
          <a:xfrm rot="240000">
            <a:off x="4660789" y="4149059"/>
            <a:ext cx="172313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и у них всё хорошо</a:t>
            </a:r>
            <a:endParaRPr lang="en-US" sz="1350" dirty="0"/>
          </a:p>
        </p:txBody>
      </p:sp>
      <p:sp>
        <p:nvSpPr>
          <p:cNvPr id="24" name="shape-23"/>
          <p:cNvSpPr/>
          <p:nvPr/>
        </p:nvSpPr>
        <p:spPr>
          <a:xfrm rot="480000">
            <a:off x="2984500" y="4826000"/>
            <a:ext cx="584200" cy="584200"/>
          </a:xfrm>
          <a:prstGeom prst="ellipse">
            <a:avLst/>
          </a:prstGeom>
          <a:solidFill>
            <a:srgbClr val="FAF8F3"/>
          </a:solidFill>
          <a:ln w="19050">
            <a:solidFill>
              <a:srgbClr val="57068C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25" name="svg-2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480000">
            <a:off x="3130550" y="4972050"/>
            <a:ext cx="2921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0" y="0"/>
            <a:ext cx="6858000" cy="7620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3" name="shape-2"/>
          <p:cNvSpPr/>
          <p:nvPr/>
        </p:nvSpPr>
        <p:spPr>
          <a:xfrm>
            <a:off x="456605" y="406400"/>
            <a:ext cx="10223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57068C"/>
            </a:solidFill>
            <a:prstDash val="solid"/>
          </a:ln>
        </p:spPr>
      </p:sp>
      <p:pic>
        <p:nvPicPr>
          <p:cNvPr id="4" name="svg-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5" name="text-4"/>
          <p:cNvSpPr txBox="1"/>
          <p:nvPr/>
        </p:nvSpPr>
        <p:spPr>
          <a:xfrm>
            <a:off x="786805" y="48260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ДАЛЬШЕ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09</a:t>
            </a:r>
            <a:endParaRPr lang="en-US" sz="1000" dirty="0"/>
          </a:p>
        </p:txBody>
      </p:sp>
      <p:sp>
        <p:nvSpPr>
          <p:cNvPr id="7" name="text-6"/>
          <p:cNvSpPr txBox="1"/>
          <p:nvPr/>
        </p:nvSpPr>
        <p:spPr>
          <a:xfrm>
            <a:off x="457200" y="2286000"/>
            <a:ext cx="6300216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200" b="1" spc="-18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Этому я и </a:t>
            </a:r>
            <a:pPr algn="l" indent="0" marL="0">
              <a:lnSpc>
                <a:spcPts val="5200"/>
              </a:lnSpc>
              <a:buNone/>
            </a:pPr>
            <a:r>
              <a:rPr lang="en-US" sz="5800" i="1" spc="-120" kern="0" dirty="0">
                <a:solidFill>
                  <a:srgbClr val="57068C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учу</a:t>
            </a:r>
            <a:endParaRPr lang="en-US" sz="5200" dirty="0"/>
          </a:p>
        </p:txBody>
      </p:sp>
      <p:sp>
        <p:nvSpPr>
          <p:cNvPr id="8" name="text-7"/>
          <p:cNvSpPr txBox="1"/>
          <p:nvPr/>
        </p:nvSpPr>
        <p:spPr>
          <a:xfrm>
            <a:off x="456059" y="3175992"/>
            <a:ext cx="5714619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70"/>
              </a:lnSpc>
              <a:buNone/>
            </a:pPr>
            <a:r>
              <a:rPr lang="en-US" sz="16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Умение учиться самому дало мне больше, чем любой оффер. Оно помогло мне принять это решение и не жалеть о нём.</a:t>
            </a:r>
            <a:endParaRPr lang="en-US" sz="1600" dirty="0"/>
          </a:p>
        </p:txBody>
      </p:sp>
      <p:sp>
        <p:nvSpPr>
          <p:cNvPr id="9" name="text-8"/>
          <p:cNvSpPr txBox="1"/>
          <p:nvPr/>
        </p:nvSpPr>
        <p:spPr>
          <a:xfrm>
            <a:off x="456059" y="4179888"/>
            <a:ext cx="5714619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70"/>
              </a:lnSpc>
              <a:buNone/>
            </a:pPr>
            <a:r>
              <a:rPr lang="en-US" sz="16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Сейчас я учусь в НУ и преподаю </a:t>
            </a:r>
            <a:pPr algn="l" indent="0" marL="0">
              <a:lnSpc>
                <a:spcPts val="2270"/>
              </a:lnSpc>
              <a:buNone/>
            </a:pPr>
            <a:r>
              <a:rPr lang="en-US" sz="1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SAT Verbal</a:t>
            </a:r>
            <a:pPr algn="l" indent="0" marL="0">
              <a:lnSpc>
                <a:spcPts val="2270"/>
              </a:lnSpc>
              <a:buNone/>
            </a:pPr>
            <a:r>
              <a:rPr lang="en-US" sz="16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и </a:t>
            </a:r>
            <a:pPr algn="l" indent="0" marL="0">
              <a:lnSpc>
                <a:spcPts val="2270"/>
              </a:lnSpc>
              <a:buNone/>
            </a:pPr>
            <a:r>
              <a:rPr lang="en-US" sz="16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химию</a:t>
            </a:r>
            <a:pPr algn="l" indent="0" marL="0">
              <a:lnSpc>
                <a:spcPts val="2270"/>
              </a:lnSpc>
              <a:buNone/>
            </a:pPr>
            <a:r>
              <a:rPr lang="en-US" sz="16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На занятиях учу тому же: учиться самостоятельно.</a:t>
            </a:r>
            <a:endParaRPr lang="en-US" sz="1600" dirty="0"/>
          </a:p>
        </p:txBody>
      </p:sp>
      <p:pic>
        <p:nvPicPr>
          <p:cNvPr id="10" name="svg-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0" y="1270000"/>
            <a:ext cx="254000" cy="254000"/>
          </a:xfrm>
          <a:prstGeom prst="rect">
            <a:avLst/>
          </a:prstGeom>
        </p:spPr>
      </p:pic>
      <p:pic>
        <p:nvPicPr>
          <p:cNvPr id="11" name="svg-1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7302500"/>
            <a:ext cx="190500" cy="190500"/>
          </a:xfrm>
          <a:prstGeom prst="rect">
            <a:avLst/>
          </a:prstGeom>
        </p:spPr>
      </p:pic>
      <p:sp>
        <p:nvSpPr>
          <p:cNvPr id="12" name="text-11"/>
          <p:cNvSpPr txBox="1"/>
          <p:nvPr/>
        </p:nvSpPr>
        <p:spPr>
          <a:xfrm>
            <a:off x="457845" y="80454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13" name="shape-12"/>
          <p:cNvSpPr/>
          <p:nvPr/>
        </p:nvSpPr>
        <p:spPr>
          <a:xfrm rot="-240000">
            <a:off x="457746" y="5842000"/>
            <a:ext cx="1422400" cy="4000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4" name="svg-1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240000">
            <a:off x="598077" y="5986828"/>
            <a:ext cx="177800" cy="177800"/>
          </a:xfrm>
          <a:prstGeom prst="rect">
            <a:avLst/>
          </a:prstGeom>
        </p:spPr>
      </p:pic>
      <p:sp>
        <p:nvSpPr>
          <p:cNvPr id="15" name="text-14"/>
          <p:cNvSpPr txBox="1"/>
          <p:nvPr/>
        </p:nvSpPr>
        <p:spPr>
          <a:xfrm rot="-240000">
            <a:off x="851136" y="5922041"/>
            <a:ext cx="94234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SAT Verbal</a:t>
            </a:r>
            <a:endParaRPr lang="en-US" sz="1350" dirty="0"/>
          </a:p>
        </p:txBody>
      </p:sp>
      <p:sp>
        <p:nvSpPr>
          <p:cNvPr id="16" name="shape-15"/>
          <p:cNvSpPr/>
          <p:nvPr/>
        </p:nvSpPr>
        <p:spPr>
          <a:xfrm rot="240000">
            <a:off x="1585962" y="6350000"/>
            <a:ext cx="2667000" cy="4000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pic>
        <p:nvPicPr>
          <p:cNvPr id="17" name="svg-1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40000">
            <a:off x="1729888" y="6384158"/>
            <a:ext cx="177800" cy="177800"/>
          </a:xfrm>
          <a:prstGeom prst="rect">
            <a:avLst/>
          </a:prstGeom>
        </p:spPr>
      </p:pic>
      <p:sp>
        <p:nvSpPr>
          <p:cNvPr id="18" name="text-17"/>
          <p:cNvSpPr txBox="1"/>
          <p:nvPr/>
        </p:nvSpPr>
        <p:spPr>
          <a:xfrm rot="240000">
            <a:off x="1979353" y="6447759"/>
            <a:ext cx="226161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spc="-1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химия: IBDP · A-level · вуз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i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 отказался от 170 000 000 ₸</dc:title>
  <dc:subject>PptxGenJS Presentation</dc:subject>
  <dc:creator>PptxGenJS</dc:creator>
  <cp:lastModifiedBy>PptxGenJS</cp:lastModifiedBy>
  <cp:revision>1</cp:revision>
  <dcterms:created xsi:type="dcterms:W3CDTF">2026-10-14T08:02:57Z</dcterms:created>
  <dcterms:modified xsi:type="dcterms:W3CDTF">2026-10-14T08:02:57Z</dcterms:modified>
</cp:coreProperties>
</file>