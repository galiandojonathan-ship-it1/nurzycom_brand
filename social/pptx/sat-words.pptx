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23368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19923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СЛОВАРЬ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368300" y="1079500"/>
            <a:ext cx="63944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21000" i="1" spc="-10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12</a:t>
            </a:r>
            <a:endParaRPr lang="en-US" sz="210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3365500"/>
            <a:ext cx="6300216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17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редких слов для </a:t>
            </a:r>
            <a:pPr algn="l" indent="0" marL="0">
              <a:lnSpc>
                <a:spcPts val="4800"/>
              </a:lnSpc>
              <a:buNone/>
            </a:pPr>
            <a:r>
              <a:rPr lang="en-US" sz="5500" i="1" spc="-11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SAT Verbal</a:t>
            </a:r>
            <a:endParaRPr lang="en-US" sz="4800" dirty="0"/>
          </a:p>
        </p:txBody>
      </p:sp>
      <p:sp>
        <p:nvSpPr>
          <p:cNvPr id="8" name="text-7"/>
          <p:cNvSpPr txBox="1"/>
          <p:nvPr/>
        </p:nvSpPr>
        <p:spPr>
          <a:xfrm>
            <a:off x="456456" y="4852392"/>
            <a:ext cx="51424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Слова уровня SAT с примерами, синонимами и подсказкой, как их запомнить.</a:t>
            </a:r>
            <a:endParaRPr lang="en-US" sz="1600" dirty="0"/>
          </a:p>
        </p:txBody>
      </p:sp>
      <p:pic>
        <p:nvPicPr>
          <p:cNvPr id="9" name="svg-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810000"/>
            <a:ext cx="279400" cy="279400"/>
          </a:xfrm>
          <a:prstGeom prst="rect">
            <a:avLst/>
          </a:prstGeom>
        </p:spPr>
      </p:pic>
      <p:pic>
        <p:nvPicPr>
          <p:cNvPr id="10" name="svg-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7493000"/>
            <a:ext cx="190500" cy="19050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2" name="shape-1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5" name="shape-14"/>
          <p:cNvSpPr/>
          <p:nvPr/>
        </p:nvSpPr>
        <p:spPr>
          <a:xfrm rot="360000">
            <a:off x="5188446" y="1333500"/>
            <a:ext cx="1225550" cy="4381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text-15"/>
          <p:cNvSpPr txBox="1"/>
          <p:nvPr/>
        </p:nvSpPr>
        <p:spPr>
          <a:xfrm rot="360000">
            <a:off x="5340846" y="1422400"/>
            <a:ext cx="975995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-2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dogmatic</a:t>
            </a:r>
            <a:endParaRPr lang="en-US" sz="1600" dirty="0"/>
          </a:p>
        </p:txBody>
      </p:sp>
      <p:sp>
        <p:nvSpPr>
          <p:cNvPr id="17" name="shape-16"/>
          <p:cNvSpPr/>
          <p:nvPr/>
        </p:nvSpPr>
        <p:spPr>
          <a:xfrm rot="-240000">
            <a:off x="4844604" y="2095500"/>
            <a:ext cx="1060450" cy="4635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8" name="text-17"/>
          <p:cNvSpPr txBox="1"/>
          <p:nvPr/>
        </p:nvSpPr>
        <p:spPr>
          <a:xfrm rot="-240000">
            <a:off x="4997004" y="2184400"/>
            <a:ext cx="8009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-2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opaque</a:t>
            </a:r>
            <a:endParaRPr lang="en-US" sz="1600" dirty="0"/>
          </a:p>
        </p:txBody>
      </p:sp>
      <p:sp>
        <p:nvSpPr>
          <p:cNvPr id="19" name="shape-18"/>
          <p:cNvSpPr/>
          <p:nvPr/>
        </p:nvSpPr>
        <p:spPr>
          <a:xfrm rot="180000">
            <a:off x="5347841" y="2857500"/>
            <a:ext cx="1130300" cy="4635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180000">
            <a:off x="5500241" y="2946400"/>
            <a:ext cx="87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-2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tenuous</a:t>
            </a:r>
            <a:endParaRPr lang="en-US" sz="1600" dirty="0"/>
          </a:p>
        </p:txBody>
      </p:sp>
      <p:sp>
        <p:nvSpPr>
          <p:cNvPr id="21" name="shape-20"/>
          <p:cNvSpPr/>
          <p:nvPr/>
        </p:nvSpPr>
        <p:spPr>
          <a:xfrm rot="-180000">
            <a:off x="457498" y="6096000"/>
            <a:ext cx="971550" cy="4635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text-21"/>
          <p:cNvSpPr txBox="1"/>
          <p:nvPr/>
        </p:nvSpPr>
        <p:spPr>
          <a:xfrm rot="-180000">
            <a:off x="609898" y="6184900"/>
            <a:ext cx="7067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-2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rectify</a:t>
            </a:r>
            <a:endParaRPr lang="en-US" sz="1600" dirty="0"/>
          </a:p>
        </p:txBody>
      </p:sp>
      <p:sp>
        <p:nvSpPr>
          <p:cNvPr id="23" name="shape-22"/>
          <p:cNvSpPr/>
          <p:nvPr/>
        </p:nvSpPr>
        <p:spPr>
          <a:xfrm rot="240000">
            <a:off x="2412851" y="6191250"/>
            <a:ext cx="1339850" cy="4381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text-23"/>
          <p:cNvSpPr txBox="1"/>
          <p:nvPr/>
        </p:nvSpPr>
        <p:spPr>
          <a:xfrm rot="240000">
            <a:off x="2565251" y="6280150"/>
            <a:ext cx="1097153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-2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ephemeral</a:t>
            </a:r>
            <a:endParaRPr lang="en-US" sz="1600" dirty="0"/>
          </a:p>
        </p:txBody>
      </p:sp>
      <p:sp>
        <p:nvSpPr>
          <p:cNvPr id="25" name="shape-24"/>
          <p:cNvSpPr/>
          <p:nvPr/>
        </p:nvSpPr>
        <p:spPr>
          <a:xfrm rot="-300000">
            <a:off x="5091509" y="6064250"/>
            <a:ext cx="1257300" cy="4635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6" name="text-25"/>
          <p:cNvSpPr txBox="1"/>
          <p:nvPr/>
        </p:nvSpPr>
        <p:spPr>
          <a:xfrm rot="-300000">
            <a:off x="5243909" y="6153150"/>
            <a:ext cx="1009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-2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engender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ПРИЛ.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dogmatic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[dog-MAT-ik]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5586"/>
            <a:ext cx="518287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уверен, что прав, и не слушает никаких возражений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-84000">
            <a:off x="457200" y="3485306"/>
            <a:ext cx="5943600" cy="20129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264000">
            <a:off x="2928767" y="3370754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-84000">
            <a:off x="743249" y="3764780"/>
            <a:ext cx="5680964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My little brother is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dogmatic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about pizza: pineapple is a crime, and no argument will change his mind.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-84000">
            <a:off x="762888" y="4825536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Мой младший брат догматичен в вопросе пиццы: ананас это преступление, и точка.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837436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002" y="6072386"/>
            <a:ext cx="15367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221" y="6182848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016" y="6150060"/>
            <a:ext cx="103657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opinionated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2082850" y="6072386"/>
            <a:ext cx="9271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2222239" y="6156689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501864" y="6159811"/>
            <a:ext cx="39039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rigid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099048" y="6072386"/>
            <a:ext cx="14668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239296" y="6181627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518063" y="6150060"/>
            <a:ext cx="96253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doctrinaire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655145" y="6072386"/>
            <a:ext cx="16256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781906" y="6144052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5061460" y="6159811"/>
            <a:ext cx="115773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open-minded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dogma = догма. Кто живёт по догме, тот спорит с фактами.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1079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ameliorate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[uh-MEEL-yuh-rayt]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5586"/>
            <a:ext cx="518287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улучшить плохую ситуацию, смягчить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72000">
            <a:off x="457200" y="3590727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108000">
            <a:off x="2969957" y="347730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72000">
            <a:off x="754486" y="3870181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ameliorates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bad Monday like finding money in last winter's jacket.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41003" y="4612295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Ничто так не скрашивает плохой понедельник, как деньги в зимней куртке.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730776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051" y="5965726"/>
            <a:ext cx="12255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26" y="6070760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066" y="6043400"/>
            <a:ext cx="70675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770013" y="5965726"/>
            <a:ext cx="12700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911291" y="6044107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89028" y="6053151"/>
            <a:ext cx="75387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alleviate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126829" y="5965726"/>
            <a:ext cx="12446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267505" y="6071072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545844" y="6043400"/>
            <a:ext cx="72694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mitigate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460677" y="5965726"/>
            <a:ext cx="14605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586891" y="6040255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4866991" y="6053151"/>
            <a:ext cx="98272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exacerbate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melior по-латыни «лучше». Ameliorate значит сделать лучше то, что было плохо.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600" y="11176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accentuate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[ak-SEN-choo-ayt]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подчеркнуть, сделать заметнее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-84000">
            <a:off x="457200" y="3437632"/>
            <a:ext cx="5943600" cy="147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264000">
            <a:off x="2935391" y="3324239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-84000">
            <a:off x="745964" y="3717073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gym lighting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accentuated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muscles he did not, in fact, have.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-84000">
            <a:off x="758979" y="4459169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Свет в зале подчеркнул мышцы, которых у него на самом деле нет.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543153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299" y="5778103"/>
            <a:ext cx="14478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94" y="5887024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314" y="5855778"/>
            <a:ext cx="9423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emphasize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995488" y="5778103"/>
            <a:ext cx="12827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2134043" y="5856168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414502" y="5865529"/>
            <a:ext cx="76733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highlight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369419" y="5778103"/>
            <a:ext cx="14922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508485" y="5887829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788434" y="5855778"/>
            <a:ext cx="98945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underscore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952702" y="5778103"/>
            <a:ext cx="132715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5078778" y="5854956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5359017" y="5865529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downplay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469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909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accent = акцент. Поставить акцент на чём-то и есть accentuate.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600" y="1333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ПРИЛ.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tenuous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[TEN-yoo-us]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слабый, шаткий, притянутый за уши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72000">
            <a:off x="457200" y="3363516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108000">
            <a:off x="2969957" y="325009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72000">
            <a:off x="754486" y="3642970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 theory that homework causes bad weather was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tenuous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at best.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41003" y="4385084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Его теория о том, что домашка портит погоду, была, мягко говоря, шаткой.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6171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8490" y="5852120"/>
            <a:ext cx="10668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079" y="5954435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7505" y="5929795"/>
            <a:ext cx="53848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flimsy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614239" y="5852121"/>
            <a:ext cx="10096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755339" y="5935042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033254" y="5939546"/>
            <a:ext cx="47790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weak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2711996" y="5852120"/>
            <a:ext cx="10477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2851422" y="5954073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131011" y="5929795"/>
            <a:ext cx="5182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shaky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3849688" y="5852120"/>
            <a:ext cx="14351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3976390" y="5927110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4256002" y="5939546"/>
            <a:ext cx="95580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convincing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tenuis по-латыни «тонкий». Tenuous связь держится на тонкой нитке.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1079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epitomize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[ih-PIT-uh-myze]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5586"/>
            <a:ext cx="518287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быть воплощением чего-то, олицетворять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-84000">
            <a:off x="457200" y="3590727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264000">
            <a:off x="2932676" y="347736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-84000">
            <a:off x="743249" y="3870201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cat pushing a glass off the table while staring at you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epitomizes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chaos.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-84000">
            <a:off x="758980" y="4612264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Кот, который сталкивает стакан со стола и смотрит тебе в глаза, это воплощение хаоса.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730776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5712" y="5965726"/>
            <a:ext cx="12255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25" y="6070713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4727" y="6043400"/>
            <a:ext cx="70675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embody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768128" y="5965726"/>
            <a:ext cx="13652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908642" y="6042418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87143" y="6053151"/>
            <a:ext cx="8548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exemplify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220839" y="5965726"/>
            <a:ext cx="10414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361601" y="6067521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639854" y="6043400"/>
            <a:ext cx="5115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typify</a:t>
            </a:r>
            <a:endParaRPr lang="en-US" sz="1350" dirty="0"/>
          </a:p>
        </p:txBody>
      </p:sp>
      <p:sp>
        <p:nvSpPr>
          <p:cNvPr id="23" name="text-22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4" name="text-23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Ударение на второй слог: и-ПИ-то-майз. Существительное epitome, «воплощение».</a:t>
            </a:r>
            <a:endParaRPr lang="en-US" sz="20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9600" y="1117600"/>
            <a:ext cx="279400" cy="2794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7" name="shape-26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8" name="text-27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9" name="svg-2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repudiate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[rih-PYOO-dee-ayt]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5586"/>
            <a:ext cx="518287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отвергнуть, публично отказаться от своих слов или идеи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72000">
            <a:off x="457200" y="3490813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108000">
            <a:off x="2969957" y="3377388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72000">
            <a:off x="754486" y="3770268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After one bite of durian, my friend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repudiated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his “I eat everything” rule.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41003" y="4512382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После одного кусочка дуриана друг отрёкся от своего правила «я ем всё».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530949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8440" y="5765899"/>
            <a:ext cx="10414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071" y="5867769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7455" y="5843574"/>
            <a:ext cx="5115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reject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588740" y="5765899"/>
            <a:ext cx="13335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729939" y="5843170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007755" y="5853325"/>
            <a:ext cx="82118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renounce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010843" y="5765899"/>
            <a:ext cx="11430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149802" y="5869531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429857" y="5843574"/>
            <a:ext cx="61925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disown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245074" y="5765899"/>
            <a:ext cx="120015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370912" y="5844961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4651389" y="5853325"/>
            <a:ext cx="70675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endorse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49863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6719491"/>
            <a:ext cx="5781929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Так слово выглядит в текстах SAT: the senator repudiated the claims, сенатор отверг обвинения.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600" y="1333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ПРИЛ.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mischievous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[MIS-chuh-vus]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озорной, шкодливый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-84000">
            <a:off x="457200" y="3437632"/>
            <a:ext cx="5943600" cy="147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264000">
            <a:off x="2935391" y="3324239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-84000">
            <a:off x="745964" y="3717073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mischievous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kid set every alarm clock in the store to ring at 3 p.m.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-84000">
            <a:off x="758979" y="4459169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Озорной ребёнок завёл все будильники в магазине на 15:00.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543153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448" y="5778103"/>
            <a:ext cx="11366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099" y="5881600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463" y="5855778"/>
            <a:ext cx="61252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playful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682750" y="5778103"/>
            <a:ext cx="11049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823135" y="5859337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01765" y="5865529"/>
            <a:ext cx="57886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impish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2876600" y="5778103"/>
            <a:ext cx="12319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015982" y="5883272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295615" y="5855778"/>
            <a:ext cx="71348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naughty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198193" y="5778103"/>
            <a:ext cx="16510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325309" y="5849338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4604508" y="5865529"/>
            <a:ext cx="11846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well-behaved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469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909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Три слога, MIS-chuh-vus. Лишнего «i» в конце нет, «mis-CHEE-vee-us» неправильно.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1079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ПРИЛ.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superficial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[soo-per-FISH-ul]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поверхностный, без глубины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72000">
            <a:off x="457200" y="3363516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108000">
            <a:off x="2969957" y="325009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72000">
            <a:off x="754486" y="3642970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superficial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review of the chapter was reading the title and feeling confident.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41003" y="4385084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Его поверхностное повторение главы: прочитать заголовок и почувствовать уверенность.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6171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8291" y="5852120"/>
            <a:ext cx="11938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17" y="5956644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7306" y="5929795"/>
            <a:ext cx="673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shallow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742132" y="5852120"/>
            <a:ext cx="11874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881998" y="5931894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61147" y="5939546"/>
            <a:ext cx="66636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cursory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018284" y="5852120"/>
            <a:ext cx="16573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158590" y="5964686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437299" y="5929795"/>
            <a:ext cx="11644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surface-level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765725" y="5852120"/>
            <a:ext cx="12827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891538" y="5929740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5172040" y="5939546"/>
            <a:ext cx="79425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thorough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super = над, facies = лицо, поверхность. То, что лежит сверху.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600" y="11176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ПРИЛ.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opaque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[oh-PAYK]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непрозрачный; непонятный, мутный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-84000">
            <a:off x="457200" y="3263602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264000">
            <a:off x="2932676" y="3150242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-84000">
            <a:off x="743249" y="3543076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printer manual was so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opaque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even the printer looked confused.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-84000">
            <a:off x="758980" y="4285140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Инструкция к принтеру была настолько мутной, что даже принтер выглядел растерянным.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417344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5860" y="5652294"/>
            <a:ext cx="11874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14" y="5756621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4875" y="5729968"/>
            <a:ext cx="66636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unclear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731566" y="5652294"/>
            <a:ext cx="10731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870751" y="5734040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50581" y="5739719"/>
            <a:ext cx="54521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murky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2892723" y="5652294"/>
            <a:ext cx="12319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034237" y="5757388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311737" y="5729968"/>
            <a:ext cx="71348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obscure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212332" y="5652294"/>
            <a:ext cx="15113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339256" y="5725961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4618647" y="5739719"/>
            <a:ext cx="103657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transparent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49863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6719491"/>
            <a:ext cx="5781929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На SAT чаще в переносном смысле: opaque explanation, объяснение, которое ничего не объясняет.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600" y="1333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engender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[en-JEN-der]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5586"/>
            <a:ext cx="5182870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порождать, вызывать (чувство или ситуацию)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72000">
            <a:off x="457200" y="3590727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108000">
            <a:off x="2969957" y="347730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72000">
            <a:off x="754486" y="3870181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last slice of pizza can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engender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more conflict than any group project.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41003" y="4612295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Последний кусок пиццы может вызвать больше конфликтов, чем любой групповой проект.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730776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498" y="5965726"/>
            <a:ext cx="10541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074" y="6067784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513" y="6043400"/>
            <a:ext cx="52501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cause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601887" y="5965726"/>
            <a:ext cx="12954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740744" y="6043580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020902" y="6053151"/>
            <a:ext cx="78079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2987774" y="5965726"/>
            <a:ext cx="10350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127147" y="6067458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406789" y="6043400"/>
            <a:ext cx="5048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breed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112964" y="5965726"/>
            <a:ext cx="11684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239437" y="6045365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4519279" y="6053151"/>
            <a:ext cx="673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prevent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gen = рождать, как в generate и gene. Engender значит породить.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1079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ГЛАГОЛ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rectify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[REK-tuh-fy]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исправить ошибку или ситуацию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-84000">
            <a:off x="457200" y="3363516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264000">
            <a:off x="2932676" y="325015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-84000">
            <a:off x="743249" y="3642990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 tried to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rectify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my sleep schedule by sleeping 14 hours on Sunday. It did not work.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-84000">
            <a:off x="758980" y="4385053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пытался исправить режим сна, проспав 14 часов в воскресенье. Не сработало.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6171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349" y="5852120"/>
            <a:ext cx="11620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07" y="5956057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364" y="5929795"/>
            <a:ext cx="63944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correct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709589" y="5852120"/>
            <a:ext cx="7747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848237" y="5939058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28604" y="5939546"/>
            <a:ext cx="22885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fix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2572841" y="5852120"/>
            <a:ext cx="11811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2714241" y="5956332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2991856" y="5929795"/>
            <a:ext cx="6596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remedy</a:t>
            </a:r>
            <a:endParaRPr lang="en-US" sz="1350" dirty="0"/>
          </a:p>
        </p:txBody>
      </p:sp>
      <p:sp>
        <p:nvSpPr>
          <p:cNvPr id="23" name="text-22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4" name="text-23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rect = прямой, как в rectangle. Rectify значит выпрямить то, что пошло криво.</a:t>
            </a:r>
            <a:endParaRPr lang="en-US" sz="20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9600" y="1117600"/>
            <a:ext cx="279400" cy="2794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7" name="shape-26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8" name="text-27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9" name="svg-2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ПРИЛ.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847"/>
            <a:ext cx="6340602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60"/>
              </a:lnSpc>
              <a:buNone/>
            </a:pPr>
            <a:r>
              <a:rPr lang="en-US" sz="7800" i="1" spc="-16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ephemeral</a:t>
            </a:r>
            <a:endParaRPr lang="en-US" sz="78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127945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[ih-FEM-er-ul]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456902" y="2463453"/>
            <a:ext cx="518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spc="-20" kern="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мимолётный, недолгий</a:t>
            </a:r>
            <a:endParaRPr lang="en-US" sz="2200" dirty="0"/>
          </a:p>
        </p:txBody>
      </p:sp>
      <p:sp>
        <p:nvSpPr>
          <p:cNvPr id="9" name="shape-8"/>
          <p:cNvSpPr/>
          <p:nvPr/>
        </p:nvSpPr>
        <p:spPr>
          <a:xfrm rot="72000">
            <a:off x="457200" y="3363516"/>
            <a:ext cx="5943600" cy="1695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0" name="shape-9"/>
          <p:cNvSpPr/>
          <p:nvPr/>
        </p:nvSpPr>
        <p:spPr>
          <a:xfrm rot="-108000">
            <a:off x="2969957" y="325009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1" name="text-10"/>
          <p:cNvSpPr txBox="1"/>
          <p:nvPr/>
        </p:nvSpPr>
        <p:spPr>
          <a:xfrm rot="72000">
            <a:off x="754486" y="3642970"/>
            <a:ext cx="5680964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My motivation to study is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ephemeral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it lasts until I unlock my phone.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741003" y="4385084"/>
            <a:ext cx="568096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Моя мотивация учиться мимолётна: живёт до первой разблокировки телефона.</a:t>
            </a:r>
            <a:endParaRPr lang="en-US" sz="1250" dirty="0"/>
          </a:p>
        </p:txBody>
      </p:sp>
      <p:sp>
        <p:nvSpPr>
          <p:cNvPr id="13" name="text-12"/>
          <p:cNvSpPr txBox="1"/>
          <p:nvPr/>
        </p:nvSpPr>
        <p:spPr>
          <a:xfrm>
            <a:off x="457200" y="56171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СИНОНИМЫ · АНТОНИМ</a:t>
            </a:r>
            <a:endParaRPr lang="en-US" sz="900" dirty="0"/>
          </a:p>
        </p:txBody>
      </p:sp>
      <p:sp>
        <p:nvSpPr>
          <p:cNvPr id="14" name="shape-13"/>
          <p:cNvSpPr/>
          <p:nvPr/>
        </p:nvSpPr>
        <p:spPr>
          <a:xfrm rot="-120000">
            <a:off x="457597" y="5852120"/>
            <a:ext cx="12065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597121" y="5956841"/>
            <a:ext cx="203200" cy="203200"/>
          </a:xfrm>
          <a:prstGeom prst="rect">
            <a:avLst/>
          </a:prstGeom>
        </p:spPr>
      </p:pic>
      <p:sp>
        <p:nvSpPr>
          <p:cNvPr id="16" name="text-15"/>
          <p:cNvSpPr txBox="1"/>
          <p:nvPr/>
        </p:nvSpPr>
        <p:spPr>
          <a:xfrm rot="-120000">
            <a:off x="876612" y="5929795"/>
            <a:ext cx="6865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fleeting</a:t>
            </a:r>
            <a:endParaRPr lang="en-US" sz="1350" dirty="0"/>
          </a:p>
        </p:txBody>
      </p:sp>
      <p:sp>
        <p:nvSpPr>
          <p:cNvPr id="17" name="shape-16"/>
          <p:cNvSpPr/>
          <p:nvPr/>
        </p:nvSpPr>
        <p:spPr>
          <a:xfrm rot="120000">
            <a:off x="1751905" y="5852120"/>
            <a:ext cx="131445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893346" y="5929732"/>
            <a:ext cx="203200" cy="2032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120000">
            <a:off x="2170920" y="5939546"/>
            <a:ext cx="80098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transient</a:t>
            </a:r>
            <a:endParaRPr lang="en-US" sz="1350" dirty="0"/>
          </a:p>
        </p:txBody>
      </p:sp>
      <p:sp>
        <p:nvSpPr>
          <p:cNvPr id="20" name="shape-19"/>
          <p:cNvSpPr/>
          <p:nvPr/>
        </p:nvSpPr>
        <p:spPr>
          <a:xfrm rot="-120000">
            <a:off x="3154958" y="5852120"/>
            <a:ext cx="1460500" cy="3873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293766" y="5961301"/>
            <a:ext cx="203200" cy="2032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 rot="-120000">
            <a:off x="3573973" y="5929795"/>
            <a:ext cx="95580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short-lived</a:t>
            </a:r>
            <a:endParaRPr lang="en-US" sz="1350" dirty="0"/>
          </a:p>
        </p:txBody>
      </p:sp>
      <p:sp>
        <p:nvSpPr>
          <p:cNvPr id="23" name="shape-22"/>
          <p:cNvSpPr/>
          <p:nvPr/>
        </p:nvSpPr>
        <p:spPr>
          <a:xfrm rot="120000">
            <a:off x="4704606" y="5852120"/>
            <a:ext cx="1104900" cy="3873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4832745" y="5932926"/>
            <a:ext cx="203200" cy="2032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120000">
            <a:off x="5110921" y="5939546"/>
            <a:ext cx="6057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lasting</a:t>
            </a:r>
            <a:endParaRPr lang="en-US" sz="1350" dirty="0"/>
          </a:p>
        </p:txBody>
      </p:sp>
      <p:sp>
        <p:nvSpPr>
          <p:cNvPr id="26" name="text-25"/>
          <p:cNvSpPr txBox="1"/>
          <p:nvPr/>
        </p:nvSpPr>
        <p:spPr>
          <a:xfrm>
            <a:off x="457200" y="679837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ЗАПОМНИТЬ</a:t>
            </a:r>
            <a:endParaRPr lang="en-US" sz="900" dirty="0"/>
          </a:p>
        </p:txBody>
      </p:sp>
      <p:sp>
        <p:nvSpPr>
          <p:cNvPr id="27" name="text-26"/>
          <p:cNvSpPr txBox="1"/>
          <p:nvPr/>
        </p:nvSpPr>
        <p:spPr>
          <a:xfrm>
            <a:off x="457795" y="7021810"/>
            <a:ext cx="578192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По-гречески «на один день». Как сторис в Instagram.</a:t>
            </a:r>
            <a:endParaRPr lang="en-US" sz="2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600" y="1333500"/>
            <a:ext cx="279400" cy="2794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ПРОВЕРКА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2500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Проверь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себя</a:t>
            </a:r>
            <a:endParaRPr lang="en-US" sz="46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52600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Закрой ответы и вставь слово. Вспоминать по памяти полезнее, чем перечитывать.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60000">
            <a:off x="457200" y="2855913"/>
            <a:ext cx="5943600" cy="347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60000">
            <a:off x="727715" y="3235285"/>
            <a:ext cx="292100" cy="292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 rot="-60000">
            <a:off x="727715" y="3235285"/>
            <a:ext cx="30962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-10"/>
          <p:cNvSpPr txBox="1"/>
          <p:nvPr/>
        </p:nvSpPr>
        <p:spPr>
          <a:xfrm rot="-60000">
            <a:off x="1160724" y="3134500"/>
            <a:ext cx="52232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link between the two events is 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one blurry photo.</a:t>
            </a:r>
            <a:endParaRPr lang="en-US" sz="1650" dirty="0"/>
          </a:p>
        </p:txBody>
      </p:sp>
      <p:sp>
        <p:nvSpPr>
          <p:cNvPr id="12" name="shape-11"/>
          <p:cNvSpPr/>
          <p:nvPr/>
        </p:nvSpPr>
        <p:spPr>
          <a:xfrm rot="-60000">
            <a:off x="741277" y="4012248"/>
            <a:ext cx="292100" cy="292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 rot="-60000">
            <a:off x="741277" y="4012248"/>
            <a:ext cx="30962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-13"/>
          <p:cNvSpPr txBox="1"/>
          <p:nvPr/>
        </p:nvSpPr>
        <p:spPr>
          <a:xfrm rot="-60000">
            <a:off x="1174286" y="3911463"/>
            <a:ext cx="52232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new bus lanes are meant to 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traffic in the city centre.</a:t>
            </a:r>
            <a:endParaRPr lang="en-US" sz="1650" dirty="0"/>
          </a:p>
        </p:txBody>
      </p:sp>
      <p:sp>
        <p:nvSpPr>
          <p:cNvPr id="15" name="shape-14"/>
          <p:cNvSpPr/>
          <p:nvPr/>
        </p:nvSpPr>
        <p:spPr>
          <a:xfrm rot="-60000">
            <a:off x="754839" y="4789211"/>
            <a:ext cx="292100" cy="292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-15"/>
          <p:cNvSpPr txBox="1"/>
          <p:nvPr/>
        </p:nvSpPr>
        <p:spPr>
          <a:xfrm rot="-60000">
            <a:off x="754839" y="4789211"/>
            <a:ext cx="30962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-16"/>
          <p:cNvSpPr txBox="1"/>
          <p:nvPr/>
        </p:nvSpPr>
        <p:spPr>
          <a:xfrm rot="-60000">
            <a:off x="1187848" y="4688426"/>
            <a:ext cx="52232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 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refusal to hear other views annoyed the whole team.</a:t>
            </a:r>
            <a:endParaRPr lang="en-US" sz="1650" dirty="0"/>
          </a:p>
        </p:txBody>
      </p:sp>
      <p:sp>
        <p:nvSpPr>
          <p:cNvPr id="18" name="shape-17"/>
          <p:cNvSpPr/>
          <p:nvPr/>
        </p:nvSpPr>
        <p:spPr>
          <a:xfrm rot="-60000">
            <a:off x="768401" y="5566174"/>
            <a:ext cx="292100" cy="292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-18"/>
          <p:cNvSpPr txBox="1"/>
          <p:nvPr/>
        </p:nvSpPr>
        <p:spPr>
          <a:xfrm rot="-60000">
            <a:off x="768401" y="5566174"/>
            <a:ext cx="30962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-19"/>
          <p:cNvSpPr txBox="1"/>
          <p:nvPr/>
        </p:nvSpPr>
        <p:spPr>
          <a:xfrm rot="-60000">
            <a:off x="1201410" y="5465389"/>
            <a:ext cx="52232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editor asked him to 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error in the second paragraph.</a:t>
            </a:r>
            <a:endParaRPr lang="en-US" sz="1650" dirty="0"/>
          </a:p>
        </p:txBody>
      </p:sp>
      <p:sp>
        <p:nvSpPr>
          <p:cNvPr id="21" name="text-20"/>
          <p:cNvSpPr txBox="1"/>
          <p:nvPr/>
        </p:nvSpPr>
        <p:spPr>
          <a:xfrm rot="10800000">
            <a:off x="338328" y="7239000"/>
            <a:ext cx="618134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ОТВЕТЫ</a:t>
            </a:r>
            <a:endParaRPr lang="en-US" sz="900" dirty="0"/>
          </a:p>
        </p:txBody>
      </p:sp>
      <p:sp>
        <p:nvSpPr>
          <p:cNvPr id="22" name="text-21"/>
          <p:cNvSpPr txBox="1"/>
          <p:nvPr/>
        </p:nvSpPr>
        <p:spPr>
          <a:xfrm rot="10800000">
            <a:off x="338328" y="6985000"/>
            <a:ext cx="61813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tenuous · 2 ameliorate · 3 dogmatic · 4 rectify</a:t>
            </a:r>
            <a:endParaRPr lang="en-US" sz="1200" dirty="0"/>
          </a:p>
        </p:txBody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667000"/>
            <a:ext cx="279400" cy="2794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2026-10-15T17:51:57Z</dcterms:created>
  <dcterms:modified xsi:type="dcterms:W3CDTF">2026-10-15T17:51:57Z</dcterms:modified>
</cp:coreProperties>
</file>