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6162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2288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ПУНКТУАЦИЯ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607"/>
            <a:ext cx="6300216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4800" b="1" spc="-17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Одна запятая может </a:t>
            </a:r>
            <a:pPr algn="l" indent="0" marL="0">
              <a:lnSpc>
                <a:spcPts val="4900"/>
              </a:lnSpc>
              <a:buNone/>
            </a:pPr>
            <a:r>
              <a:rPr lang="en-US" sz="5500" i="1" spc="-11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стоить баллов</a:t>
            </a:r>
            <a:endParaRPr lang="en-US" sz="48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3147814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Пунктуация на SAT держится на шести правилах. Собрал их с примерами и тестом в конце.</a:t>
            </a:r>
            <a:endParaRPr lang="en-US" sz="1500" dirty="0"/>
          </a:p>
        </p:txBody>
      </p:sp>
      <p:sp>
        <p:nvSpPr>
          <p:cNvPr id="8" name="text-7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9" name="shape-8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1" name="svg-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2" name="text-11"/>
          <p:cNvSpPr txBox="1"/>
          <p:nvPr/>
        </p:nvSpPr>
        <p:spPr>
          <a:xfrm>
            <a:off x="4590256" y="-2095500"/>
            <a:ext cx="1662557" cy="730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0"/>
              </a:lnSpc>
              <a:buNone/>
            </a:pPr>
            <a:r>
              <a:rPr lang="en-US" sz="57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,</a:t>
            </a:r>
            <a:endParaRPr lang="en-US" sz="57500" dirty="0"/>
          </a:p>
        </p:txBody>
      </p:sp>
      <p:sp>
        <p:nvSpPr>
          <p:cNvPr id="13" name="shape-12"/>
          <p:cNvSpPr/>
          <p:nvPr/>
        </p:nvSpPr>
        <p:spPr>
          <a:xfrm rot="-240000">
            <a:off x="458242" y="4826000"/>
            <a:ext cx="3251200" cy="482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 rot="-240000">
            <a:off x="636042" y="4927600"/>
            <a:ext cx="306933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spc="-2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 правил вместо зубрёжки</a:t>
            </a:r>
            <a:endParaRPr lang="en-US" sz="1700" dirty="0"/>
          </a:p>
        </p:txBody>
      </p:sp>
      <p:sp>
        <p:nvSpPr>
          <p:cNvPr id="15" name="shape-14"/>
          <p:cNvSpPr/>
          <p:nvPr/>
        </p:nvSpPr>
        <p:spPr>
          <a:xfrm rot="180000">
            <a:off x="763191" y="5588000"/>
            <a:ext cx="3568700" cy="450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text-15"/>
          <p:cNvSpPr txBox="1"/>
          <p:nvPr/>
        </p:nvSpPr>
        <p:spPr>
          <a:xfrm rot="180000">
            <a:off x="915591" y="5676900"/>
            <a:ext cx="345973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точка с запятой · двоеточие · тире</a:t>
            </a:r>
            <a:endParaRPr lang="en-US" sz="1500" dirty="0"/>
          </a:p>
        </p:txBody>
      </p:sp>
      <p:sp>
        <p:nvSpPr>
          <p:cNvPr id="17" name="text-16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сначала про то, сколько это стоит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30861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27866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ЗАЧЕМ ЭТО ЗНАТЬ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Сколько это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стоит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Раздел Standard English Conventions в Reading &amp; Writing проверяет грамматику и пунктуацию.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72000">
            <a:off x="457200" y="2985691"/>
            <a:ext cx="5943600" cy="220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52000">
            <a:off x="2930118" y="2870437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72000">
            <a:off x="609554" y="3225864"/>
            <a:ext cx="5626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10000" i="1" spc="-4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26%</a:t>
            </a:r>
            <a:endParaRPr lang="en-US" sz="10000" dirty="0"/>
          </a:p>
        </p:txBody>
      </p:sp>
      <p:sp>
        <p:nvSpPr>
          <p:cNvPr id="11" name="text-10"/>
          <p:cNvSpPr txBox="1"/>
          <p:nvPr/>
        </p:nvSpPr>
        <p:spPr>
          <a:xfrm rot="-72000">
            <a:off x="625458" y="4432793"/>
            <a:ext cx="56266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раздела Reading &amp; Writing, 11–15 вопросов</a:t>
            </a:r>
            <a:endParaRPr lang="en-US" sz="1400" dirty="0"/>
          </a:p>
        </p:txBody>
      </p:sp>
      <p:sp>
        <p:nvSpPr>
          <p:cNvPr id="12" name="text-11"/>
          <p:cNvSpPr txBox="1"/>
          <p:nvPr/>
        </p:nvSpPr>
        <p:spPr>
          <a:xfrm rot="-72000">
            <a:off x="631999" y="4745065"/>
            <a:ext cx="56266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spc="110" kern="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 ОФИЦИАЛЬНОМУ ОТЧЁТУ SAT</a:t>
            </a:r>
            <a:endParaRPr lang="en-US" sz="1400" dirty="0"/>
          </a:p>
        </p:txBody>
      </p:sp>
      <p:sp>
        <p:nvSpPr>
          <p:cNvPr id="13" name="shape-12"/>
          <p:cNvSpPr/>
          <p:nvPr/>
        </p:nvSpPr>
        <p:spPr>
          <a:xfrm rot="72000">
            <a:off x="457200" y="5270649"/>
            <a:ext cx="5943600" cy="1377950"/>
          </a:xfrm>
          <a:prstGeom prst="roundRect">
            <a:avLst>
              <a:gd name="adj" fmla="val 12903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72000">
            <a:off x="707147" y="5473790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ГЛАВНАЯ ИДЕЯ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72000">
            <a:off x="696306" y="5683376"/>
            <a:ext cx="57886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Почти все вопросы на пунктуацию сводятся к одному: где заканчивается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полное предложение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Полное значит есть кто, что делает, и мысль закончена.</a:t>
            </a:r>
            <a:endParaRPr lang="en-US" sz="1450" dirty="0"/>
          </a:p>
        </p:txBody>
      </p:sp>
      <p:sp>
        <p:nvSpPr>
          <p:cNvPr id="16" name="text-15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7" name="shape-16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8" name="text-17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9" name="svg-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0" name="text-19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правило 1: как соединить два полных предложения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ПРАВИЛО 1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591"/>
            <a:ext cx="6300216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Два предложения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 одном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86000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Соединить два полных предложения можно точкой, точкой с запятой или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запятой + and, but, so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Одной запятой нельзя.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6000">
            <a:off x="457200" y="35560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6000">
            <a:off x="609746" y="3698228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0" name="text-9"/>
          <p:cNvSpPr txBox="1"/>
          <p:nvPr/>
        </p:nvSpPr>
        <p:spPr>
          <a:xfrm rot="-36000">
            <a:off x="609746" y="36982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1079487" y="36868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lab closed early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students went home.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36000">
            <a:off x="457200" y="41783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36000">
            <a:off x="609746" y="4264672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36000">
            <a:off x="609746" y="42646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1079487" y="43141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lab closed early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students went home.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48006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">
            <a:off x="609746" y="494282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-17"/>
          <p:cNvSpPr txBox="1"/>
          <p:nvPr/>
        </p:nvSpPr>
        <p:spPr>
          <a:xfrm rot="-36000">
            <a:off x="609746" y="49428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1079487" y="49314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lab closed early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so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students went home.</a:t>
            </a:r>
            <a:endParaRPr lang="en-US" sz="1500" dirty="0"/>
          </a:p>
        </p:txBody>
      </p:sp>
      <p:sp>
        <p:nvSpPr>
          <p:cNvPr id="20" name="shape-19"/>
          <p:cNvSpPr/>
          <p:nvPr/>
        </p:nvSpPr>
        <p:spPr>
          <a:xfrm rot="36000">
            <a:off x="457200" y="54229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shape-20"/>
          <p:cNvSpPr/>
          <p:nvPr/>
        </p:nvSpPr>
        <p:spPr>
          <a:xfrm rot="36000">
            <a:off x="609746" y="5509272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-21"/>
          <p:cNvSpPr txBox="1"/>
          <p:nvPr/>
        </p:nvSpPr>
        <p:spPr>
          <a:xfrm rot="36000">
            <a:off x="609746" y="55092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 rot="36000">
            <a:off x="1079487" y="55587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lab closed early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students went home.</a:t>
            </a:r>
            <a:endParaRPr lang="en-US" sz="1500" dirty="0"/>
          </a:p>
        </p:txBody>
      </p:sp>
      <p:sp>
        <p:nvSpPr>
          <p:cNvPr id="24" name="text-23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5" name="shape-24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6" name="text-25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8" name="text-27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 где точка с запятой работает ещё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ПРАВИЛО 2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591"/>
            <a:ext cx="6300216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Точка с запятой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= точка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86000"/>
            <a:ext cx="58896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Проверка простая: замени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на точку. Обе части читаются как отдельные предложения? Значит, верно. Перед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however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therefore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между двумя предложениями тоже ставят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6000">
            <a:off x="457200" y="39370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6000">
            <a:off x="609746" y="407922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 rot="-36000">
            <a:off x="609746" y="40792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1079487" y="40678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data looked clean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however,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results were wrong.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36000">
            <a:off x="457200" y="45593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36000">
            <a:off x="609746" y="4645672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36000">
            <a:off x="609746" y="46456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1079487" y="46951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data looked clean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however,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results were wrong.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51816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">
            <a:off x="609746" y="5323828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8" name="text-17"/>
          <p:cNvSpPr txBox="1"/>
          <p:nvPr/>
        </p:nvSpPr>
        <p:spPr>
          <a:xfrm rot="-36000">
            <a:off x="609746" y="53238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1079487" y="53124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Although the data looked clean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results were wrong.</a:t>
            </a:r>
            <a:endParaRPr lang="en-US" sz="1500" dirty="0"/>
          </a:p>
        </p:txBody>
      </p:sp>
      <p:sp>
        <p:nvSpPr>
          <p:cNvPr id="20" name="text-19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1" name="shape-20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2" name="text-21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двоеточие строже, чем кажется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ПРАВИЛО 3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591"/>
            <a:ext cx="630021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Двоеточие: слева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полное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86000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 двоеточия должно стоять полное предложение. После него может быть что угодно: список, пояснение, одно слово.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6000">
            <a:off x="457200" y="38100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6000">
            <a:off x="609746" y="395222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 rot="-36000">
            <a:off x="609746" y="39522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1079487" y="39408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She needed one thing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time.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36000">
            <a:off x="457200" y="44323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36000">
            <a:off x="609746" y="4518672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36000">
            <a:off x="609746" y="45186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1079487" y="45681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She needed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time.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5054600"/>
            <a:ext cx="5943600" cy="7493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">
            <a:off x="609746" y="530477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-17"/>
          <p:cNvSpPr txBox="1"/>
          <p:nvPr/>
        </p:nvSpPr>
        <p:spPr>
          <a:xfrm rot="-36000">
            <a:off x="609746" y="530477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1079487" y="5166440"/>
            <a:ext cx="547903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kit includes three items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 flask, a pipette, and gloves.</a:t>
            </a:r>
            <a:endParaRPr lang="en-US" sz="1500" dirty="0"/>
          </a:p>
        </p:txBody>
      </p:sp>
      <p:sp>
        <p:nvSpPr>
          <p:cNvPr id="20" name="shape-19"/>
          <p:cNvSpPr/>
          <p:nvPr/>
        </p:nvSpPr>
        <p:spPr>
          <a:xfrm rot="36000">
            <a:off x="457200" y="58928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shape-20"/>
          <p:cNvSpPr/>
          <p:nvPr/>
        </p:nvSpPr>
        <p:spPr>
          <a:xfrm rot="36000">
            <a:off x="609746" y="5979172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22" name="text-21"/>
          <p:cNvSpPr txBox="1"/>
          <p:nvPr/>
        </p:nvSpPr>
        <p:spPr>
          <a:xfrm rot="36000">
            <a:off x="609746" y="59791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 rot="36000">
            <a:off x="1079487" y="60286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kit includes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 flask, a pipette, and gloves.</a:t>
            </a:r>
            <a:endParaRPr lang="en-US" sz="1500" dirty="0"/>
          </a:p>
        </p:txBody>
      </p:sp>
      <p:sp>
        <p:nvSpPr>
          <p:cNvPr id="24" name="text-23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5" name="shape-24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6" name="text-25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8" name="text-27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теперь про лишнюю информацию в середине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ПРАВИЛО 4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Вставка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 паре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86000"/>
            <a:ext cx="58896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Дополнительную информацию выделяют с двух сторон одинаковыми знаками: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две запятые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два тире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или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две скобки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Смешивать нельзя.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6000">
            <a:off x="457200" y="37465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6000">
            <a:off x="609746" y="388872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 rot="-36000">
            <a:off x="609746" y="38887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1079487" y="38773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My brother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 chemist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loves pizza.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36000">
            <a:off x="457200" y="43688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36000">
            <a:off x="609746" y="4455172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36000">
            <a:off x="609746" y="44551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1079487" y="45046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My brother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 chemist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loves pizza.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49911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">
            <a:off x="609746" y="5133328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8" name="text-17"/>
          <p:cNvSpPr txBox="1"/>
          <p:nvPr/>
        </p:nvSpPr>
        <p:spPr>
          <a:xfrm rot="-36000">
            <a:off x="609746" y="51333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1079487" y="51219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My brother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 chemist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loves pizza.</a:t>
            </a:r>
            <a:endParaRPr lang="en-US" sz="1500" dirty="0"/>
          </a:p>
        </p:txBody>
      </p:sp>
      <p:sp>
        <p:nvSpPr>
          <p:cNvPr id="20" name="shape-19"/>
          <p:cNvSpPr/>
          <p:nvPr/>
        </p:nvSpPr>
        <p:spPr>
          <a:xfrm rot="36000">
            <a:off x="457200" y="56134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shape-20"/>
          <p:cNvSpPr/>
          <p:nvPr/>
        </p:nvSpPr>
        <p:spPr>
          <a:xfrm rot="36000">
            <a:off x="609746" y="5699772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22" name="text-21"/>
          <p:cNvSpPr txBox="1"/>
          <p:nvPr/>
        </p:nvSpPr>
        <p:spPr>
          <a:xfrm rot="36000">
            <a:off x="609746" y="56997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 rot="36000">
            <a:off x="1079487" y="57492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My brother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 chemist loves pizza.</a:t>
            </a:r>
            <a:endParaRPr lang="en-US" sz="1500" dirty="0"/>
          </a:p>
        </p:txBody>
      </p:sp>
      <p:sp>
        <p:nvSpPr>
          <p:cNvPr id="24" name="text-23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5" name="shape-24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6" name="text-25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8" name="text-27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но не всякую вставку выделяют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ПРАВИЛО 5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Нужное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без запятых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86000"/>
            <a:ext cx="58896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Если без вставки непонятно, о ком речь, она нужна, и запятые не ставят. Если её можно убрать без потери смысла, выделяй.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6000">
            <a:off x="457200" y="40640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6000">
            <a:off x="609746" y="420622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 rot="-36000">
            <a:off x="609746" y="42062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1079487" y="4198065"/>
            <a:ext cx="5479034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novelist Toni Morrison won the Nobel Prize in 1993.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36000">
            <a:off x="457200" y="46863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36000">
            <a:off x="609746" y="4772672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36000">
            <a:off x="609746" y="47726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1079487" y="482211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novelist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Toni Morrison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won the Nobel Prize in 1993.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5308600"/>
            <a:ext cx="5943600" cy="7493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">
            <a:off x="609746" y="5558778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-17"/>
          <p:cNvSpPr txBox="1"/>
          <p:nvPr/>
        </p:nvSpPr>
        <p:spPr>
          <a:xfrm rot="-36000">
            <a:off x="609746" y="555877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1079487" y="5420440"/>
            <a:ext cx="547903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Toni Morrison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the author of 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Beloved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won the Nobel Prize in 1993.</a:t>
            </a:r>
            <a:endParaRPr lang="en-US" sz="1500" dirty="0"/>
          </a:p>
        </p:txBody>
      </p:sp>
      <p:sp>
        <p:nvSpPr>
          <p:cNvPr id="20" name="text-19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1" name="shape-20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2" name="text-21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и последнее, самое частое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ПРАВИЛО 6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591"/>
            <a:ext cx="630021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 разрывай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подлежащее и глагол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86000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Между тем, кто делает, и тем, что он делает, запятой нет. Даже если подлежащее длинное.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6000">
            <a:off x="457200" y="38100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6000">
            <a:off x="609746" y="3952228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0" name="text-9"/>
          <p:cNvSpPr txBox="1"/>
          <p:nvPr/>
        </p:nvSpPr>
        <p:spPr>
          <a:xfrm rot="-36000">
            <a:off x="609746" y="39522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1079487" y="39408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students who finished the test early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left the room.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36000">
            <a:off x="457200" y="44323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36000">
            <a:off x="609746" y="4518672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36000">
            <a:off x="609746" y="45186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1079487" y="4571285"/>
            <a:ext cx="5479034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students who finished the test early left the room.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50546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">
            <a:off x="609746" y="5196828"/>
            <a:ext cx="304800" cy="304800"/>
          </a:xfrm>
          <a:prstGeom prst="ellipse">
            <a:avLst/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8" name="text-17"/>
          <p:cNvSpPr txBox="1"/>
          <p:nvPr/>
        </p:nvSpPr>
        <p:spPr>
          <a:xfrm rot="-36000">
            <a:off x="609746" y="5196828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1079487" y="5185490"/>
            <a:ext cx="5479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report showed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that prices had risen.</a:t>
            </a:r>
            <a:endParaRPr lang="en-US" sz="1500" dirty="0"/>
          </a:p>
        </p:txBody>
      </p:sp>
      <p:sp>
        <p:nvSpPr>
          <p:cNvPr id="20" name="shape-19"/>
          <p:cNvSpPr/>
          <p:nvPr/>
        </p:nvSpPr>
        <p:spPr>
          <a:xfrm rot="36000">
            <a:off x="457200" y="5676900"/>
            <a:ext cx="59436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shape-20"/>
          <p:cNvSpPr/>
          <p:nvPr/>
        </p:nvSpPr>
        <p:spPr>
          <a:xfrm rot="36000">
            <a:off x="609746" y="5763272"/>
            <a:ext cx="304800" cy="3048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-21"/>
          <p:cNvSpPr txBox="1"/>
          <p:nvPr/>
        </p:nvSpPr>
        <p:spPr>
          <a:xfrm rot="36000">
            <a:off x="609746" y="5763272"/>
            <a:ext cx="323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 rot="36000">
            <a:off x="1079487" y="5815886"/>
            <a:ext cx="5479034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report showed that prices had risen.</a:t>
            </a:r>
            <a:endParaRPr lang="en-US" sz="1500" dirty="0"/>
          </a:p>
        </p:txBody>
      </p:sp>
      <p:sp>
        <p:nvSpPr>
          <p:cNvPr id="24" name="text-23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5" name="shape-24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6" name="text-25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8" name="text-27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собрал всё на одну шпаргалку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527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194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ШПАРГАЛКА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Вся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шпаргалка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36000">
            <a:off x="457200" y="2095500"/>
            <a:ext cx="5943600" cy="539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 rot="-36000">
            <a:off x="635078" y="2250161"/>
            <a:ext cx="28943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или ;</a:t>
            </a:r>
            <a:endParaRPr lang="en-US" sz="1600" dirty="0"/>
          </a:p>
        </p:txBody>
      </p:sp>
      <p:sp>
        <p:nvSpPr>
          <p:cNvPr id="9" name="text-8"/>
          <p:cNvSpPr txBox="1"/>
          <p:nvPr/>
        </p:nvSpPr>
        <p:spPr>
          <a:xfrm rot="-36000">
            <a:off x="3492422" y="2242463"/>
            <a:ext cx="28943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полное | полное</a:t>
            </a:r>
            <a:endParaRPr lang="en-US" sz="1300" dirty="0"/>
          </a:p>
        </p:txBody>
      </p:sp>
      <p:sp>
        <p:nvSpPr>
          <p:cNvPr id="10" name="shape-9"/>
          <p:cNvSpPr/>
          <p:nvPr/>
        </p:nvSpPr>
        <p:spPr>
          <a:xfrm rot="36000">
            <a:off x="457200" y="2724150"/>
            <a:ext cx="5943600" cy="53975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36000">
            <a:off x="635078" y="2848889"/>
            <a:ext cx="28943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· , but · , so</a:t>
            </a:r>
            <a:endParaRPr lang="en-US" sz="1600" dirty="0"/>
          </a:p>
        </p:txBody>
      </p:sp>
      <p:sp>
        <p:nvSpPr>
          <p:cNvPr id="12" name="text-11"/>
          <p:cNvSpPr txBox="1"/>
          <p:nvPr/>
        </p:nvSpPr>
        <p:spPr>
          <a:xfrm rot="36000">
            <a:off x="3492422" y="2901037"/>
            <a:ext cx="28943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полное, союз полное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-36000">
            <a:off x="457200" y="3352800"/>
            <a:ext cx="5943600" cy="539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 rot="-36000">
            <a:off x="635078" y="3507461"/>
            <a:ext cx="28943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endParaRPr lang="en-US" sz="1600" dirty="0"/>
          </a:p>
        </p:txBody>
      </p:sp>
      <p:sp>
        <p:nvSpPr>
          <p:cNvPr id="15" name="text-14"/>
          <p:cNvSpPr txBox="1"/>
          <p:nvPr/>
        </p:nvSpPr>
        <p:spPr>
          <a:xfrm rot="-36000">
            <a:off x="3492422" y="3499763"/>
            <a:ext cx="28943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полное : что угодно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36000">
            <a:off x="457200" y="3981450"/>
            <a:ext cx="5943600" cy="53975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 rot="36000">
            <a:off x="635078" y="4106189"/>
            <a:ext cx="28943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… , или — … —</a:t>
            </a:r>
            <a:endParaRPr lang="en-US" sz="1600" dirty="0"/>
          </a:p>
        </p:txBody>
      </p:sp>
      <p:sp>
        <p:nvSpPr>
          <p:cNvPr id="18" name="text-17"/>
          <p:cNvSpPr txBox="1"/>
          <p:nvPr/>
        </p:nvSpPr>
        <p:spPr>
          <a:xfrm rot="36000">
            <a:off x="3492422" y="4158337"/>
            <a:ext cx="28943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вставка в паре</a:t>
            </a:r>
            <a:endParaRPr lang="en-US" sz="1300" dirty="0"/>
          </a:p>
        </p:txBody>
      </p:sp>
      <p:sp>
        <p:nvSpPr>
          <p:cNvPr id="19" name="shape-18"/>
          <p:cNvSpPr/>
          <p:nvPr/>
        </p:nvSpPr>
        <p:spPr>
          <a:xfrm rot="-36000">
            <a:off x="457200" y="4610100"/>
            <a:ext cx="5943600" cy="539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-36000">
            <a:off x="635078" y="4764761"/>
            <a:ext cx="28943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без запятой</a:t>
            </a:r>
            <a:endParaRPr lang="en-US" sz="1600" dirty="0"/>
          </a:p>
        </p:txBody>
      </p:sp>
      <p:sp>
        <p:nvSpPr>
          <p:cNvPr id="21" name="text-20"/>
          <p:cNvSpPr txBox="1"/>
          <p:nvPr/>
        </p:nvSpPr>
        <p:spPr>
          <a:xfrm rot="-36000">
            <a:off x="3492422" y="4757063"/>
            <a:ext cx="28943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нужная вставка</a:t>
            </a:r>
            <a:endParaRPr lang="en-US" sz="1300" dirty="0"/>
          </a:p>
        </p:txBody>
      </p:sp>
      <p:sp>
        <p:nvSpPr>
          <p:cNvPr id="22" name="shape-21"/>
          <p:cNvSpPr/>
          <p:nvPr/>
        </p:nvSpPr>
        <p:spPr>
          <a:xfrm rot="36000">
            <a:off x="457200" y="5238750"/>
            <a:ext cx="5943600" cy="53975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text-22"/>
          <p:cNvSpPr txBox="1"/>
          <p:nvPr/>
        </p:nvSpPr>
        <p:spPr>
          <a:xfrm rot="36000">
            <a:off x="635078" y="5363489"/>
            <a:ext cx="28943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без запятой</a:t>
            </a:r>
            <a:endParaRPr lang="en-US" sz="1600" dirty="0"/>
          </a:p>
        </p:txBody>
      </p:sp>
      <p:sp>
        <p:nvSpPr>
          <p:cNvPr id="24" name="text-23"/>
          <p:cNvSpPr txBox="1"/>
          <p:nvPr/>
        </p:nvSpPr>
        <p:spPr>
          <a:xfrm rot="36000">
            <a:off x="3492422" y="5415636"/>
            <a:ext cx="289433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подлежащее и глагол</a:t>
            </a:r>
            <a:endParaRPr lang="en-US" sz="1300" dirty="0"/>
          </a:p>
        </p:txBody>
      </p:sp>
      <p:sp>
        <p:nvSpPr>
          <p:cNvPr id="25" name="text-2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6" name="shape-25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7" name="text-26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проверь себя на трёх вопросах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ПРОВЕРКА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Проверь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себя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36000">
            <a:off x="457200" y="1904901"/>
            <a:ext cx="59436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 rot="-36000">
            <a:off x="632328" y="2043424"/>
            <a:ext cx="5923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Researchers tested the new material ___ it failed at high temperatures.</a:t>
            </a:r>
            <a:endParaRPr lang="en-US" sz="1000" dirty="0"/>
          </a:p>
        </p:txBody>
      </p:sp>
      <p:sp>
        <p:nvSpPr>
          <p:cNvPr id="9" name="text-8"/>
          <p:cNvSpPr txBox="1"/>
          <p:nvPr/>
        </p:nvSpPr>
        <p:spPr>
          <a:xfrm rot="-36000">
            <a:off x="992340" y="2613676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material, it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 rot="-36000">
            <a:off x="3671893" y="2585614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material; it</a:t>
            </a:r>
            <a:endParaRPr lang="en-US" sz="1200" dirty="0"/>
          </a:p>
        </p:txBody>
      </p:sp>
      <p:sp>
        <p:nvSpPr>
          <p:cNvPr id="11" name="text-10"/>
          <p:cNvSpPr txBox="1"/>
          <p:nvPr/>
        </p:nvSpPr>
        <p:spPr>
          <a:xfrm rot="-36000">
            <a:off x="994813" y="2849803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material it</a:t>
            </a:r>
            <a:endParaRPr lang="en-US" sz="1200" dirty="0"/>
          </a:p>
        </p:txBody>
      </p:sp>
      <p:sp>
        <p:nvSpPr>
          <p:cNvPr id="12" name="text-11"/>
          <p:cNvSpPr txBox="1"/>
          <p:nvPr/>
        </p:nvSpPr>
        <p:spPr>
          <a:xfrm rot="-36000">
            <a:off x="3674365" y="2821742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material, which it</a:t>
            </a:r>
            <a:endParaRPr lang="en-US" sz="1200" dirty="0"/>
          </a:p>
        </p:txBody>
      </p:sp>
      <p:sp>
        <p:nvSpPr>
          <p:cNvPr id="13" name="shape-12"/>
          <p:cNvSpPr/>
          <p:nvPr/>
        </p:nvSpPr>
        <p:spPr>
          <a:xfrm rot="36000">
            <a:off x="457200" y="3289002"/>
            <a:ext cx="59436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 rot="36000">
            <a:off x="637672" y="3427526"/>
            <a:ext cx="5923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museum's newest exhibit ___ a collection of Kazakh textiles ___ opens next week.</a:t>
            </a:r>
            <a:endParaRPr lang="en-US" sz="1000" dirty="0"/>
          </a:p>
        </p:txBody>
      </p:sp>
      <p:sp>
        <p:nvSpPr>
          <p:cNvPr id="15" name="text-14"/>
          <p:cNvSpPr txBox="1"/>
          <p:nvPr/>
        </p:nvSpPr>
        <p:spPr>
          <a:xfrm rot="36000">
            <a:off x="988988" y="3973440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exhibit, … textiles —</a:t>
            </a:r>
            <a:endParaRPr lang="en-US" sz="1200" dirty="0"/>
          </a:p>
        </p:txBody>
      </p:sp>
      <p:sp>
        <p:nvSpPr>
          <p:cNvPr id="16" name="text-15"/>
          <p:cNvSpPr txBox="1"/>
          <p:nvPr/>
        </p:nvSpPr>
        <p:spPr>
          <a:xfrm rot="36000">
            <a:off x="3668541" y="4001501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exhibit … textiles,</a:t>
            </a:r>
            <a:endParaRPr lang="en-US" sz="1200" dirty="0"/>
          </a:p>
        </p:txBody>
      </p:sp>
      <p:sp>
        <p:nvSpPr>
          <p:cNvPr id="17" name="text-16"/>
          <p:cNvSpPr txBox="1"/>
          <p:nvPr/>
        </p:nvSpPr>
        <p:spPr>
          <a:xfrm rot="36000">
            <a:off x="986515" y="4209567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exhibit; … textiles;</a:t>
            </a:r>
            <a:endParaRPr lang="en-US" sz="1200" dirty="0"/>
          </a:p>
        </p:txBody>
      </p:sp>
      <p:sp>
        <p:nvSpPr>
          <p:cNvPr id="18" name="text-17"/>
          <p:cNvSpPr txBox="1"/>
          <p:nvPr/>
        </p:nvSpPr>
        <p:spPr>
          <a:xfrm rot="36000">
            <a:off x="3666068" y="4237629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exhibit — … textiles —</a:t>
            </a:r>
            <a:endParaRPr lang="en-US" sz="1200" dirty="0"/>
          </a:p>
        </p:txBody>
      </p:sp>
      <p:sp>
        <p:nvSpPr>
          <p:cNvPr id="19" name="shape-18"/>
          <p:cNvSpPr/>
          <p:nvPr/>
        </p:nvSpPr>
        <p:spPr>
          <a:xfrm rot="-36000">
            <a:off x="457200" y="4674394"/>
            <a:ext cx="5943600" cy="1047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-36000">
            <a:off x="632328" y="4812917"/>
            <a:ext cx="592328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recipe ___ flour, eggs, and milk.</a:t>
            </a:r>
            <a:endParaRPr lang="en-US" sz="1000" dirty="0"/>
          </a:p>
        </p:txBody>
      </p:sp>
      <p:sp>
        <p:nvSpPr>
          <p:cNvPr id="21" name="text-20"/>
          <p:cNvSpPr txBox="1"/>
          <p:nvPr/>
        </p:nvSpPr>
        <p:spPr>
          <a:xfrm rot="-36000">
            <a:off x="991189" y="5162214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requires the following:</a:t>
            </a:r>
            <a:endParaRPr lang="en-US" sz="1200" dirty="0"/>
          </a:p>
        </p:txBody>
      </p:sp>
      <p:sp>
        <p:nvSpPr>
          <p:cNvPr id="22" name="text-21"/>
          <p:cNvSpPr txBox="1"/>
          <p:nvPr/>
        </p:nvSpPr>
        <p:spPr>
          <a:xfrm rot="-36000">
            <a:off x="3670743" y="5134153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requires:</a:t>
            </a:r>
            <a:endParaRPr lang="en-US" sz="1200" dirty="0"/>
          </a:p>
        </p:txBody>
      </p:sp>
      <p:sp>
        <p:nvSpPr>
          <p:cNvPr id="23" name="text-22"/>
          <p:cNvSpPr txBox="1"/>
          <p:nvPr/>
        </p:nvSpPr>
        <p:spPr>
          <a:xfrm rot="-36000">
            <a:off x="993662" y="5398342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requires;</a:t>
            </a:r>
            <a:endParaRPr lang="en-US" sz="1200" dirty="0"/>
          </a:p>
        </p:txBody>
      </p:sp>
      <p:sp>
        <p:nvSpPr>
          <p:cNvPr id="24" name="text-23"/>
          <p:cNvSpPr txBox="1"/>
          <p:nvPr/>
        </p:nvSpPr>
        <p:spPr>
          <a:xfrm rot="-36000">
            <a:off x="3673215" y="5370281"/>
            <a:ext cx="27058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requires,</a:t>
            </a:r>
            <a:endParaRPr lang="en-US" sz="1200" dirty="0"/>
          </a:p>
        </p:txBody>
      </p:sp>
      <p:sp>
        <p:nvSpPr>
          <p:cNvPr id="25" name="text-24"/>
          <p:cNvSpPr txBox="1"/>
          <p:nvPr/>
        </p:nvSpPr>
        <p:spPr>
          <a:xfrm rot="10800000">
            <a:off x="338328" y="7524750"/>
            <a:ext cx="618134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ОТВЕТЫ</a:t>
            </a:r>
            <a:endParaRPr lang="en-US" sz="900" dirty="0"/>
          </a:p>
        </p:txBody>
      </p:sp>
      <p:sp>
        <p:nvSpPr>
          <p:cNvPr id="26" name="text-25"/>
          <p:cNvSpPr txBox="1"/>
          <p:nvPr/>
        </p:nvSpPr>
        <p:spPr>
          <a:xfrm rot="10800000">
            <a:off x="338328" y="7302500"/>
            <a:ext cx="618134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B (правило 1) · 2 D (правило 4) · 3 A (правило 3)</a:t>
            </a:r>
            <a:endParaRPr lang="en-US" sz="1100" dirty="0"/>
          </a:p>
        </p:txBody>
      </p:sp>
      <p:sp>
        <p:nvSpPr>
          <p:cNvPr id="27" name="text-26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8" name="shape-27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9" name="text-28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0" name="svg-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0574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16962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ИТОГ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Главное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338328" y="2667000"/>
            <a:ext cx="6181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0"/>
              </a:lnSpc>
              <a:buNone/>
            </a:pPr>
            <a:r>
              <a:rPr lang="en-US" sz="12000" i="1" spc="9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; : ,</a:t>
            </a:r>
            <a:endParaRPr lang="en-US" sz="12000" dirty="0"/>
          </a:p>
        </p:txBody>
      </p:sp>
      <p:sp>
        <p:nvSpPr>
          <p:cNvPr id="8" name="text-7"/>
          <p:cNvSpPr txBox="1"/>
          <p:nvPr/>
        </p:nvSpPr>
        <p:spPr>
          <a:xfrm>
            <a:off x="1186942" y="4481810"/>
            <a:ext cx="44841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Сначала найди, где заканчивается полное предложение. Знак выбирается уже потом.</a:t>
            </a:r>
            <a:endParaRPr lang="en-US" sz="1600" dirty="0"/>
          </a:p>
        </p:txBody>
      </p:sp>
      <p:sp>
        <p:nvSpPr>
          <p:cNvPr id="9" name="text-8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0" name="shape-9"/>
          <p:cNvSpPr/>
          <p:nvPr/>
        </p:nvSpPr>
        <p:spPr>
          <a:xfrm rot="-180000">
            <a:off x="1346200" y="6350000"/>
            <a:ext cx="4165600" cy="482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-180000">
            <a:off x="1524000" y="6451600"/>
            <a:ext cx="4038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spc="-2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сохрани и открой перед экзаменом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2026-10-26T14:55:25Z</dcterms:created>
  <dcterms:modified xsi:type="dcterms:W3CDTF">2026-10-26T14:55:25Z</dcterms:modified>
</cp:coreProperties>
</file>