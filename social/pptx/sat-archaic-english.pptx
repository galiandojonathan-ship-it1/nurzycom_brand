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6605" y="406400"/>
            <a:ext cx="24320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805" y="482600"/>
            <a:ext cx="2093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АРХАИЗМЫ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4038"/>
            <a:ext cx="630021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90"/>
              </a:lnSpc>
              <a:buNone/>
            </a:pPr>
            <a:r>
              <a:rPr lang="en-US" sz="4600" b="1" spc="-16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Thou, thee, thy: </a:t>
            </a:r>
            <a:pPr algn="l" indent="0" marL="0">
              <a:lnSpc>
                <a:spcPts val="4690"/>
              </a:lnSpc>
              <a:buNone/>
            </a:pPr>
            <a:r>
              <a:rPr lang="en-US" sz="52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старый</a:t>
            </a:r>
            <a:pPr algn="l" indent="0" marL="0">
              <a:lnSpc>
                <a:spcPts val="4690"/>
              </a:lnSpc>
              <a:buNone/>
            </a:pPr>
            <a:r>
              <a:rPr lang="en-US" sz="4600" b="1" spc="-16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английский на SAT</a:t>
            </a:r>
            <a:endParaRPr lang="en-US" sz="46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2949476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Местоимения, формы глаголов и слова вроде whence. Всё, чтобы не теряться в классике.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108000">
            <a:off x="457200" y="3809157"/>
            <a:ext cx="5943600" cy="1695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288000">
            <a:off x="2926947" y="3696105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0" name="text-9"/>
          <p:cNvSpPr txBox="1"/>
          <p:nvPr/>
        </p:nvSpPr>
        <p:spPr>
          <a:xfrm rot="-108000">
            <a:off x="728682" y="4065216"/>
            <a:ext cx="5707888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Shall I compare </a:t>
            </a:r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thee</a:t>
            </a:r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to a summer's day? </a:t>
            </a:r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Thou</a:t>
            </a:r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art more lovely and more temperate.</a:t>
            </a:r>
            <a:endParaRPr lang="en-US" sz="2200" dirty="0"/>
          </a:p>
        </p:txBody>
      </p:sp>
      <p:sp>
        <p:nvSpPr>
          <p:cNvPr id="11" name="text-10"/>
          <p:cNvSpPr txBox="1"/>
          <p:nvPr/>
        </p:nvSpPr>
        <p:spPr>
          <a:xfrm rot="-108000">
            <a:off x="744075" y="4821715"/>
            <a:ext cx="570788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9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ШЕКСПИР · СОНЕТ 18</a:t>
            </a:r>
            <a:endParaRPr lang="en-US" sz="900" dirty="0"/>
          </a:p>
        </p:txBody>
      </p:sp>
      <p:sp>
        <p:nvSpPr>
          <p:cNvPr id="12" name="text-11"/>
          <p:cNvSpPr txBox="1"/>
          <p:nvPr/>
        </p:nvSpPr>
        <p:spPr>
          <a:xfrm rot="-108000">
            <a:off x="752790" y="5057769"/>
            <a:ext cx="5707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Сравню ли я тебя с летним днём? Ты милее и мягче.</a:t>
            </a:r>
            <a:endParaRPr lang="en-US" sz="1300" dirty="0"/>
          </a:p>
        </p:txBody>
      </p:sp>
      <p:pic>
        <p:nvPicPr>
          <p:cNvPr id="13" name="svg-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100" y="3556000"/>
            <a:ext cx="279400" cy="279400"/>
          </a:xfrm>
          <a:prstGeom prst="rect">
            <a:avLst/>
          </a:prstGeom>
        </p:spPr>
      </p:pic>
      <p:pic>
        <p:nvPicPr>
          <p:cNvPr id="14" name="svg-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7493000"/>
            <a:ext cx="190500" cy="190500"/>
          </a:xfrm>
          <a:prstGeom prst="rect">
            <a:avLst/>
          </a:prstGeom>
        </p:spPr>
      </p:pic>
      <p:sp>
        <p:nvSpPr>
          <p:cNvPr id="15" name="text-14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6" name="shape-15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7" name="text-16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19" name="shape-18"/>
          <p:cNvSpPr/>
          <p:nvPr/>
        </p:nvSpPr>
        <p:spPr>
          <a:xfrm rot="300000">
            <a:off x="4007991" y="5905500"/>
            <a:ext cx="2343150" cy="4254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0" name="text-19"/>
          <p:cNvSpPr txBox="1"/>
          <p:nvPr/>
        </p:nvSpPr>
        <p:spPr>
          <a:xfrm rot="300000">
            <a:off x="4160391" y="5994400"/>
            <a:ext cx="21606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thee = тебя · thou = ты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30861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27866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ЗАЧЕМ ЭТО ЗНАТЬ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Почему это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важно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1706066"/>
            <a:ext cx="58896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 литературных отрывках SAT встречаются классика и поэзия прошлых веков. Там «ты» звучит как thou, а «откуда» как whence.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>
            <a:off x="457200" y="3048000"/>
            <a:ext cx="59436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180000">
            <a:off x="2952750" y="2933700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0" name="text-9"/>
          <p:cNvSpPr txBox="1"/>
          <p:nvPr/>
        </p:nvSpPr>
        <p:spPr>
          <a:xfrm>
            <a:off x="736600" y="3302000"/>
            <a:ext cx="570788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Вопросы к таким текстам проверяют простые вещи: кто говорит, к кому обращается и зачем. Перепутал thou и thee, и уже не понимаешь, кто что делает.</a:t>
            </a:r>
            <a:endParaRPr lang="en-US" sz="1500" dirty="0"/>
          </a:p>
        </p:txBody>
      </p:sp>
      <p:sp>
        <p:nvSpPr>
          <p:cNvPr id="11" name="shape-10"/>
          <p:cNvSpPr/>
          <p:nvPr/>
        </p:nvSpPr>
        <p:spPr>
          <a:xfrm rot="-90000">
            <a:off x="457200" y="5079305"/>
            <a:ext cx="5943600" cy="1168400"/>
          </a:xfrm>
          <a:prstGeom prst="roundRect">
            <a:avLst>
              <a:gd name="adj" fmla="val 15217"/>
            </a:avLst>
          </a:prstGeom>
          <a:solidFill>
            <a:srgbClr val="0A0A0A"/>
          </a:solidFill>
          <a:ln/>
        </p:spPr>
      </p:sp>
      <p:sp>
        <p:nvSpPr>
          <p:cNvPr id="12" name="text-11"/>
          <p:cNvSpPr txBox="1"/>
          <p:nvPr/>
        </p:nvSpPr>
        <p:spPr>
          <a:xfrm rot="-90000">
            <a:off x="703489" y="5296001"/>
            <a:ext cx="576173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ХОРОШАЯ НОВОСТЬ</a:t>
            </a:r>
            <a:endParaRPr lang="en-US" sz="900" dirty="0"/>
          </a:p>
        </p:txBody>
      </p:sp>
      <p:sp>
        <p:nvSpPr>
          <p:cNvPr id="13" name="text-12"/>
          <p:cNvSpPr txBox="1"/>
          <p:nvPr/>
        </p:nvSpPr>
        <p:spPr>
          <a:xfrm rot="-90000">
            <a:off x="713943" y="5504720"/>
            <a:ext cx="5761736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Правил немного. Все они поместились в следующие </a:t>
            </a:r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 слайдов</a:t>
            </a:r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text-13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5" name="shape-14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6" name="text-15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7" name="svg-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7114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23895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МЕСТОИМЕНИЯ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Пять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местоимений</a:t>
            </a:r>
            <a:endParaRPr lang="en-US" sz="4200" dirty="0"/>
          </a:p>
        </p:txBody>
      </p:sp>
      <p:sp>
        <p:nvSpPr>
          <p:cNvPr id="7" name="shape-6"/>
          <p:cNvSpPr/>
          <p:nvPr/>
        </p:nvSpPr>
        <p:spPr>
          <a:xfrm>
            <a:off x="457200" y="2540000"/>
            <a:ext cx="5943600" cy="571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8" name="text-7"/>
          <p:cNvSpPr txBox="1"/>
          <p:nvPr/>
        </p:nvSpPr>
        <p:spPr>
          <a:xfrm>
            <a:off x="622300" y="2654300"/>
            <a:ext cx="12788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thou</a:t>
            </a:r>
            <a:endParaRPr lang="en-US" sz="2700" dirty="0"/>
          </a:p>
        </p:txBody>
      </p:sp>
      <p:sp>
        <p:nvSpPr>
          <p:cNvPr id="9" name="text-8"/>
          <p:cNvSpPr txBox="1"/>
          <p:nvPr/>
        </p:nvSpPr>
        <p:spPr>
          <a:xfrm>
            <a:off x="1955800" y="2717800"/>
            <a:ext cx="154813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ты</a:t>
            </a:r>
            <a:endParaRPr lang="en-US" sz="1400" dirty="0"/>
          </a:p>
        </p:txBody>
      </p:sp>
      <p:sp>
        <p:nvSpPr>
          <p:cNvPr id="10" name="text-9"/>
          <p:cNvSpPr txBox="1"/>
          <p:nvPr/>
        </p:nvSpPr>
        <p:spPr>
          <a:xfrm>
            <a:off x="3543300" y="2730450"/>
            <a:ext cx="28539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кто? </a:t>
            </a:r>
            <a:pPr algn="l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Thou art kind.</a:t>
            </a:r>
            <a:endParaRPr lang="en-US" sz="1150" dirty="0"/>
          </a:p>
        </p:txBody>
      </p:sp>
      <p:sp>
        <p:nvSpPr>
          <p:cNvPr id="11" name="shape-10"/>
          <p:cNvSpPr/>
          <p:nvPr/>
        </p:nvSpPr>
        <p:spPr>
          <a:xfrm>
            <a:off x="457200" y="3200400"/>
            <a:ext cx="5943600" cy="571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2" name="text-11"/>
          <p:cNvSpPr txBox="1"/>
          <p:nvPr/>
        </p:nvSpPr>
        <p:spPr>
          <a:xfrm>
            <a:off x="622300" y="3314700"/>
            <a:ext cx="12788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thee</a:t>
            </a:r>
            <a:endParaRPr lang="en-US" sz="2700" dirty="0"/>
          </a:p>
        </p:txBody>
      </p:sp>
      <p:sp>
        <p:nvSpPr>
          <p:cNvPr id="13" name="text-12"/>
          <p:cNvSpPr txBox="1"/>
          <p:nvPr/>
        </p:nvSpPr>
        <p:spPr>
          <a:xfrm>
            <a:off x="1955800" y="3378200"/>
            <a:ext cx="154813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тебя, тебе</a:t>
            </a:r>
            <a:endParaRPr lang="en-US" sz="1400" dirty="0"/>
          </a:p>
        </p:txBody>
      </p:sp>
      <p:sp>
        <p:nvSpPr>
          <p:cNvPr id="14" name="text-13"/>
          <p:cNvSpPr txBox="1"/>
          <p:nvPr/>
        </p:nvSpPr>
        <p:spPr>
          <a:xfrm>
            <a:off x="3543300" y="3390850"/>
            <a:ext cx="28539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кого? кому? </a:t>
            </a:r>
            <a:pPr algn="l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 love thee.</a:t>
            </a:r>
            <a:endParaRPr lang="en-US" sz="1150" dirty="0"/>
          </a:p>
        </p:txBody>
      </p:sp>
      <p:sp>
        <p:nvSpPr>
          <p:cNvPr id="15" name="shape-14"/>
          <p:cNvSpPr/>
          <p:nvPr/>
        </p:nvSpPr>
        <p:spPr>
          <a:xfrm>
            <a:off x="457200" y="3860800"/>
            <a:ext cx="5943600" cy="571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6" name="text-15"/>
          <p:cNvSpPr txBox="1"/>
          <p:nvPr/>
        </p:nvSpPr>
        <p:spPr>
          <a:xfrm>
            <a:off x="622300" y="3975100"/>
            <a:ext cx="12788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thy</a:t>
            </a:r>
            <a:endParaRPr lang="en-US" sz="2700" dirty="0"/>
          </a:p>
        </p:txBody>
      </p:sp>
      <p:sp>
        <p:nvSpPr>
          <p:cNvPr id="17" name="text-16"/>
          <p:cNvSpPr txBox="1"/>
          <p:nvPr/>
        </p:nvSpPr>
        <p:spPr>
          <a:xfrm>
            <a:off x="1955800" y="4038600"/>
            <a:ext cx="154813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твой</a:t>
            </a:r>
            <a:endParaRPr lang="en-US" sz="1400" dirty="0"/>
          </a:p>
        </p:txBody>
      </p:sp>
      <p:sp>
        <p:nvSpPr>
          <p:cNvPr id="18" name="text-17"/>
          <p:cNvSpPr txBox="1"/>
          <p:nvPr/>
        </p:nvSpPr>
        <p:spPr>
          <a:xfrm>
            <a:off x="3543300" y="4051250"/>
            <a:ext cx="28539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перед согласной: </a:t>
            </a:r>
            <a:pPr algn="l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thy name</a:t>
            </a:r>
            <a:endParaRPr lang="en-US" sz="1150" dirty="0"/>
          </a:p>
        </p:txBody>
      </p:sp>
      <p:sp>
        <p:nvSpPr>
          <p:cNvPr id="19" name="shape-18"/>
          <p:cNvSpPr/>
          <p:nvPr/>
        </p:nvSpPr>
        <p:spPr>
          <a:xfrm>
            <a:off x="457200" y="4520505"/>
            <a:ext cx="5943600" cy="609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0" name="text-19"/>
          <p:cNvSpPr txBox="1"/>
          <p:nvPr/>
        </p:nvSpPr>
        <p:spPr>
          <a:xfrm>
            <a:off x="622300" y="4653855"/>
            <a:ext cx="12788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thine</a:t>
            </a:r>
            <a:endParaRPr lang="en-US" sz="2700" dirty="0"/>
          </a:p>
        </p:txBody>
      </p:sp>
      <p:sp>
        <p:nvSpPr>
          <p:cNvPr id="21" name="text-20"/>
          <p:cNvSpPr txBox="1"/>
          <p:nvPr/>
        </p:nvSpPr>
        <p:spPr>
          <a:xfrm>
            <a:off x="1955800" y="4717355"/>
            <a:ext cx="154813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твой</a:t>
            </a:r>
            <a:endParaRPr lang="en-US" sz="1400" dirty="0"/>
          </a:p>
        </p:txBody>
      </p:sp>
      <p:sp>
        <p:nvSpPr>
          <p:cNvPr id="22" name="text-21"/>
          <p:cNvSpPr txBox="1"/>
          <p:nvPr/>
        </p:nvSpPr>
        <p:spPr>
          <a:xfrm>
            <a:off x="3543300" y="4634805"/>
            <a:ext cx="28539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перед гласной или в конце: </a:t>
            </a:r>
            <a:pPr algn="l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thine eyes · The choice is thine.</a:t>
            </a:r>
            <a:endParaRPr lang="en-US" sz="1150" dirty="0"/>
          </a:p>
        </p:txBody>
      </p:sp>
      <p:sp>
        <p:nvSpPr>
          <p:cNvPr id="23" name="shape-22"/>
          <p:cNvSpPr/>
          <p:nvPr/>
        </p:nvSpPr>
        <p:spPr>
          <a:xfrm>
            <a:off x="457200" y="5218311"/>
            <a:ext cx="5943600" cy="571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4" name="text-23"/>
          <p:cNvSpPr txBox="1"/>
          <p:nvPr/>
        </p:nvSpPr>
        <p:spPr>
          <a:xfrm>
            <a:off x="622300" y="5332611"/>
            <a:ext cx="12788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ye</a:t>
            </a:r>
            <a:endParaRPr lang="en-US" sz="2700" dirty="0"/>
          </a:p>
        </p:txBody>
      </p:sp>
      <p:sp>
        <p:nvSpPr>
          <p:cNvPr id="25" name="text-24"/>
          <p:cNvSpPr txBox="1"/>
          <p:nvPr/>
        </p:nvSpPr>
        <p:spPr>
          <a:xfrm>
            <a:off x="1955800" y="5396111"/>
            <a:ext cx="154813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вы</a:t>
            </a:r>
            <a:endParaRPr lang="en-US" sz="1400" dirty="0"/>
          </a:p>
        </p:txBody>
      </p:sp>
      <p:sp>
        <p:nvSpPr>
          <p:cNvPr id="26" name="text-25"/>
          <p:cNvSpPr txBox="1"/>
          <p:nvPr/>
        </p:nvSpPr>
        <p:spPr>
          <a:xfrm>
            <a:off x="3543300" y="5408761"/>
            <a:ext cx="28539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кто? о нескольких людях: </a:t>
            </a:r>
            <a:pPr algn="l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Ye shall see.</a:t>
            </a:r>
            <a:endParaRPr lang="en-US" sz="1150" dirty="0"/>
          </a:p>
        </p:txBody>
      </p:sp>
      <p:sp>
        <p:nvSpPr>
          <p:cNvPr id="27" name="text-26"/>
          <p:cNvSpPr txBox="1"/>
          <p:nvPr/>
        </p:nvSpPr>
        <p:spPr>
          <a:xfrm rot="-120000">
            <a:off x="457200" y="7176740"/>
            <a:ext cx="6300216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mine работает так же: mine eyes, «мои глаза»</a:t>
            </a:r>
            <a:endParaRPr lang="en-US" sz="1800" dirty="0"/>
          </a:p>
        </p:txBody>
      </p:sp>
      <p:sp>
        <p:nvSpPr>
          <p:cNvPr id="28" name="text-27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9" name="shape-28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0" name="text-29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1" name="svg-3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5960" y="406400"/>
            <a:ext cx="29972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160" y="482600"/>
            <a:ext cx="269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ГЛАГОЛЫ С THOU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Thou +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-st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1706066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После thou глагол получает окончание -st или -est. Убери его, и получишь обычный глагол.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>
            <a:off x="457200" y="2984500"/>
            <a:ext cx="2927350" cy="5207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text-8"/>
          <p:cNvSpPr txBox="1"/>
          <p:nvPr/>
        </p:nvSpPr>
        <p:spPr>
          <a:xfrm>
            <a:off x="622647" y="3098800"/>
            <a:ext cx="14538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thou art</a:t>
            </a:r>
            <a:endParaRPr lang="en-US" sz="2300" dirty="0"/>
          </a:p>
        </p:txBody>
      </p:sp>
      <p:sp>
        <p:nvSpPr>
          <p:cNvPr id="10" name="text-9"/>
          <p:cNvSpPr txBox="1"/>
          <p:nvPr/>
        </p:nvSpPr>
        <p:spPr>
          <a:xfrm>
            <a:off x="2121247" y="3136900"/>
            <a:ext cx="116446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you are</a:t>
            </a:r>
            <a:endParaRPr lang="en-US" sz="1400" dirty="0"/>
          </a:p>
        </p:txBody>
      </p:sp>
      <p:sp>
        <p:nvSpPr>
          <p:cNvPr id="11" name="shape-10"/>
          <p:cNvSpPr/>
          <p:nvPr/>
        </p:nvSpPr>
        <p:spPr>
          <a:xfrm>
            <a:off x="3473450" y="2984500"/>
            <a:ext cx="2927350" cy="5207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2" name="text-11"/>
          <p:cNvSpPr txBox="1"/>
          <p:nvPr/>
        </p:nvSpPr>
        <p:spPr>
          <a:xfrm>
            <a:off x="3638897" y="3098800"/>
            <a:ext cx="14538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thou hast</a:t>
            </a:r>
            <a:endParaRPr lang="en-US" sz="2300" dirty="0"/>
          </a:p>
        </p:txBody>
      </p:sp>
      <p:sp>
        <p:nvSpPr>
          <p:cNvPr id="13" name="text-12"/>
          <p:cNvSpPr txBox="1"/>
          <p:nvPr/>
        </p:nvSpPr>
        <p:spPr>
          <a:xfrm>
            <a:off x="5137497" y="3136900"/>
            <a:ext cx="116446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you have</a:t>
            </a:r>
            <a:endParaRPr lang="en-US" sz="1400" dirty="0"/>
          </a:p>
        </p:txBody>
      </p:sp>
      <p:sp>
        <p:nvSpPr>
          <p:cNvPr id="14" name="shape-13"/>
          <p:cNvSpPr/>
          <p:nvPr/>
        </p:nvSpPr>
        <p:spPr>
          <a:xfrm>
            <a:off x="457200" y="3594100"/>
            <a:ext cx="2927350" cy="5207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5" name="text-14"/>
          <p:cNvSpPr txBox="1"/>
          <p:nvPr/>
        </p:nvSpPr>
        <p:spPr>
          <a:xfrm>
            <a:off x="622647" y="3708400"/>
            <a:ext cx="14538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thou dost</a:t>
            </a:r>
            <a:endParaRPr lang="en-US" sz="2300" dirty="0"/>
          </a:p>
        </p:txBody>
      </p:sp>
      <p:sp>
        <p:nvSpPr>
          <p:cNvPr id="16" name="text-15"/>
          <p:cNvSpPr txBox="1"/>
          <p:nvPr/>
        </p:nvSpPr>
        <p:spPr>
          <a:xfrm>
            <a:off x="2121247" y="3746500"/>
            <a:ext cx="116446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you do</a:t>
            </a:r>
            <a:endParaRPr lang="en-US" sz="1400" dirty="0"/>
          </a:p>
        </p:txBody>
      </p:sp>
      <p:sp>
        <p:nvSpPr>
          <p:cNvPr id="17" name="shape-16"/>
          <p:cNvSpPr/>
          <p:nvPr/>
        </p:nvSpPr>
        <p:spPr>
          <a:xfrm>
            <a:off x="3473450" y="3594100"/>
            <a:ext cx="2927350" cy="5207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8" name="text-17"/>
          <p:cNvSpPr txBox="1"/>
          <p:nvPr/>
        </p:nvSpPr>
        <p:spPr>
          <a:xfrm>
            <a:off x="3638897" y="3708400"/>
            <a:ext cx="14538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thou wilt</a:t>
            </a:r>
            <a:endParaRPr lang="en-US" sz="2300" dirty="0"/>
          </a:p>
        </p:txBody>
      </p:sp>
      <p:sp>
        <p:nvSpPr>
          <p:cNvPr id="19" name="text-18"/>
          <p:cNvSpPr txBox="1"/>
          <p:nvPr/>
        </p:nvSpPr>
        <p:spPr>
          <a:xfrm>
            <a:off x="5137497" y="3746500"/>
            <a:ext cx="116446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you will</a:t>
            </a:r>
            <a:endParaRPr lang="en-US" sz="1400" dirty="0"/>
          </a:p>
        </p:txBody>
      </p:sp>
      <p:sp>
        <p:nvSpPr>
          <p:cNvPr id="20" name="shape-19"/>
          <p:cNvSpPr/>
          <p:nvPr/>
        </p:nvSpPr>
        <p:spPr>
          <a:xfrm>
            <a:off x="457200" y="4203700"/>
            <a:ext cx="2927350" cy="5207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1" name="text-20"/>
          <p:cNvSpPr txBox="1"/>
          <p:nvPr/>
        </p:nvSpPr>
        <p:spPr>
          <a:xfrm>
            <a:off x="622647" y="4318000"/>
            <a:ext cx="14538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thou shalt</a:t>
            </a:r>
            <a:endParaRPr lang="en-US" sz="2300" dirty="0"/>
          </a:p>
        </p:txBody>
      </p:sp>
      <p:sp>
        <p:nvSpPr>
          <p:cNvPr id="22" name="text-21"/>
          <p:cNvSpPr txBox="1"/>
          <p:nvPr/>
        </p:nvSpPr>
        <p:spPr>
          <a:xfrm>
            <a:off x="2121247" y="4356100"/>
            <a:ext cx="116446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you shall</a:t>
            </a:r>
            <a:endParaRPr lang="en-US" sz="1400" dirty="0"/>
          </a:p>
        </p:txBody>
      </p:sp>
      <p:sp>
        <p:nvSpPr>
          <p:cNvPr id="23" name="shape-22"/>
          <p:cNvSpPr/>
          <p:nvPr/>
        </p:nvSpPr>
        <p:spPr>
          <a:xfrm>
            <a:off x="3473450" y="4203700"/>
            <a:ext cx="2927350" cy="5207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4" name="text-23"/>
          <p:cNvSpPr txBox="1"/>
          <p:nvPr/>
        </p:nvSpPr>
        <p:spPr>
          <a:xfrm>
            <a:off x="3638897" y="4318000"/>
            <a:ext cx="14538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thou canst</a:t>
            </a:r>
            <a:endParaRPr lang="en-US" sz="2300" dirty="0"/>
          </a:p>
        </p:txBody>
      </p:sp>
      <p:sp>
        <p:nvSpPr>
          <p:cNvPr id="25" name="text-24"/>
          <p:cNvSpPr txBox="1"/>
          <p:nvPr/>
        </p:nvSpPr>
        <p:spPr>
          <a:xfrm>
            <a:off x="5137497" y="4356100"/>
            <a:ext cx="116446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you can</a:t>
            </a:r>
            <a:endParaRPr lang="en-US" sz="1400" dirty="0"/>
          </a:p>
        </p:txBody>
      </p:sp>
      <p:sp>
        <p:nvSpPr>
          <p:cNvPr id="26" name="shape-25"/>
          <p:cNvSpPr/>
          <p:nvPr/>
        </p:nvSpPr>
        <p:spPr>
          <a:xfrm>
            <a:off x="457200" y="4813300"/>
            <a:ext cx="2927350" cy="812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7" name="text-26"/>
          <p:cNvSpPr txBox="1"/>
          <p:nvPr/>
        </p:nvSpPr>
        <p:spPr>
          <a:xfrm>
            <a:off x="622647" y="4927600"/>
            <a:ext cx="145389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thou knowest</a:t>
            </a:r>
            <a:endParaRPr lang="en-US" sz="2300" dirty="0"/>
          </a:p>
        </p:txBody>
      </p:sp>
      <p:sp>
        <p:nvSpPr>
          <p:cNvPr id="28" name="text-27"/>
          <p:cNvSpPr txBox="1"/>
          <p:nvPr/>
        </p:nvSpPr>
        <p:spPr>
          <a:xfrm>
            <a:off x="2121247" y="5111750"/>
            <a:ext cx="116446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you know</a:t>
            </a:r>
            <a:endParaRPr lang="en-US" sz="1400" dirty="0"/>
          </a:p>
        </p:txBody>
      </p:sp>
      <p:sp>
        <p:nvSpPr>
          <p:cNvPr id="29" name="shape-28"/>
          <p:cNvSpPr/>
          <p:nvPr/>
        </p:nvSpPr>
        <p:spPr>
          <a:xfrm>
            <a:off x="3473450" y="4813300"/>
            <a:ext cx="2927350" cy="812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30" name="text-29"/>
          <p:cNvSpPr txBox="1"/>
          <p:nvPr/>
        </p:nvSpPr>
        <p:spPr>
          <a:xfrm>
            <a:off x="3638897" y="5073650"/>
            <a:ext cx="14538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thou wert</a:t>
            </a:r>
            <a:endParaRPr lang="en-US" sz="2300" dirty="0"/>
          </a:p>
        </p:txBody>
      </p:sp>
      <p:sp>
        <p:nvSpPr>
          <p:cNvPr id="31" name="text-30"/>
          <p:cNvSpPr txBox="1"/>
          <p:nvPr/>
        </p:nvSpPr>
        <p:spPr>
          <a:xfrm>
            <a:off x="5137497" y="5111750"/>
            <a:ext cx="116446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you were</a:t>
            </a:r>
            <a:endParaRPr lang="en-US" sz="1400" dirty="0"/>
          </a:p>
        </p:txBody>
      </p:sp>
      <p:sp>
        <p:nvSpPr>
          <p:cNvPr id="32" name="text-31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3" name="shape-32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4" name="text-33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5" name="svg-3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6605" y="406400"/>
            <a:ext cx="29019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805" y="482600"/>
            <a:ext cx="25914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ОКОНЧАНИЕ -TH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-th вместо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-s</a:t>
            </a:r>
            <a:endParaRPr lang="en-US" sz="4200" dirty="0"/>
          </a:p>
        </p:txBody>
      </p:sp>
      <p:sp>
        <p:nvSpPr>
          <p:cNvPr id="7" name="shape-6"/>
          <p:cNvSpPr/>
          <p:nvPr/>
        </p:nvSpPr>
        <p:spPr>
          <a:xfrm>
            <a:off x="457200" y="2540000"/>
            <a:ext cx="2927350" cy="5207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8" name="text-7"/>
          <p:cNvSpPr txBox="1"/>
          <p:nvPr/>
        </p:nvSpPr>
        <p:spPr>
          <a:xfrm>
            <a:off x="622647" y="2654300"/>
            <a:ext cx="14538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he hath</a:t>
            </a:r>
            <a:endParaRPr lang="en-US" sz="2300" dirty="0"/>
          </a:p>
        </p:txBody>
      </p:sp>
      <p:sp>
        <p:nvSpPr>
          <p:cNvPr id="9" name="text-8"/>
          <p:cNvSpPr txBox="1"/>
          <p:nvPr/>
        </p:nvSpPr>
        <p:spPr>
          <a:xfrm>
            <a:off x="2121247" y="2692400"/>
            <a:ext cx="116446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he has</a:t>
            </a:r>
            <a:endParaRPr lang="en-US" sz="1400" dirty="0"/>
          </a:p>
        </p:txBody>
      </p:sp>
      <p:sp>
        <p:nvSpPr>
          <p:cNvPr id="10" name="shape-9"/>
          <p:cNvSpPr/>
          <p:nvPr/>
        </p:nvSpPr>
        <p:spPr>
          <a:xfrm>
            <a:off x="3473450" y="2540000"/>
            <a:ext cx="2927350" cy="5207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1" name="text-10"/>
          <p:cNvSpPr txBox="1"/>
          <p:nvPr/>
        </p:nvSpPr>
        <p:spPr>
          <a:xfrm>
            <a:off x="3638897" y="2654300"/>
            <a:ext cx="14538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she doth</a:t>
            </a:r>
            <a:endParaRPr lang="en-US" sz="2300" dirty="0"/>
          </a:p>
        </p:txBody>
      </p:sp>
      <p:sp>
        <p:nvSpPr>
          <p:cNvPr id="12" name="text-11"/>
          <p:cNvSpPr txBox="1"/>
          <p:nvPr/>
        </p:nvSpPr>
        <p:spPr>
          <a:xfrm>
            <a:off x="5137497" y="2692400"/>
            <a:ext cx="116446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she does</a:t>
            </a:r>
            <a:endParaRPr lang="en-US" sz="1400" dirty="0"/>
          </a:p>
        </p:txBody>
      </p:sp>
      <p:sp>
        <p:nvSpPr>
          <p:cNvPr id="13" name="shape-12"/>
          <p:cNvSpPr/>
          <p:nvPr/>
        </p:nvSpPr>
        <p:spPr>
          <a:xfrm>
            <a:off x="457200" y="3149600"/>
            <a:ext cx="2927350" cy="5207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4" name="text-13"/>
          <p:cNvSpPr txBox="1"/>
          <p:nvPr/>
        </p:nvSpPr>
        <p:spPr>
          <a:xfrm>
            <a:off x="622647" y="3263900"/>
            <a:ext cx="14538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it goeth</a:t>
            </a:r>
            <a:endParaRPr lang="en-US" sz="2300" dirty="0"/>
          </a:p>
        </p:txBody>
      </p:sp>
      <p:sp>
        <p:nvSpPr>
          <p:cNvPr id="15" name="text-14"/>
          <p:cNvSpPr txBox="1"/>
          <p:nvPr/>
        </p:nvSpPr>
        <p:spPr>
          <a:xfrm>
            <a:off x="2121247" y="3302000"/>
            <a:ext cx="116446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it goes</a:t>
            </a:r>
            <a:endParaRPr lang="en-US" sz="1400" dirty="0"/>
          </a:p>
        </p:txBody>
      </p:sp>
      <p:sp>
        <p:nvSpPr>
          <p:cNvPr id="16" name="shape-15"/>
          <p:cNvSpPr/>
          <p:nvPr/>
        </p:nvSpPr>
        <p:spPr>
          <a:xfrm>
            <a:off x="3473450" y="3149600"/>
            <a:ext cx="2927350" cy="5207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text-16"/>
          <p:cNvSpPr txBox="1"/>
          <p:nvPr/>
        </p:nvSpPr>
        <p:spPr>
          <a:xfrm>
            <a:off x="3638897" y="3263900"/>
            <a:ext cx="14538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he saith</a:t>
            </a:r>
            <a:endParaRPr lang="en-US" sz="2300" dirty="0"/>
          </a:p>
        </p:txBody>
      </p:sp>
      <p:sp>
        <p:nvSpPr>
          <p:cNvPr id="18" name="text-17"/>
          <p:cNvSpPr txBox="1"/>
          <p:nvPr/>
        </p:nvSpPr>
        <p:spPr>
          <a:xfrm>
            <a:off x="5137497" y="3302000"/>
            <a:ext cx="116446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he says</a:t>
            </a:r>
            <a:endParaRPr lang="en-US" sz="1400" dirty="0"/>
          </a:p>
        </p:txBody>
      </p:sp>
      <p:sp>
        <p:nvSpPr>
          <p:cNvPr id="19" name="shape-18"/>
          <p:cNvSpPr/>
          <p:nvPr/>
        </p:nvSpPr>
        <p:spPr>
          <a:xfrm>
            <a:off x="457200" y="3759200"/>
            <a:ext cx="2927350" cy="812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0" name="text-19"/>
          <p:cNvSpPr txBox="1"/>
          <p:nvPr/>
        </p:nvSpPr>
        <p:spPr>
          <a:xfrm>
            <a:off x="622647" y="3873500"/>
            <a:ext cx="145389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she knoweth</a:t>
            </a:r>
            <a:endParaRPr lang="en-US" sz="2300" dirty="0"/>
          </a:p>
        </p:txBody>
      </p:sp>
      <p:sp>
        <p:nvSpPr>
          <p:cNvPr id="21" name="text-20"/>
          <p:cNvSpPr txBox="1"/>
          <p:nvPr/>
        </p:nvSpPr>
        <p:spPr>
          <a:xfrm>
            <a:off x="2121247" y="4057650"/>
            <a:ext cx="116446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she knows</a:t>
            </a:r>
            <a:endParaRPr lang="en-US" sz="1400" dirty="0"/>
          </a:p>
        </p:txBody>
      </p:sp>
      <p:sp>
        <p:nvSpPr>
          <p:cNvPr id="22" name="shape-21"/>
          <p:cNvSpPr/>
          <p:nvPr/>
        </p:nvSpPr>
        <p:spPr>
          <a:xfrm>
            <a:off x="3473450" y="3759200"/>
            <a:ext cx="2927350" cy="812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3" name="text-22"/>
          <p:cNvSpPr txBox="1"/>
          <p:nvPr/>
        </p:nvSpPr>
        <p:spPr>
          <a:xfrm>
            <a:off x="3638897" y="4019550"/>
            <a:ext cx="14538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'tis</a:t>
            </a:r>
            <a:endParaRPr lang="en-US" sz="2300" dirty="0"/>
          </a:p>
        </p:txBody>
      </p:sp>
      <p:sp>
        <p:nvSpPr>
          <p:cNvPr id="24" name="text-23"/>
          <p:cNvSpPr txBox="1"/>
          <p:nvPr/>
        </p:nvSpPr>
        <p:spPr>
          <a:xfrm>
            <a:off x="5137497" y="4057650"/>
            <a:ext cx="116446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it is</a:t>
            </a:r>
            <a:endParaRPr lang="en-US" sz="1400" dirty="0"/>
          </a:p>
        </p:txBody>
      </p:sp>
      <p:sp>
        <p:nvSpPr>
          <p:cNvPr id="25" name="shape-24"/>
          <p:cNvSpPr/>
          <p:nvPr/>
        </p:nvSpPr>
        <p:spPr>
          <a:xfrm rot="84000">
            <a:off x="457200" y="4890938"/>
            <a:ext cx="5943600" cy="15811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6" name="shape-25"/>
          <p:cNvSpPr/>
          <p:nvPr/>
        </p:nvSpPr>
        <p:spPr>
          <a:xfrm rot="-96000">
            <a:off x="2971480" y="4775429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27" name="text-26"/>
          <p:cNvSpPr txBox="1"/>
          <p:nvPr/>
        </p:nvSpPr>
        <p:spPr>
          <a:xfrm rot="84000">
            <a:off x="745581" y="5142568"/>
            <a:ext cx="57078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lady </a:t>
            </a:r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doth</a:t>
            </a:r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protest too much, </a:t>
            </a:r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methinks</a:t>
            </a:r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.</a:t>
            </a:r>
            <a:endParaRPr lang="en-US" sz="2200" dirty="0"/>
          </a:p>
        </p:txBody>
      </p:sp>
      <p:sp>
        <p:nvSpPr>
          <p:cNvPr id="28" name="text-27"/>
          <p:cNvSpPr txBox="1"/>
          <p:nvPr/>
        </p:nvSpPr>
        <p:spPr>
          <a:xfrm rot="84000">
            <a:off x="737772" y="5560531"/>
            <a:ext cx="570788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9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ШЕКСПИР · «ГАМЛЕТ»</a:t>
            </a:r>
            <a:endParaRPr lang="en-US" sz="900" dirty="0"/>
          </a:p>
        </p:txBody>
      </p:sp>
      <p:sp>
        <p:nvSpPr>
          <p:cNvPr id="29" name="text-28"/>
          <p:cNvSpPr txBox="1"/>
          <p:nvPr/>
        </p:nvSpPr>
        <p:spPr>
          <a:xfrm rot="84000">
            <a:off x="728170" y="5794669"/>
            <a:ext cx="570788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По-моему, эта дама слишком много клянётся. Doth здесь просто вспомогательный глагол, а methinks значит «мне кажется».</a:t>
            </a:r>
            <a:endParaRPr lang="en-US" sz="1300" dirty="0"/>
          </a:p>
        </p:txBody>
      </p:sp>
      <p:sp>
        <p:nvSpPr>
          <p:cNvPr id="30" name="text-29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1" name="shape-30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2" name="text-31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3" name="svg-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6605" y="406400"/>
            <a:ext cx="29019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805" y="482600"/>
            <a:ext cx="25914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THOU ИЛИ THEE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Thou или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thee</a:t>
            </a:r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?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1706066"/>
            <a:ext cx="588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Это как he и him. Подставь их, и сразу видно.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90000">
            <a:off x="457200" y="2793603"/>
            <a:ext cx="2901950" cy="1638300"/>
          </a:xfrm>
          <a:prstGeom prst="roundRect">
            <a:avLst>
              <a:gd name="adj" fmla="val 10078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-8"/>
          <p:cNvSpPr txBox="1"/>
          <p:nvPr/>
        </p:nvSpPr>
        <p:spPr>
          <a:xfrm rot="-90000">
            <a:off x="658898" y="2997386"/>
            <a:ext cx="2618359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ПОДСТАВЬ </a:t>
            </a:r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668456" y="3194111"/>
            <a:ext cx="261835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thou</a:t>
            </a:r>
            <a:endParaRPr lang="en-US" sz="3800" dirty="0"/>
          </a:p>
        </p:txBody>
      </p:sp>
      <p:sp>
        <p:nvSpPr>
          <p:cNvPr id="11" name="text-10"/>
          <p:cNvSpPr txBox="1"/>
          <p:nvPr/>
        </p:nvSpPr>
        <p:spPr>
          <a:xfrm rot="-90000">
            <a:off x="683157" y="3765022"/>
            <a:ext cx="2618359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50" i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Thou lovest me.</a:t>
            </a:r>
            <a:endParaRPr lang="en-US" sz="135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 loves me.</a:t>
            </a:r>
            <a:endParaRPr lang="en-US" sz="1350" dirty="0"/>
          </a:p>
        </p:txBody>
      </p:sp>
      <p:sp>
        <p:nvSpPr>
          <p:cNvPr id="12" name="shape-11"/>
          <p:cNvSpPr/>
          <p:nvPr/>
        </p:nvSpPr>
        <p:spPr>
          <a:xfrm rot="90000">
            <a:off x="3498850" y="2793603"/>
            <a:ext cx="2901950" cy="1638300"/>
          </a:xfrm>
          <a:prstGeom prst="roundRect">
            <a:avLst>
              <a:gd name="adj" fmla="val 10078"/>
            </a:avLst>
          </a:prstGeom>
          <a:solidFill>
            <a:srgbClr val="0A0A0A"/>
          </a:solidFill>
          <a:ln/>
        </p:spPr>
      </p:sp>
      <p:sp>
        <p:nvSpPr>
          <p:cNvPr id="13" name="text-12"/>
          <p:cNvSpPr txBox="1"/>
          <p:nvPr/>
        </p:nvSpPr>
        <p:spPr>
          <a:xfrm rot="90000">
            <a:off x="3716584" y="2984690"/>
            <a:ext cx="2645283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ПОДСТАВЬ </a:t>
            </a:r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him</a:t>
            </a:r>
            <a:endParaRPr lang="en-US" sz="900" dirty="0"/>
          </a:p>
        </p:txBody>
      </p:sp>
      <p:sp>
        <p:nvSpPr>
          <p:cNvPr id="14" name="text-13"/>
          <p:cNvSpPr txBox="1"/>
          <p:nvPr/>
        </p:nvSpPr>
        <p:spPr>
          <a:xfrm rot="90000">
            <a:off x="3707026" y="3181415"/>
            <a:ext cx="264528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thee</a:t>
            </a:r>
            <a:endParaRPr lang="en-US" sz="3800" dirty="0"/>
          </a:p>
        </p:txBody>
      </p:sp>
      <p:sp>
        <p:nvSpPr>
          <p:cNvPr id="15" name="text-14"/>
          <p:cNvSpPr txBox="1"/>
          <p:nvPr/>
        </p:nvSpPr>
        <p:spPr>
          <a:xfrm rot="90000">
            <a:off x="3692326" y="3752326"/>
            <a:ext cx="264528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50" i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 love thee.</a:t>
            </a:r>
            <a:endParaRPr lang="en-US" sz="135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 love him.</a:t>
            </a:r>
            <a:endParaRPr lang="en-US" sz="1350" dirty="0"/>
          </a:p>
        </p:txBody>
      </p:sp>
      <p:sp>
        <p:nvSpPr>
          <p:cNvPr id="16" name="shape-15"/>
          <p:cNvSpPr/>
          <p:nvPr/>
        </p:nvSpPr>
        <p:spPr>
          <a:xfrm>
            <a:off x="457200" y="5715000"/>
            <a:ext cx="59436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shape-16"/>
          <p:cNvSpPr/>
          <p:nvPr/>
        </p:nvSpPr>
        <p:spPr>
          <a:xfrm rot="-180000">
            <a:off x="2952750" y="5600700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8" name="text-17"/>
          <p:cNvSpPr txBox="1"/>
          <p:nvPr/>
        </p:nvSpPr>
        <p:spPr>
          <a:xfrm>
            <a:off x="736600" y="5969000"/>
            <a:ext cx="570788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Правило работает и с ye: ye это «вы» в роли подлежащего. В старых текстах you часто стоит там, где по-русски «вас» или «вам».</a:t>
            </a:r>
            <a:endParaRPr lang="en-US" sz="1500" dirty="0"/>
          </a:p>
        </p:txBody>
      </p:sp>
      <p:sp>
        <p:nvSpPr>
          <p:cNvPr id="19" name="text-1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0" name="shape-19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1" name="text-20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2" name="svg-2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6605" y="406400"/>
            <a:ext cx="29019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805" y="482600"/>
            <a:ext cx="25914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THY ИЛИ THINE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Thy или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thine</a:t>
            </a:r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?</a:t>
            </a:r>
            <a:endParaRPr lang="en-US" sz="4200" dirty="0"/>
          </a:p>
        </p:txBody>
      </p:sp>
      <p:sp>
        <p:nvSpPr>
          <p:cNvPr id="7" name="shape-6"/>
          <p:cNvSpPr/>
          <p:nvPr/>
        </p:nvSpPr>
        <p:spPr>
          <a:xfrm rot="-84000">
            <a:off x="457200" y="2729657"/>
            <a:ext cx="5943600" cy="1695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8" name="shape-7"/>
          <p:cNvSpPr/>
          <p:nvPr/>
        </p:nvSpPr>
        <p:spPr>
          <a:xfrm rot="-264000">
            <a:off x="2932679" y="2616445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9" name="text-8"/>
          <p:cNvSpPr txBox="1"/>
          <p:nvPr/>
        </p:nvSpPr>
        <p:spPr>
          <a:xfrm rot="-84000">
            <a:off x="730442" y="2985667"/>
            <a:ext cx="5707888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Our Father which art in heaven, Hallowed be </a:t>
            </a:r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thy</a:t>
            </a:r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name.</a:t>
            </a:r>
            <a:endParaRPr lang="en-US" sz="2200" dirty="0"/>
          </a:p>
        </p:txBody>
      </p:sp>
      <p:sp>
        <p:nvSpPr>
          <p:cNvPr id="10" name="text-9"/>
          <p:cNvSpPr txBox="1"/>
          <p:nvPr/>
        </p:nvSpPr>
        <p:spPr>
          <a:xfrm rot="-84000">
            <a:off x="742414" y="3742262"/>
            <a:ext cx="570788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9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«ОТЧЕ НАШ» · БИБЛИЯ КОРОЛЯ ЯКОВА, 1611</a:t>
            </a:r>
            <a:endParaRPr lang="en-US" sz="900" dirty="0"/>
          </a:p>
        </p:txBody>
      </p:sp>
      <p:sp>
        <p:nvSpPr>
          <p:cNvPr id="11" name="text-10"/>
          <p:cNvSpPr txBox="1"/>
          <p:nvPr/>
        </p:nvSpPr>
        <p:spPr>
          <a:xfrm rot="-84000">
            <a:off x="749193" y="3978369"/>
            <a:ext cx="5707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Да святится имя твоё. Заметь: which art здесь значит who are.</a:t>
            </a:r>
            <a:endParaRPr lang="en-US" sz="1300" dirty="0"/>
          </a:p>
        </p:txBody>
      </p:sp>
      <p:sp>
        <p:nvSpPr>
          <p:cNvPr id="12" name="shape-11"/>
          <p:cNvSpPr/>
          <p:nvPr/>
        </p:nvSpPr>
        <p:spPr>
          <a:xfrm>
            <a:off x="457200" y="5080000"/>
            <a:ext cx="5943600" cy="571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3" name="text-12"/>
          <p:cNvSpPr txBox="1"/>
          <p:nvPr/>
        </p:nvSpPr>
        <p:spPr>
          <a:xfrm>
            <a:off x="622300" y="5194300"/>
            <a:ext cx="11442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thy</a:t>
            </a:r>
            <a:endParaRPr lang="en-US" sz="2700" dirty="0"/>
          </a:p>
        </p:txBody>
      </p:sp>
      <p:sp>
        <p:nvSpPr>
          <p:cNvPr id="14" name="text-13"/>
          <p:cNvSpPr txBox="1"/>
          <p:nvPr/>
        </p:nvSpPr>
        <p:spPr>
          <a:xfrm>
            <a:off x="1828800" y="5257800"/>
            <a:ext cx="11442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как a</a:t>
            </a:r>
            <a:endParaRPr lang="en-US" sz="1400" dirty="0"/>
          </a:p>
        </p:txBody>
      </p:sp>
      <p:sp>
        <p:nvSpPr>
          <p:cNvPr id="15" name="text-14"/>
          <p:cNvSpPr txBox="1"/>
          <p:nvPr/>
        </p:nvSpPr>
        <p:spPr>
          <a:xfrm>
            <a:off x="3035300" y="5270450"/>
            <a:ext cx="33924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перед согласной: </a:t>
            </a:r>
            <a:pPr algn="l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thy heart, thy name</a:t>
            </a:r>
            <a:endParaRPr lang="en-US" sz="1150" dirty="0"/>
          </a:p>
        </p:txBody>
      </p:sp>
      <p:sp>
        <p:nvSpPr>
          <p:cNvPr id="16" name="shape-15"/>
          <p:cNvSpPr/>
          <p:nvPr/>
        </p:nvSpPr>
        <p:spPr>
          <a:xfrm>
            <a:off x="457200" y="5740400"/>
            <a:ext cx="5943600" cy="571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text-16"/>
          <p:cNvSpPr txBox="1"/>
          <p:nvPr/>
        </p:nvSpPr>
        <p:spPr>
          <a:xfrm>
            <a:off x="622300" y="5854700"/>
            <a:ext cx="11442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thine</a:t>
            </a:r>
            <a:endParaRPr lang="en-US" sz="2700" dirty="0"/>
          </a:p>
        </p:txBody>
      </p:sp>
      <p:sp>
        <p:nvSpPr>
          <p:cNvPr id="18" name="text-17"/>
          <p:cNvSpPr txBox="1"/>
          <p:nvPr/>
        </p:nvSpPr>
        <p:spPr>
          <a:xfrm>
            <a:off x="1828800" y="5918200"/>
            <a:ext cx="11442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как an</a:t>
            </a:r>
            <a:endParaRPr lang="en-US" sz="1400" dirty="0"/>
          </a:p>
        </p:txBody>
      </p:sp>
      <p:sp>
        <p:nvSpPr>
          <p:cNvPr id="19" name="text-18"/>
          <p:cNvSpPr txBox="1"/>
          <p:nvPr/>
        </p:nvSpPr>
        <p:spPr>
          <a:xfrm>
            <a:off x="3035300" y="5930850"/>
            <a:ext cx="33924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перед гласной: </a:t>
            </a:r>
            <a:pPr algn="l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thine eyes, thine honour</a:t>
            </a:r>
            <a:endParaRPr lang="en-US" sz="1150" dirty="0"/>
          </a:p>
        </p:txBody>
      </p:sp>
      <p:sp>
        <p:nvSpPr>
          <p:cNvPr id="20" name="shape-19"/>
          <p:cNvSpPr/>
          <p:nvPr/>
        </p:nvSpPr>
        <p:spPr>
          <a:xfrm>
            <a:off x="457200" y="6400800"/>
            <a:ext cx="5943600" cy="571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1" name="text-20"/>
          <p:cNvSpPr txBox="1"/>
          <p:nvPr/>
        </p:nvSpPr>
        <p:spPr>
          <a:xfrm>
            <a:off x="622300" y="6515100"/>
            <a:ext cx="11442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thine</a:t>
            </a:r>
            <a:endParaRPr lang="en-US" sz="2700" dirty="0"/>
          </a:p>
        </p:txBody>
      </p:sp>
      <p:sp>
        <p:nvSpPr>
          <p:cNvPr id="22" name="text-21"/>
          <p:cNvSpPr txBox="1"/>
          <p:nvPr/>
        </p:nvSpPr>
        <p:spPr>
          <a:xfrm>
            <a:off x="1828800" y="6578600"/>
            <a:ext cx="11442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как mine</a:t>
            </a:r>
            <a:endParaRPr lang="en-US" sz="1400" dirty="0"/>
          </a:p>
        </p:txBody>
      </p:sp>
      <p:sp>
        <p:nvSpPr>
          <p:cNvPr id="23" name="text-22"/>
          <p:cNvSpPr txBox="1"/>
          <p:nvPr/>
        </p:nvSpPr>
        <p:spPr>
          <a:xfrm>
            <a:off x="3035300" y="6591250"/>
            <a:ext cx="33924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без существительного: </a:t>
            </a:r>
            <a:pPr algn="l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fault is thine.</a:t>
            </a:r>
            <a:endParaRPr lang="en-US" sz="1150" dirty="0"/>
          </a:p>
        </p:txBody>
      </p:sp>
      <p:sp>
        <p:nvSpPr>
          <p:cNvPr id="24" name="text-23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5" name="shape-24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6" name="text-25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7" name="svg-2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200" y="406400"/>
            <a:ext cx="32766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7400" y="482600"/>
            <a:ext cx="2988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WHENCE И КОМПАНИЯ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Где, куда,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откуда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1706066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Одна таблица на все случаи. Окончание подсказывает направление.</a:t>
            </a:r>
            <a:endParaRPr lang="en-US" sz="1500" dirty="0"/>
          </a:p>
        </p:txBody>
      </p:sp>
      <p:sp>
        <p:nvSpPr>
          <p:cNvPr id="8" name="text-7"/>
          <p:cNvSpPr txBox="1"/>
          <p:nvPr/>
        </p:nvSpPr>
        <p:spPr>
          <a:xfrm>
            <a:off x="1626642" y="2667000"/>
            <a:ext cx="16221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ГДЕ</a:t>
            </a:r>
            <a:endParaRPr lang="en-US" sz="1000" dirty="0"/>
          </a:p>
        </p:txBody>
      </p:sp>
      <p:sp>
        <p:nvSpPr>
          <p:cNvPr id="9" name="text-8"/>
          <p:cNvSpPr txBox="1"/>
          <p:nvPr/>
        </p:nvSpPr>
        <p:spPr>
          <a:xfrm>
            <a:off x="3247975" y="2667000"/>
            <a:ext cx="16221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КУДА · -ITHER</a:t>
            </a:r>
            <a:endParaRPr lang="en-US" sz="1000" dirty="0"/>
          </a:p>
        </p:txBody>
      </p:sp>
      <p:sp>
        <p:nvSpPr>
          <p:cNvPr id="10" name="text-9"/>
          <p:cNvSpPr txBox="1"/>
          <p:nvPr/>
        </p:nvSpPr>
        <p:spPr>
          <a:xfrm>
            <a:off x="4869309" y="2667000"/>
            <a:ext cx="16221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ОТКУДА · -ENCE</a:t>
            </a:r>
            <a:endParaRPr lang="en-US" sz="1000" dirty="0"/>
          </a:p>
        </p:txBody>
      </p:sp>
      <p:sp>
        <p:nvSpPr>
          <p:cNvPr id="11" name="text-10"/>
          <p:cNvSpPr txBox="1"/>
          <p:nvPr/>
        </p:nvSpPr>
        <p:spPr>
          <a:xfrm>
            <a:off x="457200" y="3260725"/>
            <a:ext cx="11442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здесь</a:t>
            </a:r>
            <a:endParaRPr lang="en-US" sz="1300" dirty="0"/>
          </a:p>
        </p:txBody>
      </p:sp>
      <p:sp>
        <p:nvSpPr>
          <p:cNvPr id="12" name="shape-11"/>
          <p:cNvSpPr/>
          <p:nvPr/>
        </p:nvSpPr>
        <p:spPr>
          <a:xfrm>
            <a:off x="1626642" y="2965450"/>
            <a:ext cx="1530350" cy="806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3" name="text-12"/>
          <p:cNvSpPr txBox="1"/>
          <p:nvPr/>
        </p:nvSpPr>
        <p:spPr>
          <a:xfrm>
            <a:off x="1740942" y="3092450"/>
            <a:ext cx="13798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here</a:t>
            </a:r>
            <a:endParaRPr lang="en-US" sz="2400" dirty="0"/>
          </a:p>
        </p:txBody>
      </p:sp>
      <p:sp>
        <p:nvSpPr>
          <p:cNvPr id="14" name="text-13"/>
          <p:cNvSpPr txBox="1"/>
          <p:nvPr/>
        </p:nvSpPr>
        <p:spPr>
          <a:xfrm>
            <a:off x="1740942" y="3448050"/>
            <a:ext cx="137985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здесь</a:t>
            </a:r>
            <a:endParaRPr lang="en-US" sz="1200" dirty="0"/>
          </a:p>
        </p:txBody>
      </p:sp>
      <p:sp>
        <p:nvSpPr>
          <p:cNvPr id="15" name="shape-14"/>
          <p:cNvSpPr/>
          <p:nvPr/>
        </p:nvSpPr>
        <p:spPr>
          <a:xfrm>
            <a:off x="3247975" y="2965450"/>
            <a:ext cx="1530350" cy="806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6" name="text-15"/>
          <p:cNvSpPr txBox="1"/>
          <p:nvPr/>
        </p:nvSpPr>
        <p:spPr>
          <a:xfrm>
            <a:off x="3362275" y="3092450"/>
            <a:ext cx="13798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hither</a:t>
            </a:r>
            <a:endParaRPr lang="en-US" sz="2400" dirty="0"/>
          </a:p>
        </p:txBody>
      </p:sp>
      <p:sp>
        <p:nvSpPr>
          <p:cNvPr id="17" name="text-16"/>
          <p:cNvSpPr txBox="1"/>
          <p:nvPr/>
        </p:nvSpPr>
        <p:spPr>
          <a:xfrm>
            <a:off x="3362275" y="3448050"/>
            <a:ext cx="137985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сюда</a:t>
            </a:r>
            <a:endParaRPr lang="en-US" sz="1200" dirty="0"/>
          </a:p>
        </p:txBody>
      </p:sp>
      <p:sp>
        <p:nvSpPr>
          <p:cNvPr id="18" name="shape-17"/>
          <p:cNvSpPr/>
          <p:nvPr/>
        </p:nvSpPr>
        <p:spPr>
          <a:xfrm>
            <a:off x="4869309" y="2965450"/>
            <a:ext cx="1530350" cy="80645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9" name="text-18"/>
          <p:cNvSpPr txBox="1"/>
          <p:nvPr/>
        </p:nvSpPr>
        <p:spPr>
          <a:xfrm>
            <a:off x="4983609" y="3092450"/>
            <a:ext cx="13798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hence</a:t>
            </a:r>
            <a:endParaRPr lang="en-US" sz="2400" dirty="0"/>
          </a:p>
        </p:txBody>
      </p:sp>
      <p:sp>
        <p:nvSpPr>
          <p:cNvPr id="20" name="text-19"/>
          <p:cNvSpPr txBox="1"/>
          <p:nvPr/>
        </p:nvSpPr>
        <p:spPr>
          <a:xfrm>
            <a:off x="4983609" y="3448050"/>
            <a:ext cx="137985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AF8F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отсюда</a:t>
            </a:r>
            <a:endParaRPr lang="en-US" sz="1200" dirty="0"/>
          </a:p>
        </p:txBody>
      </p:sp>
      <p:sp>
        <p:nvSpPr>
          <p:cNvPr id="21" name="text-20"/>
          <p:cNvSpPr txBox="1"/>
          <p:nvPr/>
        </p:nvSpPr>
        <p:spPr>
          <a:xfrm>
            <a:off x="457200" y="4156075"/>
            <a:ext cx="11442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там</a:t>
            </a:r>
            <a:endParaRPr lang="en-US" sz="1300" dirty="0"/>
          </a:p>
        </p:txBody>
      </p:sp>
      <p:sp>
        <p:nvSpPr>
          <p:cNvPr id="22" name="shape-21"/>
          <p:cNvSpPr/>
          <p:nvPr/>
        </p:nvSpPr>
        <p:spPr>
          <a:xfrm>
            <a:off x="1626642" y="3860800"/>
            <a:ext cx="1530350" cy="806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3" name="text-22"/>
          <p:cNvSpPr txBox="1"/>
          <p:nvPr/>
        </p:nvSpPr>
        <p:spPr>
          <a:xfrm>
            <a:off x="1740942" y="3987800"/>
            <a:ext cx="13798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there</a:t>
            </a:r>
            <a:endParaRPr lang="en-US" sz="2400" dirty="0"/>
          </a:p>
        </p:txBody>
      </p:sp>
      <p:sp>
        <p:nvSpPr>
          <p:cNvPr id="24" name="text-23"/>
          <p:cNvSpPr txBox="1"/>
          <p:nvPr/>
        </p:nvSpPr>
        <p:spPr>
          <a:xfrm>
            <a:off x="1740942" y="4343400"/>
            <a:ext cx="137985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там</a:t>
            </a:r>
            <a:endParaRPr lang="en-US" sz="1200" dirty="0"/>
          </a:p>
        </p:txBody>
      </p:sp>
      <p:sp>
        <p:nvSpPr>
          <p:cNvPr id="25" name="shape-24"/>
          <p:cNvSpPr/>
          <p:nvPr/>
        </p:nvSpPr>
        <p:spPr>
          <a:xfrm>
            <a:off x="3247975" y="3860800"/>
            <a:ext cx="1530350" cy="806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6" name="text-25"/>
          <p:cNvSpPr txBox="1"/>
          <p:nvPr/>
        </p:nvSpPr>
        <p:spPr>
          <a:xfrm>
            <a:off x="3362275" y="3987800"/>
            <a:ext cx="13798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thither</a:t>
            </a:r>
            <a:endParaRPr lang="en-US" sz="2400" dirty="0"/>
          </a:p>
        </p:txBody>
      </p:sp>
      <p:sp>
        <p:nvSpPr>
          <p:cNvPr id="27" name="text-26"/>
          <p:cNvSpPr txBox="1"/>
          <p:nvPr/>
        </p:nvSpPr>
        <p:spPr>
          <a:xfrm>
            <a:off x="3362275" y="4343400"/>
            <a:ext cx="137985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туда</a:t>
            </a:r>
            <a:endParaRPr lang="en-US" sz="1200" dirty="0"/>
          </a:p>
        </p:txBody>
      </p:sp>
      <p:sp>
        <p:nvSpPr>
          <p:cNvPr id="28" name="shape-27"/>
          <p:cNvSpPr/>
          <p:nvPr/>
        </p:nvSpPr>
        <p:spPr>
          <a:xfrm>
            <a:off x="4869309" y="3860800"/>
            <a:ext cx="1530350" cy="80645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9" name="text-28"/>
          <p:cNvSpPr txBox="1"/>
          <p:nvPr/>
        </p:nvSpPr>
        <p:spPr>
          <a:xfrm>
            <a:off x="4983609" y="3987800"/>
            <a:ext cx="13798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thence</a:t>
            </a:r>
            <a:endParaRPr lang="en-US" sz="2400" dirty="0"/>
          </a:p>
        </p:txBody>
      </p:sp>
      <p:sp>
        <p:nvSpPr>
          <p:cNvPr id="30" name="text-29"/>
          <p:cNvSpPr txBox="1"/>
          <p:nvPr/>
        </p:nvSpPr>
        <p:spPr>
          <a:xfrm>
            <a:off x="4983609" y="4343400"/>
            <a:ext cx="137985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AF8F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оттуда</a:t>
            </a:r>
            <a:endParaRPr lang="en-US" sz="1200" dirty="0"/>
          </a:p>
        </p:txBody>
      </p:sp>
      <p:sp>
        <p:nvSpPr>
          <p:cNvPr id="31" name="text-30"/>
          <p:cNvSpPr txBox="1"/>
          <p:nvPr/>
        </p:nvSpPr>
        <p:spPr>
          <a:xfrm>
            <a:off x="457200" y="5051425"/>
            <a:ext cx="11442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вопрос</a:t>
            </a:r>
            <a:endParaRPr lang="en-US" sz="1300" dirty="0"/>
          </a:p>
        </p:txBody>
      </p:sp>
      <p:sp>
        <p:nvSpPr>
          <p:cNvPr id="32" name="shape-31"/>
          <p:cNvSpPr/>
          <p:nvPr/>
        </p:nvSpPr>
        <p:spPr>
          <a:xfrm>
            <a:off x="1626642" y="4756150"/>
            <a:ext cx="1530350" cy="806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33" name="text-32"/>
          <p:cNvSpPr txBox="1"/>
          <p:nvPr/>
        </p:nvSpPr>
        <p:spPr>
          <a:xfrm>
            <a:off x="1740942" y="4883150"/>
            <a:ext cx="13798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where</a:t>
            </a:r>
            <a:endParaRPr lang="en-US" sz="2400" dirty="0"/>
          </a:p>
        </p:txBody>
      </p:sp>
      <p:sp>
        <p:nvSpPr>
          <p:cNvPr id="34" name="text-33"/>
          <p:cNvSpPr txBox="1"/>
          <p:nvPr/>
        </p:nvSpPr>
        <p:spPr>
          <a:xfrm>
            <a:off x="1740942" y="5238750"/>
            <a:ext cx="137985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где</a:t>
            </a:r>
            <a:endParaRPr lang="en-US" sz="1200" dirty="0"/>
          </a:p>
        </p:txBody>
      </p:sp>
      <p:sp>
        <p:nvSpPr>
          <p:cNvPr id="35" name="shape-34"/>
          <p:cNvSpPr/>
          <p:nvPr/>
        </p:nvSpPr>
        <p:spPr>
          <a:xfrm>
            <a:off x="3247975" y="4756150"/>
            <a:ext cx="1530350" cy="806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36" name="text-35"/>
          <p:cNvSpPr txBox="1"/>
          <p:nvPr/>
        </p:nvSpPr>
        <p:spPr>
          <a:xfrm>
            <a:off x="3362275" y="4883150"/>
            <a:ext cx="13798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whither</a:t>
            </a:r>
            <a:endParaRPr lang="en-US" sz="2400" dirty="0"/>
          </a:p>
        </p:txBody>
      </p:sp>
      <p:sp>
        <p:nvSpPr>
          <p:cNvPr id="37" name="text-36"/>
          <p:cNvSpPr txBox="1"/>
          <p:nvPr/>
        </p:nvSpPr>
        <p:spPr>
          <a:xfrm>
            <a:off x="3362275" y="5238750"/>
            <a:ext cx="137985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куда</a:t>
            </a:r>
            <a:endParaRPr lang="en-US" sz="1200" dirty="0"/>
          </a:p>
        </p:txBody>
      </p:sp>
      <p:sp>
        <p:nvSpPr>
          <p:cNvPr id="38" name="shape-37"/>
          <p:cNvSpPr/>
          <p:nvPr/>
        </p:nvSpPr>
        <p:spPr>
          <a:xfrm>
            <a:off x="4869309" y="4756150"/>
            <a:ext cx="1530350" cy="80645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39" name="text-38"/>
          <p:cNvSpPr txBox="1"/>
          <p:nvPr/>
        </p:nvSpPr>
        <p:spPr>
          <a:xfrm>
            <a:off x="4983609" y="4883150"/>
            <a:ext cx="13798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whence</a:t>
            </a:r>
            <a:endParaRPr lang="en-US" sz="2400" dirty="0"/>
          </a:p>
        </p:txBody>
      </p:sp>
      <p:sp>
        <p:nvSpPr>
          <p:cNvPr id="40" name="text-39"/>
          <p:cNvSpPr txBox="1"/>
          <p:nvPr/>
        </p:nvSpPr>
        <p:spPr>
          <a:xfrm>
            <a:off x="4983609" y="5238750"/>
            <a:ext cx="137985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AF8F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откуда</a:t>
            </a:r>
            <a:endParaRPr lang="en-US" sz="1200" dirty="0"/>
          </a:p>
        </p:txBody>
      </p:sp>
      <p:sp>
        <p:nvSpPr>
          <p:cNvPr id="41" name="text-40"/>
          <p:cNvSpPr txBox="1"/>
          <p:nvPr/>
        </p:nvSpPr>
        <p:spPr>
          <a:xfrm rot="-120000">
            <a:off x="457200" y="6413302"/>
            <a:ext cx="6300216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«from whence» тоже встречается, хотя from там лишнее</a:t>
            </a:r>
            <a:endParaRPr lang="en-US" sz="1800" dirty="0"/>
          </a:p>
        </p:txBody>
      </p:sp>
      <p:sp>
        <p:nvSpPr>
          <p:cNvPr id="42" name="text-41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43" name="shape-42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44" name="text-43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45" name="svg-4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36512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33856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WHEREFORE И ГДЕ-СЛОВА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Ловушки: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wherefore</a:t>
            </a:r>
            <a:endParaRPr lang="en-US" sz="4200" dirty="0"/>
          </a:p>
        </p:txBody>
      </p:sp>
      <p:sp>
        <p:nvSpPr>
          <p:cNvPr id="7" name="shape-6"/>
          <p:cNvSpPr/>
          <p:nvPr/>
        </p:nvSpPr>
        <p:spPr>
          <a:xfrm rot="84000">
            <a:off x="457200" y="2539157"/>
            <a:ext cx="5943600" cy="1695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8" name="shape-7"/>
          <p:cNvSpPr/>
          <p:nvPr/>
        </p:nvSpPr>
        <p:spPr>
          <a:xfrm rot="-96000">
            <a:off x="2972820" y="2425945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9" name="text-8"/>
          <p:cNvSpPr txBox="1"/>
          <p:nvPr/>
        </p:nvSpPr>
        <p:spPr>
          <a:xfrm rot="84000">
            <a:off x="742758" y="2795167"/>
            <a:ext cx="5707888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O Romeo, Romeo! </a:t>
            </a:r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Wherefore</a:t>
            </a:r>
            <a:pPr algn="l" indent="0" marL="0">
              <a:lnSpc>
                <a:spcPts val="268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art thou Romeo?</a:t>
            </a:r>
            <a:endParaRPr lang="en-US" sz="2200" dirty="0"/>
          </a:p>
        </p:txBody>
      </p:sp>
      <p:sp>
        <p:nvSpPr>
          <p:cNvPr id="10" name="text-9"/>
          <p:cNvSpPr txBox="1"/>
          <p:nvPr/>
        </p:nvSpPr>
        <p:spPr>
          <a:xfrm rot="84000">
            <a:off x="730786" y="3551762"/>
            <a:ext cx="570788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9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ШЕКСПИР · «РОМЕО И ДЖУЛЬЕТТА»</a:t>
            </a:r>
            <a:endParaRPr lang="en-US" sz="900" dirty="0"/>
          </a:p>
        </p:txBody>
      </p:sp>
      <p:sp>
        <p:nvSpPr>
          <p:cNvPr id="11" name="text-10"/>
          <p:cNvSpPr txBox="1"/>
          <p:nvPr/>
        </p:nvSpPr>
        <p:spPr>
          <a:xfrm rot="84000">
            <a:off x="724007" y="3787869"/>
            <a:ext cx="5707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Не «где ты», а «почему ты Ромео». Wherefore значит why.</a:t>
            </a:r>
            <a:endParaRPr lang="en-US" sz="1300" dirty="0"/>
          </a:p>
        </p:txBody>
      </p:sp>
      <p:sp>
        <p:nvSpPr>
          <p:cNvPr id="12" name="shape-11"/>
          <p:cNvSpPr/>
          <p:nvPr/>
        </p:nvSpPr>
        <p:spPr>
          <a:xfrm>
            <a:off x="457200" y="4698305"/>
            <a:ext cx="2927350" cy="8191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3" name="text-12"/>
          <p:cNvSpPr txBox="1"/>
          <p:nvPr/>
        </p:nvSpPr>
        <p:spPr>
          <a:xfrm>
            <a:off x="595313" y="4974530"/>
            <a:ext cx="13394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hence</a:t>
            </a:r>
            <a:endParaRPr lang="en-US" sz="2100" dirty="0"/>
          </a:p>
        </p:txBody>
      </p:sp>
      <p:sp>
        <p:nvSpPr>
          <p:cNvPr id="14" name="text-13"/>
          <p:cNvSpPr txBox="1"/>
          <p:nvPr/>
        </p:nvSpPr>
        <p:spPr>
          <a:xfrm>
            <a:off x="1982788" y="4787205"/>
            <a:ext cx="1339469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поэтому; через: two days hence</a:t>
            </a:r>
            <a:endParaRPr lang="en-US" sz="1400" dirty="0"/>
          </a:p>
        </p:txBody>
      </p:sp>
      <p:sp>
        <p:nvSpPr>
          <p:cNvPr id="15" name="shape-14"/>
          <p:cNvSpPr/>
          <p:nvPr/>
        </p:nvSpPr>
        <p:spPr>
          <a:xfrm>
            <a:off x="3473450" y="4698305"/>
            <a:ext cx="2927350" cy="8191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6" name="text-15"/>
          <p:cNvSpPr txBox="1"/>
          <p:nvPr/>
        </p:nvSpPr>
        <p:spPr>
          <a:xfrm>
            <a:off x="3611563" y="4974530"/>
            <a:ext cx="13394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wherein</a:t>
            </a:r>
            <a:endParaRPr lang="en-US" sz="2100" dirty="0"/>
          </a:p>
        </p:txBody>
      </p:sp>
      <p:sp>
        <p:nvSpPr>
          <p:cNvPr id="17" name="text-16"/>
          <p:cNvSpPr txBox="1"/>
          <p:nvPr/>
        </p:nvSpPr>
        <p:spPr>
          <a:xfrm>
            <a:off x="4999038" y="4999930"/>
            <a:ext cx="133946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в котором</a:t>
            </a:r>
            <a:endParaRPr lang="en-US" sz="1400" dirty="0"/>
          </a:p>
        </p:txBody>
      </p:sp>
      <p:sp>
        <p:nvSpPr>
          <p:cNvPr id="18" name="shape-17"/>
          <p:cNvSpPr/>
          <p:nvPr/>
        </p:nvSpPr>
        <p:spPr>
          <a:xfrm>
            <a:off x="457200" y="5606256"/>
            <a:ext cx="2927350" cy="6032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9" name="text-18"/>
          <p:cNvSpPr txBox="1"/>
          <p:nvPr/>
        </p:nvSpPr>
        <p:spPr>
          <a:xfrm>
            <a:off x="595313" y="5774531"/>
            <a:ext cx="13394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whereby</a:t>
            </a:r>
            <a:endParaRPr lang="en-US" sz="2100" dirty="0"/>
          </a:p>
        </p:txBody>
      </p:sp>
      <p:sp>
        <p:nvSpPr>
          <p:cNvPr id="20" name="text-19"/>
          <p:cNvSpPr txBox="1"/>
          <p:nvPr/>
        </p:nvSpPr>
        <p:spPr>
          <a:xfrm>
            <a:off x="1982788" y="5695156"/>
            <a:ext cx="1339469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посредством чего</a:t>
            </a:r>
            <a:endParaRPr lang="en-US" sz="1400" dirty="0"/>
          </a:p>
        </p:txBody>
      </p:sp>
      <p:sp>
        <p:nvSpPr>
          <p:cNvPr id="21" name="shape-20"/>
          <p:cNvSpPr/>
          <p:nvPr/>
        </p:nvSpPr>
        <p:spPr>
          <a:xfrm>
            <a:off x="3473450" y="5606256"/>
            <a:ext cx="2927350" cy="6032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2" name="text-21"/>
          <p:cNvSpPr txBox="1"/>
          <p:nvPr/>
        </p:nvSpPr>
        <p:spPr>
          <a:xfrm>
            <a:off x="3614291" y="5774531"/>
            <a:ext cx="13596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whereupon</a:t>
            </a:r>
            <a:endParaRPr lang="en-US" sz="2100" dirty="0"/>
          </a:p>
        </p:txBody>
      </p:sp>
      <p:sp>
        <p:nvSpPr>
          <p:cNvPr id="23" name="text-22"/>
          <p:cNvSpPr txBox="1"/>
          <p:nvPr/>
        </p:nvSpPr>
        <p:spPr>
          <a:xfrm>
            <a:off x="5023991" y="5799931"/>
            <a:ext cx="13125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после чего</a:t>
            </a:r>
            <a:endParaRPr lang="en-US" sz="1400" dirty="0"/>
          </a:p>
        </p:txBody>
      </p:sp>
      <p:sp>
        <p:nvSpPr>
          <p:cNvPr id="24" name="shape-23"/>
          <p:cNvSpPr/>
          <p:nvPr/>
        </p:nvSpPr>
        <p:spPr>
          <a:xfrm>
            <a:off x="457200" y="6299597"/>
            <a:ext cx="2927350" cy="6032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5" name="text-24"/>
          <p:cNvSpPr txBox="1"/>
          <p:nvPr/>
        </p:nvSpPr>
        <p:spPr>
          <a:xfrm>
            <a:off x="595313" y="6467872"/>
            <a:ext cx="13394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thereof</a:t>
            </a:r>
            <a:endParaRPr lang="en-US" sz="2100" dirty="0"/>
          </a:p>
        </p:txBody>
      </p:sp>
      <p:sp>
        <p:nvSpPr>
          <p:cNvPr id="26" name="text-25"/>
          <p:cNvSpPr txBox="1"/>
          <p:nvPr/>
        </p:nvSpPr>
        <p:spPr>
          <a:xfrm>
            <a:off x="1982788" y="6388497"/>
            <a:ext cx="1339469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этого, из этого</a:t>
            </a:r>
            <a:endParaRPr lang="en-US" sz="1400" dirty="0"/>
          </a:p>
        </p:txBody>
      </p:sp>
      <p:sp>
        <p:nvSpPr>
          <p:cNvPr id="27" name="shape-26"/>
          <p:cNvSpPr/>
          <p:nvPr/>
        </p:nvSpPr>
        <p:spPr>
          <a:xfrm>
            <a:off x="3473450" y="6299597"/>
            <a:ext cx="2927350" cy="6032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8" name="text-27"/>
          <p:cNvSpPr txBox="1"/>
          <p:nvPr/>
        </p:nvSpPr>
        <p:spPr>
          <a:xfrm>
            <a:off x="3611563" y="6467872"/>
            <a:ext cx="13394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hereafter</a:t>
            </a:r>
            <a:endParaRPr lang="en-US" sz="2100" dirty="0"/>
          </a:p>
        </p:txBody>
      </p:sp>
      <p:sp>
        <p:nvSpPr>
          <p:cNvPr id="29" name="text-28"/>
          <p:cNvSpPr txBox="1"/>
          <p:nvPr/>
        </p:nvSpPr>
        <p:spPr>
          <a:xfrm>
            <a:off x="4999038" y="6493272"/>
            <a:ext cx="133946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в будущем</a:t>
            </a:r>
            <a:endParaRPr lang="en-US" sz="1400" dirty="0"/>
          </a:p>
        </p:txBody>
      </p:sp>
      <p:sp>
        <p:nvSpPr>
          <p:cNvPr id="30" name="text-29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1" name="shape-30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2" name="text-31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3" name="svg-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200" y="406400"/>
            <a:ext cx="28067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7400" y="482600"/>
            <a:ext cx="2490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МЕЛКИЕ СЛОВА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коротких</a:t>
            </a:r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слов</a:t>
            </a:r>
            <a:endParaRPr lang="en-US" sz="4200" dirty="0"/>
          </a:p>
        </p:txBody>
      </p:sp>
      <p:sp>
        <p:nvSpPr>
          <p:cNvPr id="7" name="shape-6"/>
          <p:cNvSpPr/>
          <p:nvPr/>
        </p:nvSpPr>
        <p:spPr>
          <a:xfrm rot="-60000">
            <a:off x="458242" y="2539355"/>
            <a:ext cx="1911350" cy="831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8" name="text-7"/>
          <p:cNvSpPr txBox="1"/>
          <p:nvPr/>
        </p:nvSpPr>
        <p:spPr>
          <a:xfrm rot="-60000">
            <a:off x="595903" y="2679718"/>
            <a:ext cx="172986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ere</a:t>
            </a:r>
            <a:endParaRPr lang="en-US" sz="2500" dirty="0"/>
          </a:p>
        </p:txBody>
      </p:sp>
      <p:sp>
        <p:nvSpPr>
          <p:cNvPr id="9" name="text-8"/>
          <p:cNvSpPr txBox="1"/>
          <p:nvPr/>
        </p:nvSpPr>
        <p:spPr>
          <a:xfrm rot="-60000">
            <a:off x="601156" y="3047327"/>
            <a:ext cx="1729867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до, прежде чем</a:t>
            </a:r>
            <a:endParaRPr lang="en-US" sz="1200" dirty="0"/>
          </a:p>
        </p:txBody>
      </p:sp>
      <p:sp>
        <p:nvSpPr>
          <p:cNvPr id="10" name="shape-9"/>
          <p:cNvSpPr/>
          <p:nvPr/>
        </p:nvSpPr>
        <p:spPr>
          <a:xfrm rot="60000">
            <a:off x="2473275" y="2539355"/>
            <a:ext cx="1911350" cy="831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1" name="text-10"/>
          <p:cNvSpPr txBox="1"/>
          <p:nvPr/>
        </p:nvSpPr>
        <p:spPr>
          <a:xfrm rot="60000">
            <a:off x="2615014" y="2679718"/>
            <a:ext cx="172986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lest</a:t>
            </a:r>
            <a:endParaRPr lang="en-US" sz="2500" dirty="0"/>
          </a:p>
        </p:txBody>
      </p:sp>
      <p:sp>
        <p:nvSpPr>
          <p:cNvPr id="12" name="text-11"/>
          <p:cNvSpPr txBox="1"/>
          <p:nvPr/>
        </p:nvSpPr>
        <p:spPr>
          <a:xfrm rot="60000">
            <a:off x="2609762" y="3047327"/>
            <a:ext cx="1729867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чтобы не</a:t>
            </a:r>
            <a:endParaRPr lang="en-US" sz="1200" dirty="0"/>
          </a:p>
        </p:txBody>
      </p:sp>
      <p:sp>
        <p:nvSpPr>
          <p:cNvPr id="13" name="shape-12"/>
          <p:cNvSpPr/>
          <p:nvPr/>
        </p:nvSpPr>
        <p:spPr>
          <a:xfrm rot="-60000">
            <a:off x="4488359" y="2539355"/>
            <a:ext cx="1911350" cy="831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4" name="text-13"/>
          <p:cNvSpPr txBox="1"/>
          <p:nvPr/>
        </p:nvSpPr>
        <p:spPr>
          <a:xfrm rot="-60000">
            <a:off x="4626020" y="2679718"/>
            <a:ext cx="172986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whilst</a:t>
            </a:r>
            <a:endParaRPr lang="en-US" sz="2500" dirty="0"/>
          </a:p>
        </p:txBody>
      </p:sp>
      <p:sp>
        <p:nvSpPr>
          <p:cNvPr id="15" name="text-14"/>
          <p:cNvSpPr txBox="1"/>
          <p:nvPr/>
        </p:nvSpPr>
        <p:spPr>
          <a:xfrm rot="-60000">
            <a:off x="4631272" y="3047327"/>
            <a:ext cx="1729867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пока, тогда как</a:t>
            </a:r>
            <a:endParaRPr lang="en-US" sz="1200" dirty="0"/>
          </a:p>
        </p:txBody>
      </p:sp>
      <p:sp>
        <p:nvSpPr>
          <p:cNvPr id="16" name="shape-15"/>
          <p:cNvSpPr/>
          <p:nvPr/>
        </p:nvSpPr>
        <p:spPr>
          <a:xfrm rot="60000">
            <a:off x="458242" y="3471515"/>
            <a:ext cx="1911350" cy="831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text-16"/>
          <p:cNvSpPr txBox="1"/>
          <p:nvPr/>
        </p:nvSpPr>
        <p:spPr>
          <a:xfrm rot="60000">
            <a:off x="599981" y="3611878"/>
            <a:ext cx="172986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betwixt</a:t>
            </a:r>
            <a:endParaRPr lang="en-US" sz="2500" dirty="0"/>
          </a:p>
        </p:txBody>
      </p:sp>
      <p:sp>
        <p:nvSpPr>
          <p:cNvPr id="18" name="text-17"/>
          <p:cNvSpPr txBox="1"/>
          <p:nvPr/>
        </p:nvSpPr>
        <p:spPr>
          <a:xfrm rot="60000">
            <a:off x="594728" y="3979487"/>
            <a:ext cx="1729867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между</a:t>
            </a:r>
            <a:endParaRPr lang="en-US" sz="1200" dirty="0"/>
          </a:p>
        </p:txBody>
      </p:sp>
      <p:sp>
        <p:nvSpPr>
          <p:cNvPr id="19" name="shape-18"/>
          <p:cNvSpPr/>
          <p:nvPr/>
        </p:nvSpPr>
        <p:spPr>
          <a:xfrm rot="-60000">
            <a:off x="2473275" y="3471515"/>
            <a:ext cx="1911350" cy="831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0" name="text-19"/>
          <p:cNvSpPr txBox="1"/>
          <p:nvPr/>
        </p:nvSpPr>
        <p:spPr>
          <a:xfrm rot="-60000">
            <a:off x="2610936" y="3611878"/>
            <a:ext cx="172986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albeit</a:t>
            </a:r>
            <a:endParaRPr lang="en-US" sz="2500" dirty="0"/>
          </a:p>
        </p:txBody>
      </p:sp>
      <p:sp>
        <p:nvSpPr>
          <p:cNvPr id="21" name="text-20"/>
          <p:cNvSpPr txBox="1"/>
          <p:nvPr/>
        </p:nvSpPr>
        <p:spPr>
          <a:xfrm rot="-60000">
            <a:off x="2616189" y="3979487"/>
            <a:ext cx="1729867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хотя</a:t>
            </a:r>
            <a:endParaRPr lang="en-US" sz="1200" dirty="0"/>
          </a:p>
        </p:txBody>
      </p:sp>
      <p:sp>
        <p:nvSpPr>
          <p:cNvPr id="22" name="shape-21"/>
          <p:cNvSpPr/>
          <p:nvPr/>
        </p:nvSpPr>
        <p:spPr>
          <a:xfrm rot="60000">
            <a:off x="4488359" y="3471515"/>
            <a:ext cx="1911350" cy="831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3" name="text-22"/>
          <p:cNvSpPr txBox="1"/>
          <p:nvPr/>
        </p:nvSpPr>
        <p:spPr>
          <a:xfrm rot="60000">
            <a:off x="4630097" y="3611878"/>
            <a:ext cx="172986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anon</a:t>
            </a:r>
            <a:endParaRPr lang="en-US" sz="2500" dirty="0"/>
          </a:p>
        </p:txBody>
      </p:sp>
      <p:sp>
        <p:nvSpPr>
          <p:cNvPr id="24" name="text-23"/>
          <p:cNvSpPr txBox="1"/>
          <p:nvPr/>
        </p:nvSpPr>
        <p:spPr>
          <a:xfrm rot="60000">
            <a:off x="4624845" y="3979487"/>
            <a:ext cx="1729867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вскоре</a:t>
            </a:r>
            <a:endParaRPr lang="en-US" sz="1200" dirty="0"/>
          </a:p>
        </p:txBody>
      </p:sp>
      <p:sp>
        <p:nvSpPr>
          <p:cNvPr id="25" name="shape-24"/>
          <p:cNvSpPr/>
          <p:nvPr/>
        </p:nvSpPr>
        <p:spPr>
          <a:xfrm rot="-60000">
            <a:off x="458242" y="4403675"/>
            <a:ext cx="1911350" cy="831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6" name="text-25"/>
          <p:cNvSpPr txBox="1"/>
          <p:nvPr/>
        </p:nvSpPr>
        <p:spPr>
          <a:xfrm rot="-60000">
            <a:off x="595903" y="4544038"/>
            <a:ext cx="172986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nay</a:t>
            </a:r>
            <a:endParaRPr lang="en-US" sz="2500" dirty="0"/>
          </a:p>
        </p:txBody>
      </p:sp>
      <p:sp>
        <p:nvSpPr>
          <p:cNvPr id="27" name="text-26"/>
          <p:cNvSpPr txBox="1"/>
          <p:nvPr/>
        </p:nvSpPr>
        <p:spPr>
          <a:xfrm rot="-60000">
            <a:off x="601156" y="4911647"/>
            <a:ext cx="1729867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нет</a:t>
            </a:r>
            <a:endParaRPr lang="en-US" sz="1200" dirty="0"/>
          </a:p>
        </p:txBody>
      </p:sp>
      <p:sp>
        <p:nvSpPr>
          <p:cNvPr id="28" name="shape-27"/>
          <p:cNvSpPr/>
          <p:nvPr/>
        </p:nvSpPr>
        <p:spPr>
          <a:xfrm rot="60000">
            <a:off x="2473275" y="4403675"/>
            <a:ext cx="1911350" cy="831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9" name="text-28"/>
          <p:cNvSpPr txBox="1"/>
          <p:nvPr/>
        </p:nvSpPr>
        <p:spPr>
          <a:xfrm rot="60000">
            <a:off x="2615014" y="4544038"/>
            <a:ext cx="172986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aye</a:t>
            </a:r>
            <a:endParaRPr lang="en-US" sz="2500" dirty="0"/>
          </a:p>
        </p:txBody>
      </p:sp>
      <p:sp>
        <p:nvSpPr>
          <p:cNvPr id="30" name="text-29"/>
          <p:cNvSpPr txBox="1"/>
          <p:nvPr/>
        </p:nvSpPr>
        <p:spPr>
          <a:xfrm rot="60000">
            <a:off x="2609762" y="4911647"/>
            <a:ext cx="1729867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да</a:t>
            </a:r>
            <a:endParaRPr lang="en-US" sz="1200" dirty="0"/>
          </a:p>
        </p:txBody>
      </p:sp>
      <p:sp>
        <p:nvSpPr>
          <p:cNvPr id="31" name="shape-30"/>
          <p:cNvSpPr/>
          <p:nvPr/>
        </p:nvSpPr>
        <p:spPr>
          <a:xfrm rot="-60000">
            <a:off x="4488359" y="4403675"/>
            <a:ext cx="1911350" cy="831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32" name="text-31"/>
          <p:cNvSpPr txBox="1"/>
          <p:nvPr/>
        </p:nvSpPr>
        <p:spPr>
          <a:xfrm rot="-60000">
            <a:off x="4626020" y="4544038"/>
            <a:ext cx="172986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o'er</a:t>
            </a:r>
            <a:endParaRPr lang="en-US" sz="2500" dirty="0"/>
          </a:p>
        </p:txBody>
      </p:sp>
      <p:sp>
        <p:nvSpPr>
          <p:cNvPr id="33" name="text-32"/>
          <p:cNvSpPr txBox="1"/>
          <p:nvPr/>
        </p:nvSpPr>
        <p:spPr>
          <a:xfrm rot="-60000">
            <a:off x="4631272" y="4911647"/>
            <a:ext cx="1729867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over</a:t>
            </a:r>
            <a:endParaRPr lang="en-US" sz="1200" dirty="0"/>
          </a:p>
        </p:txBody>
      </p:sp>
      <p:sp>
        <p:nvSpPr>
          <p:cNvPr id="34" name="shape-33"/>
          <p:cNvSpPr/>
          <p:nvPr/>
        </p:nvSpPr>
        <p:spPr>
          <a:xfrm rot="60000">
            <a:off x="458242" y="5335836"/>
            <a:ext cx="1911350" cy="831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35" name="text-34"/>
          <p:cNvSpPr txBox="1"/>
          <p:nvPr/>
        </p:nvSpPr>
        <p:spPr>
          <a:xfrm rot="60000">
            <a:off x="599981" y="5476198"/>
            <a:ext cx="172986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e'en</a:t>
            </a:r>
            <a:endParaRPr lang="en-US" sz="2500" dirty="0"/>
          </a:p>
        </p:txBody>
      </p:sp>
      <p:sp>
        <p:nvSpPr>
          <p:cNvPr id="36" name="text-35"/>
          <p:cNvSpPr txBox="1"/>
          <p:nvPr/>
        </p:nvSpPr>
        <p:spPr>
          <a:xfrm rot="60000">
            <a:off x="594728" y="5843807"/>
            <a:ext cx="1729867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even</a:t>
            </a:r>
            <a:endParaRPr lang="en-US" sz="1200" dirty="0"/>
          </a:p>
        </p:txBody>
      </p:sp>
      <p:sp>
        <p:nvSpPr>
          <p:cNvPr id="37" name="shape-36"/>
          <p:cNvSpPr/>
          <p:nvPr/>
        </p:nvSpPr>
        <p:spPr>
          <a:xfrm rot="-60000">
            <a:off x="2473275" y="5335836"/>
            <a:ext cx="1911350" cy="831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38" name="text-37"/>
          <p:cNvSpPr txBox="1"/>
          <p:nvPr/>
        </p:nvSpPr>
        <p:spPr>
          <a:xfrm rot="-60000">
            <a:off x="2610936" y="5476198"/>
            <a:ext cx="172986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'twas</a:t>
            </a:r>
            <a:endParaRPr lang="en-US" sz="2500" dirty="0"/>
          </a:p>
        </p:txBody>
      </p:sp>
      <p:sp>
        <p:nvSpPr>
          <p:cNvPr id="39" name="text-38"/>
          <p:cNvSpPr txBox="1"/>
          <p:nvPr/>
        </p:nvSpPr>
        <p:spPr>
          <a:xfrm rot="-60000">
            <a:off x="2616189" y="5843807"/>
            <a:ext cx="1729867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it was</a:t>
            </a:r>
            <a:endParaRPr lang="en-US" sz="1200" dirty="0"/>
          </a:p>
        </p:txBody>
      </p:sp>
      <p:sp>
        <p:nvSpPr>
          <p:cNvPr id="40" name="shape-39"/>
          <p:cNvSpPr/>
          <p:nvPr/>
        </p:nvSpPr>
        <p:spPr>
          <a:xfrm rot="60000">
            <a:off x="4488359" y="5335836"/>
            <a:ext cx="1911350" cy="831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41" name="text-40"/>
          <p:cNvSpPr txBox="1"/>
          <p:nvPr/>
        </p:nvSpPr>
        <p:spPr>
          <a:xfrm rot="60000">
            <a:off x="4630097" y="5476198"/>
            <a:ext cx="172986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methinks</a:t>
            </a:r>
            <a:endParaRPr lang="en-US" sz="2500" dirty="0"/>
          </a:p>
        </p:txBody>
      </p:sp>
      <p:sp>
        <p:nvSpPr>
          <p:cNvPr id="42" name="text-41"/>
          <p:cNvSpPr txBox="1"/>
          <p:nvPr/>
        </p:nvSpPr>
        <p:spPr>
          <a:xfrm rot="60000">
            <a:off x="4624845" y="5843807"/>
            <a:ext cx="1729867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мне кажется</a:t>
            </a:r>
            <a:endParaRPr lang="en-US" sz="1200" dirty="0"/>
          </a:p>
        </p:txBody>
      </p:sp>
      <p:sp>
        <p:nvSpPr>
          <p:cNvPr id="43" name="text-42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44" name="shape-43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45" name="text-44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46" name="svg-4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6605" y="406400"/>
            <a:ext cx="24320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805" y="482600"/>
            <a:ext cx="2093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ПРОВЕРКА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Проверь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себя</a:t>
            </a:r>
            <a:endParaRPr lang="en-US" sz="4200" dirty="0"/>
          </a:p>
        </p:txBody>
      </p:sp>
      <p:sp>
        <p:nvSpPr>
          <p:cNvPr id="7" name="shape-6"/>
          <p:cNvSpPr/>
          <p:nvPr/>
        </p:nvSpPr>
        <p:spPr>
          <a:xfrm rot="-60000">
            <a:off x="457200" y="2095550"/>
            <a:ext cx="5943600" cy="14922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8" name="shape-7"/>
          <p:cNvSpPr/>
          <p:nvPr/>
        </p:nvSpPr>
        <p:spPr>
          <a:xfrm rot="-240000">
            <a:off x="2940171" y="1981310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9" name="text-8"/>
          <p:cNvSpPr txBox="1"/>
          <p:nvPr/>
        </p:nvSpPr>
        <p:spPr>
          <a:xfrm rot="-60000">
            <a:off x="736932" y="2349547"/>
            <a:ext cx="5707888" cy="1022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9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"</a:t>
            </a:r>
            <a:pPr algn="l" indent="0" marL="0">
              <a:lnSpc>
                <a:spcPts val="232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Whence</a:t>
            </a:r>
            <a:pPr algn="l" indent="0" marL="0">
              <a:lnSpc>
                <a:spcPts val="2320"/>
              </a:lnSpc>
              <a:buNone/>
            </a:pPr>
            <a:r>
              <a:rPr lang="en-US" sz="19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comest </a:t>
            </a:r>
            <a:pPr algn="l" indent="0" marL="0">
              <a:lnSpc>
                <a:spcPts val="232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thou</a:t>
            </a:r>
            <a:pPr algn="l" indent="0" marL="0">
              <a:lnSpc>
                <a:spcPts val="2320"/>
              </a:lnSpc>
              <a:buNone/>
            </a:pPr>
            <a:r>
              <a:rPr lang="en-US" sz="19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, stranger? </a:t>
            </a:r>
            <a:pPr algn="l" indent="0" marL="0">
              <a:lnSpc>
                <a:spcPts val="232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Thy</a:t>
            </a:r>
            <a:pPr algn="l" indent="0" marL="0">
              <a:lnSpc>
                <a:spcPts val="2320"/>
              </a:lnSpc>
              <a:buNone/>
            </a:pPr>
            <a:r>
              <a:rPr lang="en-US" sz="19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boots are worn. Rest here </a:t>
            </a:r>
            <a:pPr algn="l" indent="0" marL="0">
              <a:lnSpc>
                <a:spcPts val="232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ere</a:t>
            </a:r>
            <a:pPr algn="l" indent="0" marL="0">
              <a:lnSpc>
                <a:spcPts val="2320"/>
              </a:lnSpc>
              <a:buNone/>
            </a:pPr>
            <a:r>
              <a:rPr lang="en-US" sz="19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night falls, </a:t>
            </a:r>
            <a:pPr algn="l" indent="0" marL="0">
              <a:lnSpc>
                <a:spcPts val="232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lest</a:t>
            </a:r>
            <a:pPr algn="l" indent="0" marL="0">
              <a:lnSpc>
                <a:spcPts val="2320"/>
              </a:lnSpc>
              <a:buNone/>
            </a:pPr>
            <a:r>
              <a:rPr lang="en-US" sz="19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the cold find </a:t>
            </a:r>
            <a:pPr algn="l" indent="0" marL="0">
              <a:lnSpc>
                <a:spcPts val="232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thee</a:t>
            </a:r>
            <a:pPr algn="l" indent="0" marL="0">
              <a:lnSpc>
                <a:spcPts val="2320"/>
              </a:lnSpc>
              <a:buNone/>
            </a:pPr>
            <a:r>
              <a:rPr lang="en-US" sz="19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on the road."</a:t>
            </a:r>
            <a:endParaRPr lang="en-US" sz="1900" dirty="0"/>
          </a:p>
        </p:txBody>
      </p:sp>
      <p:sp>
        <p:nvSpPr>
          <p:cNvPr id="10" name="text-9"/>
          <p:cNvSpPr txBox="1"/>
          <p:nvPr/>
        </p:nvSpPr>
        <p:spPr>
          <a:xfrm>
            <a:off x="457200" y="4826000"/>
            <a:ext cx="630021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1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</a:t>
            </a:r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Как перевести «Whence comest thou»?</a:t>
            </a:r>
            <a:endParaRPr lang="en-US" sz="1100" dirty="0"/>
          </a:p>
        </p:txBody>
      </p:sp>
      <p:sp>
        <p:nvSpPr>
          <p:cNvPr id="11" name="text-10"/>
          <p:cNvSpPr txBox="1"/>
          <p:nvPr/>
        </p:nvSpPr>
        <p:spPr>
          <a:xfrm>
            <a:off x="457200" y="5207000"/>
            <a:ext cx="630021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1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</a:t>
            </a:r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Кого может застать холод?</a:t>
            </a:r>
            <a:endParaRPr lang="en-US" sz="1100" dirty="0"/>
          </a:p>
        </p:txBody>
      </p:sp>
      <p:sp>
        <p:nvSpPr>
          <p:cNvPr id="12" name="text-11"/>
          <p:cNvSpPr txBox="1"/>
          <p:nvPr/>
        </p:nvSpPr>
        <p:spPr>
          <a:xfrm>
            <a:off x="457200" y="5588000"/>
            <a:ext cx="630021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1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</a:t>
            </a:r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Что значат ere и lest?</a:t>
            </a:r>
            <a:endParaRPr lang="en-US" sz="1100" dirty="0"/>
          </a:p>
        </p:txBody>
      </p:sp>
      <p:sp>
        <p:nvSpPr>
          <p:cNvPr id="13" name="text-12"/>
          <p:cNvSpPr txBox="1"/>
          <p:nvPr/>
        </p:nvSpPr>
        <p:spPr>
          <a:xfrm rot="10800000">
            <a:off x="338328" y="7250410"/>
            <a:ext cx="618134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ОТВЕТЫ</a:t>
            </a:r>
            <a:endParaRPr lang="en-US" sz="900" dirty="0"/>
          </a:p>
        </p:txBody>
      </p:sp>
      <p:sp>
        <p:nvSpPr>
          <p:cNvPr id="14" name="text-13"/>
          <p:cNvSpPr txBox="1"/>
          <p:nvPr/>
        </p:nvSpPr>
        <p:spPr>
          <a:xfrm rot="10800000">
            <a:off x="338328" y="7016105"/>
            <a:ext cx="6181344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откуда ты идёшь · 2 путника (thee = тебя) · 3 до того как · чтобы не</a:t>
            </a:r>
            <a:endParaRPr lang="en-US" sz="1100" dirty="0"/>
          </a:p>
        </p:txBody>
      </p:sp>
      <p:sp>
        <p:nvSpPr>
          <p:cNvPr id="15" name="text-14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6" name="shape-15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7" name="text-16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5960" y="406400"/>
            <a:ext cx="2527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160" y="482600"/>
            <a:ext cx="2194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ШПАРГАЛКА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Три шага на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экзамене</a:t>
            </a:r>
            <a:endParaRPr lang="en-US" sz="4200" dirty="0"/>
          </a:p>
        </p:txBody>
      </p:sp>
      <p:sp>
        <p:nvSpPr>
          <p:cNvPr id="7" name="shape-6"/>
          <p:cNvSpPr/>
          <p:nvPr/>
        </p:nvSpPr>
        <p:spPr>
          <a:xfrm rot="-72000">
            <a:off x="457200" y="2541240"/>
            <a:ext cx="5943600" cy="901700"/>
          </a:xfrm>
          <a:prstGeom prst="roundRect">
            <a:avLst>
              <a:gd name="adj" fmla="val 19718"/>
            </a:avLst>
          </a:prstGeom>
          <a:solidFill>
            <a:srgbClr val="0A0A0A"/>
          </a:solidFill>
          <a:ln/>
        </p:spPr>
      </p:sp>
      <p:sp>
        <p:nvSpPr>
          <p:cNvPr id="8" name="text-7"/>
          <p:cNvSpPr txBox="1"/>
          <p:nvPr/>
        </p:nvSpPr>
        <p:spPr>
          <a:xfrm rot="-72000">
            <a:off x="707783" y="2755936"/>
            <a:ext cx="576173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ШАГ 1</a:t>
            </a:r>
            <a:endParaRPr lang="en-US" sz="900" dirty="0"/>
          </a:p>
        </p:txBody>
      </p:sp>
      <p:sp>
        <p:nvSpPr>
          <p:cNvPr id="9" name="text-8"/>
          <p:cNvSpPr txBox="1"/>
          <p:nvPr/>
        </p:nvSpPr>
        <p:spPr>
          <a:xfrm rot="-72000">
            <a:off x="713394" y="2966667"/>
            <a:ext cx="5761736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Замени thou, thee, thy, thine на </a:t>
            </a:r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</a:t>
            </a:r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и </a:t>
            </a:r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</a:t>
            </a:r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shape-9"/>
          <p:cNvSpPr/>
          <p:nvPr/>
        </p:nvSpPr>
        <p:spPr>
          <a:xfrm rot="72000">
            <a:off x="457200" y="3585121"/>
            <a:ext cx="5943600" cy="927100"/>
          </a:xfrm>
          <a:prstGeom prst="roundRect">
            <a:avLst>
              <a:gd name="adj" fmla="val 19178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" name="text-10"/>
          <p:cNvSpPr txBox="1"/>
          <p:nvPr/>
        </p:nvSpPr>
        <p:spPr>
          <a:xfrm rot="72000">
            <a:off x="727317" y="3812516"/>
            <a:ext cx="573481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ШАГ 2</a:t>
            </a:r>
            <a:endParaRPr lang="en-US" sz="900" dirty="0"/>
          </a:p>
        </p:txBody>
      </p:sp>
      <p:sp>
        <p:nvSpPr>
          <p:cNvPr id="12" name="text-11"/>
          <p:cNvSpPr txBox="1"/>
          <p:nvPr/>
        </p:nvSpPr>
        <p:spPr>
          <a:xfrm rot="72000">
            <a:off x="721706" y="4023248"/>
            <a:ext cx="5734812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Убери окончания: knowest → </a:t>
            </a:r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know</a:t>
            </a:r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hath → </a:t>
            </a:r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has</a:t>
            </a:r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shape-12"/>
          <p:cNvSpPr/>
          <p:nvPr/>
        </p:nvSpPr>
        <p:spPr>
          <a:xfrm rot="-72000">
            <a:off x="457200" y="4654401"/>
            <a:ext cx="5943600" cy="901700"/>
          </a:xfrm>
          <a:prstGeom prst="roundRect">
            <a:avLst>
              <a:gd name="adj" fmla="val 19718"/>
            </a:avLst>
          </a:prstGeom>
          <a:solidFill>
            <a:srgbClr val="0A0A0A"/>
          </a:solidFill>
          <a:ln/>
        </p:spPr>
      </p:sp>
      <p:sp>
        <p:nvSpPr>
          <p:cNvPr id="14" name="text-13"/>
          <p:cNvSpPr txBox="1"/>
          <p:nvPr/>
        </p:nvSpPr>
        <p:spPr>
          <a:xfrm rot="-72000">
            <a:off x="707783" y="4869097"/>
            <a:ext cx="576173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ШАГ 3</a:t>
            </a:r>
            <a:endParaRPr lang="en-US" sz="900" dirty="0"/>
          </a:p>
        </p:txBody>
      </p:sp>
      <p:sp>
        <p:nvSpPr>
          <p:cNvPr id="15" name="text-14"/>
          <p:cNvSpPr txBox="1"/>
          <p:nvPr/>
        </p:nvSpPr>
        <p:spPr>
          <a:xfrm rot="-72000">
            <a:off x="713394" y="5079828"/>
            <a:ext cx="5761736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Направление: </a:t>
            </a:r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-ither</a:t>
            </a:r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значит «куда», </a:t>
            </a:r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-ence</a:t>
            </a:r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значит «откуда».</a:t>
            </a:r>
            <a:endParaRPr lang="en-US" sz="1500" dirty="0"/>
          </a:p>
        </p:txBody>
      </p:sp>
      <p:sp>
        <p:nvSpPr>
          <p:cNvPr id="16" name="text-15"/>
          <p:cNvSpPr txBox="1"/>
          <p:nvPr/>
        </p:nvSpPr>
        <p:spPr>
          <a:xfrm rot="-120000">
            <a:off x="457200" y="7047508"/>
            <a:ext cx="630021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en-US" sz="19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сохрани и открой перед экзаменом</a:t>
            </a:r>
            <a:endParaRPr lang="en-US" sz="1900" dirty="0"/>
          </a:p>
        </p:txBody>
      </p:sp>
      <p:sp>
        <p:nvSpPr>
          <p:cNvPr id="17" name="text-16"/>
          <p:cNvSpPr txBox="1"/>
          <p:nvPr/>
        </p:nvSpPr>
        <p:spPr>
          <a:xfrm>
            <a:off x="457845" y="80454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 отказался от 170 000 000 ₸</dc:title>
  <dc:subject>PptxGenJS Presentation</dc:subject>
  <dc:creator>PptxGenJS</dc:creator>
  <cp:lastModifiedBy>PptxGenJS</cp:lastModifiedBy>
  <cp:revision>1</cp:revision>
  <dcterms:created xsi:type="dcterms:W3CDTF">2026-10-19T12:47:07Z</dcterms:created>
  <dcterms:modified xsi:type="dcterms:W3CDTF">2026-10-19T12:47:07Z</dcterms:modified>
</cp:coreProperties>
</file>