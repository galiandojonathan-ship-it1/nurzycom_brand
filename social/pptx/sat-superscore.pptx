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СУПЕРСКОР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09"/>
            <a:ext cx="6300216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9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ни разу не набрал 1560 </a:t>
            </a:r>
            <a:pPr algn="l" indent="0" marL="0">
              <a:lnSpc>
                <a:spcPts val="469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за один раз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2309217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Но в заявке у меня стоит 1560. Рассказываю, как это работает и где это не сработает.</a:t>
            </a:r>
            <a:endParaRPr lang="en-US" sz="1500" dirty="0"/>
          </a:p>
        </p:txBody>
      </p:sp>
      <p:sp>
        <p:nvSpPr>
          <p:cNvPr id="8" name="text-7"/>
          <p:cNvSpPr txBox="1"/>
          <p:nvPr/>
        </p:nvSpPr>
        <p:spPr>
          <a:xfrm>
            <a:off x="338328" y="3556000"/>
            <a:ext cx="6181344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850"/>
              </a:lnSpc>
              <a:buNone/>
            </a:pPr>
            <a:r>
              <a:rPr lang="en-US" sz="16500" i="1" spc="-66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1560</a:t>
            </a:r>
            <a:endParaRPr lang="en-US" sz="165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0" name="shape-9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1" name="text-10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3" name="shape-12"/>
          <p:cNvSpPr/>
          <p:nvPr/>
        </p:nvSpPr>
        <p:spPr>
          <a:xfrm rot="-300000">
            <a:off x="699641" y="5842000"/>
            <a:ext cx="127000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text-13"/>
          <p:cNvSpPr txBox="1"/>
          <p:nvPr/>
        </p:nvSpPr>
        <p:spPr>
          <a:xfrm rot="-300000">
            <a:off x="852041" y="5930900"/>
            <a:ext cx="102311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 · 1490</a:t>
            </a:r>
            <a:endParaRPr lang="en-US" sz="1500" dirty="0"/>
          </a:p>
        </p:txBody>
      </p:sp>
      <p:sp>
        <p:nvSpPr>
          <p:cNvPr id="15" name="shape-14"/>
          <p:cNvSpPr/>
          <p:nvPr/>
        </p:nvSpPr>
        <p:spPr>
          <a:xfrm rot="240000">
            <a:off x="4450407" y="6032500"/>
            <a:ext cx="17081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240000">
            <a:off x="4602807" y="6121400"/>
            <a:ext cx="148755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декабрь · 1520</a:t>
            </a:r>
            <a:endParaRPr lang="en-US" sz="1500" dirty="0"/>
          </a:p>
        </p:txBody>
      </p:sp>
      <p:sp>
        <p:nvSpPr>
          <p:cNvPr id="17" name="shape-16"/>
          <p:cNvSpPr/>
          <p:nvPr/>
        </p:nvSpPr>
        <p:spPr>
          <a:xfrm rot="480000">
            <a:off x="3969196" y="3175000"/>
            <a:ext cx="23812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text-17"/>
          <p:cNvSpPr txBox="1"/>
          <p:nvPr/>
        </p:nvSpPr>
        <p:spPr>
          <a:xfrm rot="480000">
            <a:off x="4121596" y="3263900"/>
            <a:ext cx="22010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ни разу за одну сдачу</a:t>
            </a:r>
            <a:endParaRPr lang="en-US" sz="1500" dirty="0"/>
          </a:p>
        </p:txBody>
      </p:sp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начнём с моих двух попыток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057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6962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МОИ ПОПЫТКИ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Две сдачи,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два балла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300000">
            <a:off x="698500" y="2287538"/>
            <a:ext cx="2349500" cy="3816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480000">
            <a:off x="1232771" y="21788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9" name="img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00000">
            <a:off x="775778" y="2376945"/>
            <a:ext cx="2171700" cy="3371850"/>
          </a:xfrm>
          <a:prstGeom prst="rect">
            <a:avLst/>
          </a:prstGeom>
        </p:spPr>
      </p:pic>
      <p:sp>
        <p:nvSpPr>
          <p:cNvPr id="10" name="text-9"/>
          <p:cNvSpPr txBox="1"/>
          <p:nvPr/>
        </p:nvSpPr>
        <p:spPr>
          <a:xfrm rot="-300000">
            <a:off x="799966" y="5762394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май 2025 · 1490</a:t>
            </a:r>
            <a:endParaRPr lang="en-US" sz="1500" dirty="0"/>
          </a:p>
        </p:txBody>
      </p:sp>
      <p:sp>
        <p:nvSpPr>
          <p:cNvPr id="11" name="shape-10"/>
          <p:cNvSpPr/>
          <p:nvPr/>
        </p:nvSpPr>
        <p:spPr>
          <a:xfrm rot="240000">
            <a:off x="3810000" y="2478038"/>
            <a:ext cx="2349500" cy="3816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60000">
            <a:off x="4639943" y="236679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3" name="img-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908202" y="2567263"/>
            <a:ext cx="2171700" cy="3371850"/>
          </a:xfrm>
          <a:prstGeom prst="rect">
            <a:avLst/>
          </a:prstGeom>
        </p:spPr>
      </p:pic>
      <p:sp>
        <p:nvSpPr>
          <p:cNvPr id="14" name="text-13"/>
          <p:cNvSpPr txBox="1"/>
          <p:nvPr/>
        </p:nvSpPr>
        <p:spPr>
          <a:xfrm rot="240000">
            <a:off x="3644191" y="5955227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декабрь 2025 · 1520</a:t>
            </a:r>
            <a:endParaRPr lang="en-US" sz="150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ни одна не 1560. Смотри, что делает вуз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616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2288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КАК ЭТО СЧИТАЕТСЯ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Вуз берёт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лучшее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Из каждой секции лучший балл, даже если они из разных дней.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90000">
            <a:off x="457200" y="2540000"/>
            <a:ext cx="2895600" cy="2178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text-8"/>
          <p:cNvSpPr txBox="1"/>
          <p:nvPr/>
        </p:nvSpPr>
        <p:spPr>
          <a:xfrm rot="-90000">
            <a:off x="638791" y="2730783"/>
            <a:ext cx="26385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МАЙ 2025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648016" y="2927512"/>
            <a:ext cx="263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i="1" dirty="0">
                <a:solidFill>
                  <a:srgbClr val="5A585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1490</a:t>
            </a:r>
            <a:endParaRPr lang="en-US" sz="3600" dirty="0"/>
          </a:p>
        </p:txBody>
      </p:sp>
      <p:sp>
        <p:nvSpPr>
          <p:cNvPr id="11" name="shape-10"/>
          <p:cNvSpPr/>
          <p:nvPr/>
        </p:nvSpPr>
        <p:spPr>
          <a:xfrm rot="-90000">
            <a:off x="662976" y="3498816"/>
            <a:ext cx="2489200" cy="457200"/>
          </a:xfrm>
          <a:prstGeom prst="roundRect">
            <a:avLst>
              <a:gd name="adj" fmla="val 19444"/>
            </a:avLst>
          </a:prstGeom>
          <a:solidFill>
            <a:srgbClr val="0A0A0A"/>
          </a:solidFill>
          <a:ln/>
        </p:spPr>
      </p:sp>
      <p:sp>
        <p:nvSpPr>
          <p:cNvPr id="12" name="text-11"/>
          <p:cNvSpPr txBox="1"/>
          <p:nvPr/>
        </p:nvSpPr>
        <p:spPr>
          <a:xfrm rot="-90000">
            <a:off x="751876" y="3562316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AF8F3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Reading &amp; Writing </a:t>
            </a:r>
            <a:pPr algn="l" indent="0" marL="0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760</a:t>
            </a:r>
            <a:endParaRPr lang="en-US" sz="1400" dirty="0"/>
          </a:p>
        </p:txBody>
      </p:sp>
      <p:sp>
        <p:nvSpPr>
          <p:cNvPr id="13" name="text-12"/>
          <p:cNvSpPr txBox="1"/>
          <p:nvPr/>
        </p:nvSpPr>
        <p:spPr>
          <a:xfrm rot="-90000">
            <a:off x="766837" y="4133620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Math </a:t>
            </a:r>
            <a:pPr algn="l" indent="0" marL="0">
              <a:lnSpc>
                <a:spcPts val="1680"/>
              </a:lnSpc>
              <a:buNone/>
            </a:pPr>
            <a:r>
              <a:rPr lang="en-US" sz="2000" dirty="0">
                <a:solidFill>
                  <a:srgbClr val="9A988F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730</a:t>
            </a:r>
            <a:endParaRPr lang="en-US" sz="1400" dirty="0"/>
          </a:p>
        </p:txBody>
      </p:sp>
      <p:sp>
        <p:nvSpPr>
          <p:cNvPr id="14" name="shape-13"/>
          <p:cNvSpPr/>
          <p:nvPr/>
        </p:nvSpPr>
        <p:spPr>
          <a:xfrm rot="90000">
            <a:off x="3505200" y="2540000"/>
            <a:ext cx="2895600" cy="2178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5" name="text-14"/>
          <p:cNvSpPr txBox="1"/>
          <p:nvPr/>
        </p:nvSpPr>
        <p:spPr>
          <a:xfrm rot="90000">
            <a:off x="3730009" y="2730783"/>
            <a:ext cx="26385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ДЕКАБРЬ 2025</a:t>
            </a:r>
            <a:endParaRPr lang="en-US" sz="900" dirty="0"/>
          </a:p>
        </p:txBody>
      </p:sp>
      <p:sp>
        <p:nvSpPr>
          <p:cNvPr id="16" name="text-15"/>
          <p:cNvSpPr txBox="1"/>
          <p:nvPr/>
        </p:nvSpPr>
        <p:spPr>
          <a:xfrm rot="90000">
            <a:off x="3720784" y="2927512"/>
            <a:ext cx="263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i="1" dirty="0">
                <a:solidFill>
                  <a:srgbClr val="5A585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1520</a:t>
            </a:r>
            <a:endParaRPr lang="en-US" sz="3600" dirty="0"/>
          </a:p>
        </p:txBody>
      </p:sp>
      <p:sp>
        <p:nvSpPr>
          <p:cNvPr id="17" name="text-16"/>
          <p:cNvSpPr txBox="1"/>
          <p:nvPr/>
        </p:nvSpPr>
        <p:spPr>
          <a:xfrm rot="90000">
            <a:off x="3794724" y="3562316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Reading &amp; Writing </a:t>
            </a:r>
            <a:pPr algn="l" indent="0" marL="0">
              <a:lnSpc>
                <a:spcPts val="1680"/>
              </a:lnSpc>
              <a:buNone/>
            </a:pPr>
            <a:r>
              <a:rPr lang="en-US" sz="2000" dirty="0">
                <a:solidFill>
                  <a:srgbClr val="9A988F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720</a:t>
            </a:r>
            <a:endParaRPr lang="en-US" sz="1400" dirty="0"/>
          </a:p>
        </p:txBody>
      </p:sp>
      <p:sp>
        <p:nvSpPr>
          <p:cNvPr id="18" name="shape-17"/>
          <p:cNvSpPr/>
          <p:nvPr/>
        </p:nvSpPr>
        <p:spPr>
          <a:xfrm rot="90000">
            <a:off x="3690863" y="4070120"/>
            <a:ext cx="2489200" cy="457200"/>
          </a:xfrm>
          <a:prstGeom prst="roundRect">
            <a:avLst>
              <a:gd name="adj" fmla="val 19444"/>
            </a:avLst>
          </a:prstGeom>
          <a:solidFill>
            <a:srgbClr val="0A0A0A"/>
          </a:solidFill>
          <a:ln/>
        </p:spPr>
      </p:sp>
      <p:sp>
        <p:nvSpPr>
          <p:cNvPr id="19" name="text-18"/>
          <p:cNvSpPr txBox="1"/>
          <p:nvPr/>
        </p:nvSpPr>
        <p:spPr>
          <a:xfrm rot="90000">
            <a:off x="3779763" y="4133620"/>
            <a:ext cx="24500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AF8F3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Math </a:t>
            </a:r>
            <a:pPr algn="l" indent="0" marL="0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800</a:t>
            </a:r>
            <a:endParaRPr lang="en-US" sz="1400" dirty="0"/>
          </a:p>
        </p:txBody>
      </p:sp>
      <p:sp>
        <p:nvSpPr>
          <p:cNvPr id="20" name="text-19"/>
          <p:cNvSpPr txBox="1"/>
          <p:nvPr/>
        </p:nvSpPr>
        <p:spPr>
          <a:xfrm>
            <a:off x="338328" y="5461000"/>
            <a:ext cx="6181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200"/>
              </a:lnSpc>
              <a:buNone/>
            </a:pPr>
            <a:r>
              <a:rPr lang="en-US" sz="8000" i="1" spc="-32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760 + 800</a:t>
            </a:r>
            <a:endParaRPr lang="en-US" sz="8000" dirty="0"/>
          </a:p>
        </p:txBody>
      </p:sp>
      <p:sp>
        <p:nvSpPr>
          <p:cNvPr id="21" name="text-20"/>
          <p:cNvSpPr txBox="1"/>
          <p:nvPr/>
        </p:nvSpPr>
        <p:spPr>
          <a:xfrm>
            <a:off x="338328" y="6413500"/>
            <a:ext cx="6181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= </a:t>
            </a:r>
            <a:pPr algn="ctr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1560</a:t>
            </a:r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Это и есть суперскор.</a:t>
            </a:r>
            <a:endParaRPr lang="en-US" sz="14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похоже на лазейку. Но всё началось в 1926-м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3970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9961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1926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798"/>
            <a:ext cx="6300216" cy="114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0"/>
              </a:lnSpc>
              <a:buNone/>
            </a:pPr>
            <a:r>
              <a:rPr lang="en-US" sz="3900" b="1" spc="-14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Один день, </a:t>
            </a:r>
            <a:pPr algn="l" indent="0" marL="0">
              <a:lnSpc>
                <a:spcPts val="3980"/>
              </a:lnSpc>
              <a:buNone/>
            </a:pPr>
            <a:r>
              <a:rPr lang="en-US" sz="4400" i="1" spc="-9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одна попытка</a:t>
            </a:r>
            <a:endParaRPr lang="en-US" sz="39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2229445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23 июня 1926 года около 8 000 школьников сдали первый SAT: 315 вопросов за 97 минут. Первая задача: сколько стоят 5 галлонов бензина по 24 цента.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90000">
            <a:off x="457200" y="3556049"/>
            <a:ext cx="5943600" cy="30416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70000">
            <a:off x="2913603" y="3442213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0" name="im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90000">
            <a:off x="632191" y="3734531"/>
            <a:ext cx="5588000" cy="247015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 rot="-90000">
            <a:off x="668512" y="6280455"/>
            <a:ext cx="5923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1926 ГОДА · СКАН ИЗ ОТЧЁТА COLLEGE BOARD 2003-3</a:t>
            </a:r>
            <a:endParaRPr lang="en-US" sz="8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за 100 лет тест сильно изменился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ИСТОРИЯ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Менялся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тест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48000">
            <a:off x="457200" y="2031603"/>
            <a:ext cx="5943600" cy="6667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48000">
            <a:off x="622521" y="2206130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1926</a:t>
            </a:r>
            <a:endParaRPr lang="en-US" sz="3000" dirty="0"/>
          </a:p>
        </p:txBody>
      </p:sp>
      <p:sp>
        <p:nvSpPr>
          <p:cNvPr id="9" name="text-8"/>
          <p:cNvSpPr txBox="1"/>
          <p:nvPr/>
        </p:nvSpPr>
        <p:spPr>
          <a:xfrm rot="-48000">
            <a:off x="1854140" y="2124603"/>
            <a:ext cx="4644390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Первый SAT. Девять подтестов, почти всё на скорость.</a:t>
            </a:r>
            <a:endParaRPr lang="en-US" sz="1350" dirty="0"/>
          </a:p>
        </p:txBody>
      </p:sp>
      <p:sp>
        <p:nvSpPr>
          <p:cNvPr id="10" name="shape-9"/>
          <p:cNvSpPr/>
          <p:nvPr/>
        </p:nvSpPr>
        <p:spPr>
          <a:xfrm rot="48000">
            <a:off x="457200" y="27868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48000">
            <a:off x="622521" y="28568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2005</a:t>
            </a:r>
            <a:endParaRPr lang="en-US" sz="3000" dirty="0"/>
          </a:p>
        </p:txBody>
      </p:sp>
      <p:sp>
        <p:nvSpPr>
          <p:cNvPr id="12" name="text-11"/>
          <p:cNvSpPr txBox="1"/>
          <p:nvPr/>
        </p:nvSpPr>
        <p:spPr>
          <a:xfrm rot="48000">
            <a:off x="1854140" y="29732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Добавили Writing, максимум вырос до 2400.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-48000">
            <a:off x="457200" y="34599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text-13"/>
          <p:cNvSpPr txBox="1"/>
          <p:nvPr/>
        </p:nvSpPr>
        <p:spPr>
          <a:xfrm rot="-48000">
            <a:off x="622521" y="3593208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2016</a:t>
            </a:r>
            <a:endParaRPr lang="en-US" sz="30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1854140" y="36291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Writing убрали. Снова 1600.</a:t>
            </a:r>
            <a:endParaRPr lang="en-US" sz="135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41330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48000">
            <a:off x="622521" y="42030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2023</a:t>
            </a:r>
            <a:endParaRPr lang="en-US" sz="30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1854140" y="43194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Цифровой SAT в Bluebook за пределами США.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-48000">
            <a:off x="457200" y="4806156"/>
            <a:ext cx="5943600" cy="584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text-19"/>
          <p:cNvSpPr txBox="1"/>
          <p:nvPr/>
        </p:nvSpPr>
        <p:spPr>
          <a:xfrm rot="-48000">
            <a:off x="622521" y="4939408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2024</a:t>
            </a:r>
            <a:endParaRPr lang="en-US" sz="3000" dirty="0"/>
          </a:p>
        </p:txBody>
      </p:sp>
      <p:sp>
        <p:nvSpPr>
          <p:cNvPr id="21" name="text-20"/>
          <p:cNvSpPr txBox="1"/>
          <p:nvPr/>
        </p:nvSpPr>
        <p:spPr>
          <a:xfrm rot="-48000">
            <a:off x="1854140" y="49753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Цифровой SAT и в США.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48000">
            <a:off x="457200" y="5479256"/>
            <a:ext cx="5943600" cy="58420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text-22"/>
          <p:cNvSpPr txBox="1"/>
          <p:nvPr/>
        </p:nvSpPr>
        <p:spPr>
          <a:xfrm rot="48000">
            <a:off x="622521" y="5549205"/>
            <a:ext cx="11442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3000" dirty="0"/>
          </a:p>
        </p:txBody>
      </p:sp>
      <p:sp>
        <p:nvSpPr>
          <p:cNvPr id="24" name="text-23"/>
          <p:cNvSpPr txBox="1"/>
          <p:nvPr/>
        </p:nvSpPr>
        <p:spPr>
          <a:xfrm rot="48000">
            <a:off x="1854140" y="5665656"/>
            <a:ext cx="4644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23 июня SAT исполнилось 100 лет.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6" name="shape-25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7" name="text-26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одно не менялось: один день может пойти не так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6605" y="406400"/>
            <a:ext cx="24320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805" y="482600"/>
            <a:ext cx="20933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ЗАЧЕМ СУПЕРСКОР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6300216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Поэтому есть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суперскор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2250083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Нервы, сон, неудачный набор вопросов. Один день не показывает всё.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857599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9" name="text-8"/>
          <p:cNvSpPr txBox="1"/>
          <p:nvPr/>
        </p:nvSpPr>
        <p:spPr>
          <a:xfrm rot="-72000">
            <a:off x="692514" y="306076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ЭТО ПРИЗНАЁТ И САМ COLLEGE BOARD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700694" y="3270326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каждом отчёте есть диапазон баллов, которые ты мог бы получить в другие дни. У меня в мае это было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1450–1530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1" name="shape-10"/>
          <p:cNvSpPr/>
          <p:nvPr/>
        </p:nvSpPr>
        <p:spPr>
          <a:xfrm rot="72000">
            <a:off x="457200" y="4825305"/>
            <a:ext cx="59436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108000">
            <a:off x="2968959" y="47118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29099" y="5066065"/>
            <a:ext cx="5734812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We do this in order to consider all applicants in their best light.</a:t>
            </a:r>
            <a:endParaRPr lang="en-US" sz="20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719431" y="5762529"/>
            <a:ext cx="5734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MIT ADMISSIONS · О СУПЕРСКОРЕ</a:t>
            </a:r>
            <a:endParaRPr lang="en-US" sz="850" dirty="0"/>
          </a:p>
        </p:txBody>
      </p:sp>
      <p:sp>
        <p:nvSpPr>
          <p:cNvPr id="15" name="text-14"/>
          <p:cNvSpPr txBox="1"/>
          <p:nvPr/>
        </p:nvSpPr>
        <p:spPr>
          <a:xfrm rot="72000">
            <a:off x="713834" y="5991665"/>
            <a:ext cx="573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«Так мы видим каждого абитуриента с лучшей стороны».</a:t>
            </a:r>
            <a:endParaRPr lang="en-US" sz="1300" dirty="0"/>
          </a:p>
        </p:txBody>
      </p:sp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MIT не единственный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2415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8914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КТО ПРИНИМАЕТ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Так делают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они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286595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72000">
            <a:off x="629402" y="246385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MIT</a:t>
            </a:r>
            <a:endParaRPr lang="en-US" sz="3800" dirty="0"/>
          </a:p>
        </p:txBody>
      </p:sp>
      <p:sp>
        <p:nvSpPr>
          <p:cNvPr id="9" name="text-8"/>
          <p:cNvSpPr txBox="1"/>
          <p:nvPr/>
        </p:nvSpPr>
        <p:spPr>
          <a:xfrm rot="-72000">
            <a:off x="640718" y="302313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учитывает лучший балл по каждой секции</a:t>
            </a:r>
            <a:endParaRPr lang="en-US" sz="1300" dirty="0"/>
          </a:p>
        </p:txBody>
      </p:sp>
      <p:sp>
        <p:nvSpPr>
          <p:cNvPr id="10" name="shape-9"/>
          <p:cNvSpPr/>
          <p:nvPr/>
        </p:nvSpPr>
        <p:spPr>
          <a:xfrm rot="72000">
            <a:off x="3492500" y="2286595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72000">
            <a:off x="3675898" y="246385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Yale</a:t>
            </a:r>
            <a:endParaRPr lang="en-US" sz="3800" dirty="0"/>
          </a:p>
        </p:txBody>
      </p:sp>
      <p:sp>
        <p:nvSpPr>
          <p:cNvPr id="12" name="text-11"/>
          <p:cNvSpPr txBox="1"/>
          <p:nvPr/>
        </p:nvSpPr>
        <p:spPr>
          <a:xfrm rot="72000">
            <a:off x="3664582" y="302313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можно указать лучшие баллы по секциям из разных сдач</a:t>
            </a:r>
            <a:endParaRPr lang="en-US" sz="1300" dirty="0"/>
          </a:p>
        </p:txBody>
      </p:sp>
      <p:sp>
        <p:nvSpPr>
          <p:cNvPr id="13" name="shape-12"/>
          <p:cNvSpPr/>
          <p:nvPr/>
        </p:nvSpPr>
        <p:spPr>
          <a:xfrm rot="72000">
            <a:off x="457200" y="3786386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text-13"/>
          <p:cNvSpPr txBox="1"/>
          <p:nvPr/>
        </p:nvSpPr>
        <p:spPr>
          <a:xfrm rot="72000">
            <a:off x="640598" y="396364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Stanford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72000">
            <a:off x="629282" y="452292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просит вписать лучшие баллы по каждой секции</a:t>
            </a:r>
            <a:endParaRPr lang="en-US" sz="1300" dirty="0"/>
          </a:p>
        </p:txBody>
      </p:sp>
      <p:sp>
        <p:nvSpPr>
          <p:cNvPr id="16" name="shape-15"/>
          <p:cNvSpPr/>
          <p:nvPr/>
        </p:nvSpPr>
        <p:spPr>
          <a:xfrm rot="-72000">
            <a:off x="3492500" y="3786386"/>
            <a:ext cx="29083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-72000">
            <a:off x="3664702" y="3963649"/>
            <a:ext cx="270586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Columbia</a:t>
            </a:r>
            <a:endParaRPr lang="en-US" sz="3800" dirty="0"/>
          </a:p>
        </p:txBody>
      </p:sp>
      <p:sp>
        <p:nvSpPr>
          <p:cNvPr id="18" name="text-17"/>
          <p:cNvSpPr txBox="1"/>
          <p:nvPr/>
        </p:nvSpPr>
        <p:spPr>
          <a:xfrm rot="-72000">
            <a:off x="3676018" y="4522926"/>
            <a:ext cx="27058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оценивает по лучшему баллу в каждой секции</a:t>
            </a:r>
            <a:endParaRPr lang="en-US" sz="1300" dirty="0"/>
          </a:p>
        </p:txBody>
      </p:sp>
      <p:sp>
        <p:nvSpPr>
          <p:cNvPr id="19" name="text-18"/>
          <p:cNvSpPr txBox="1"/>
          <p:nvPr/>
        </p:nvSpPr>
        <p:spPr>
          <a:xfrm>
            <a:off x="457200" y="5841305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 официальным сайтам вузов, октябрь 2026. Правила меняются, проверяй перед подачей</a:t>
            </a:r>
            <a:endParaRPr lang="en-US" sz="110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 теперь главное для тех, кто поступает в НУ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НАЗАРБАЕВ УНИВЕРСИТЕТ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 в НУ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нет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Если у тебя несколько сертификатов SAT, НУ берёт один, с лучшим общим баллом. Секции из разных сдач не складывают.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985095"/>
            <a:ext cx="59436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36513" y="28703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21919" y="3227061"/>
            <a:ext cx="5734812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…the certificate with the best overall results will be considered in the competition without superscoring.</a:t>
            </a:r>
            <a:endParaRPr lang="en-US" sz="20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34831" y="4230821"/>
            <a:ext cx="5734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spc="7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ПРАВИЛА ПРИЁМА НУ · УТВЕРЖДЕНЫ 11.03.2026</a:t>
            </a:r>
            <a:endParaRPr lang="en-US" sz="850" dirty="0"/>
          </a:p>
        </p:txBody>
      </p:sp>
      <p:sp>
        <p:nvSpPr>
          <p:cNvPr id="12" name="shape-11"/>
          <p:cNvSpPr/>
          <p:nvPr/>
        </p:nvSpPr>
        <p:spPr>
          <a:xfrm>
            <a:off x="457200" y="5270500"/>
            <a:ext cx="2908300" cy="920750"/>
          </a:xfrm>
          <a:prstGeom prst="roundRect">
            <a:avLst>
              <a:gd name="adj" fmla="val 17931"/>
            </a:avLst>
          </a:prstGeom>
          <a:ln w="12700">
            <a:solidFill>
              <a:srgbClr val="0A0A0A"/>
            </a:solidFill>
            <a:prstDash val="solid"/>
          </a:ln>
        </p:spPr>
      </p:sp>
      <p:sp>
        <p:nvSpPr>
          <p:cNvPr id="13" name="text-12"/>
          <p:cNvSpPr txBox="1"/>
          <p:nvPr/>
        </p:nvSpPr>
        <p:spPr>
          <a:xfrm>
            <a:off x="647700" y="5435600"/>
            <a:ext cx="267893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МИНИМУМ ДЛЯ БАКАЛАВРИАТА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>
            <a:off x="647700" y="5619750"/>
            <a:ext cx="267893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1240</a:t>
            </a:r>
            <a:endParaRPr lang="en-US" sz="3200" dirty="0"/>
          </a:p>
        </p:txBody>
      </p:sp>
      <p:sp>
        <p:nvSpPr>
          <p:cNvPr id="15" name="shape-14"/>
          <p:cNvSpPr/>
          <p:nvPr/>
        </p:nvSpPr>
        <p:spPr>
          <a:xfrm>
            <a:off x="3492500" y="5270500"/>
            <a:ext cx="2908300" cy="920750"/>
          </a:xfrm>
          <a:prstGeom prst="roundRect">
            <a:avLst>
              <a:gd name="adj" fmla="val 17931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text-15"/>
          <p:cNvSpPr txBox="1"/>
          <p:nvPr/>
        </p:nvSpPr>
        <p:spPr>
          <a:xfrm>
            <a:off x="3683000" y="5435600"/>
            <a:ext cx="267893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ДЛЯ НУ У МЕНЯ СЧИТАЛСЯ БЫ</a:t>
            </a:r>
            <a:endParaRPr lang="en-US" sz="900" dirty="0"/>
          </a:p>
        </p:txBody>
      </p:sp>
      <p:sp>
        <p:nvSpPr>
          <p:cNvPr id="17" name="text-16"/>
          <p:cNvSpPr txBox="1"/>
          <p:nvPr/>
        </p:nvSpPr>
        <p:spPr>
          <a:xfrm>
            <a:off x="3683000" y="5619750"/>
            <a:ext cx="267893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1520</a:t>
            </a:r>
            <a:endParaRPr lang="en-US" sz="32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значит, важно, что ты отправляешь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1463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790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SCORE CHOICE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591"/>
            <a:ext cx="6300216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Ты выбираешь,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вуз считает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84000">
            <a:off x="457200" y="2412405"/>
            <a:ext cx="2901950" cy="1752600"/>
          </a:xfrm>
          <a:prstGeom prst="roundRect">
            <a:avLst>
              <a:gd name="adj" fmla="val 94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text-7"/>
          <p:cNvSpPr txBox="1"/>
          <p:nvPr/>
        </p:nvSpPr>
        <p:spPr>
          <a:xfrm rot="-84000">
            <a:off x="632743" y="2603683"/>
            <a:ext cx="267220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РЕШАЕШЬ ТЫ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84000">
            <a:off x="640515" y="2801033"/>
            <a:ext cx="2672207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3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Score Choice</a:t>
            </a:r>
            <a:endParaRPr lang="en-US" sz="3000" dirty="0"/>
          </a:p>
        </p:txBody>
      </p:sp>
      <p:sp>
        <p:nvSpPr>
          <p:cNvPr id="10" name="text-9"/>
          <p:cNvSpPr txBox="1"/>
          <p:nvPr/>
        </p:nvSpPr>
        <p:spPr>
          <a:xfrm rot="-84000">
            <a:off x="655782" y="3276501"/>
            <a:ext cx="26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Функция College Board: ты сам выбираешь, результаты каких дат отправить.</a:t>
            </a:r>
            <a:endParaRPr lang="en-US" sz="1300" dirty="0"/>
          </a:p>
        </p:txBody>
      </p:sp>
      <p:sp>
        <p:nvSpPr>
          <p:cNvPr id="11" name="shape-10"/>
          <p:cNvSpPr/>
          <p:nvPr/>
        </p:nvSpPr>
        <p:spPr>
          <a:xfrm rot="84000">
            <a:off x="3498850" y="2412405"/>
            <a:ext cx="2901950" cy="1752600"/>
          </a:xfrm>
          <a:prstGeom prst="roundRect">
            <a:avLst>
              <a:gd name="adj" fmla="val 9420"/>
            </a:avLst>
          </a:prstGeom>
          <a:solidFill>
            <a:srgbClr val="0A0A0A"/>
          </a:solidFill>
          <a:ln/>
        </p:spPr>
      </p:sp>
      <p:sp>
        <p:nvSpPr>
          <p:cNvPr id="12" name="text-11"/>
          <p:cNvSpPr txBox="1"/>
          <p:nvPr/>
        </p:nvSpPr>
        <p:spPr>
          <a:xfrm rot="84000">
            <a:off x="3704307" y="2603683"/>
            <a:ext cx="267220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РЕШАЕТ ВУЗ</a:t>
            </a:r>
            <a:endParaRPr lang="en-US" sz="900" dirty="0"/>
          </a:p>
        </p:txBody>
      </p:sp>
      <p:sp>
        <p:nvSpPr>
          <p:cNvPr id="13" name="text-12"/>
          <p:cNvSpPr txBox="1"/>
          <p:nvPr/>
        </p:nvSpPr>
        <p:spPr>
          <a:xfrm rot="84000">
            <a:off x="3696535" y="2801033"/>
            <a:ext cx="2672207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30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Superscore</a:t>
            </a:r>
            <a:endParaRPr lang="en-US" sz="3000" dirty="0"/>
          </a:p>
        </p:txBody>
      </p:sp>
      <p:sp>
        <p:nvSpPr>
          <p:cNvPr id="14" name="text-13"/>
          <p:cNvSpPr txBox="1"/>
          <p:nvPr/>
        </p:nvSpPr>
        <p:spPr>
          <a:xfrm rot="84000">
            <a:off x="3681268" y="3276501"/>
            <a:ext cx="26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Вуз складывает твои лучшие секции из всех присланных сдач.</a:t>
            </a:r>
            <a:endParaRPr lang="en-US" sz="1300" dirty="0"/>
          </a:p>
        </p:txBody>
      </p:sp>
      <p:sp>
        <p:nvSpPr>
          <p:cNvPr id="15" name="shape-14"/>
          <p:cNvSpPr/>
          <p:nvPr/>
        </p:nvSpPr>
        <p:spPr>
          <a:xfrm>
            <a:off x="457200" y="5081191"/>
            <a:ext cx="5943600" cy="939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180000">
            <a:off x="2952750" y="496570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723900" y="5322491"/>
            <a:ext cx="57348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Некоторые вузы просят все результаты. MIT, например, просит указать каждую сдачу и сам считает суперскор.</a:t>
            </a:r>
            <a:endParaRPr lang="en-US" sz="14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собрал всё в план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3970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9961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 · ПЛАН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10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План на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две сдачи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2050"/>
            <a:ext cx="5943600" cy="793750"/>
          </a:xfrm>
          <a:prstGeom prst="roundRect">
            <a:avLst>
              <a:gd name="adj" fmla="val 22400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70329" y="2197124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674929" y="2406684"/>
            <a:ext cx="58425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Нужен высокий балл? Закладывай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две попытки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2927548"/>
            <a:ext cx="5943600" cy="1047750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678089" y="3092593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71271" y="3302182"/>
            <a:ext cx="5842508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 каждой сдаче старайся по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обеим секциям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MIT пишет, что большой разрыв между попытками могут учесть.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077097"/>
            <a:ext cx="5943600" cy="1047750"/>
          </a:xfrm>
          <a:prstGeom prst="roundRect">
            <a:avLst>
              <a:gd name="adj" fmla="val 1697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68111" y="4242141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674929" y="4451731"/>
            <a:ext cx="5842508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Поступаешь в НУ? Целься в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лучший общий балл за одну сдачу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6" name="shape-15"/>
          <p:cNvSpPr/>
          <p:nvPr/>
        </p:nvSpPr>
        <p:spPr>
          <a:xfrm rot="60000">
            <a:off x="457200" y="5226596"/>
            <a:ext cx="5943600" cy="793750"/>
          </a:xfrm>
          <a:prstGeom prst="roundRect">
            <a:avLst>
              <a:gd name="adj" fmla="val 22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60000">
            <a:off x="675871" y="5391670"/>
            <a:ext cx="584250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671271" y="5601230"/>
            <a:ext cx="58425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Правила проверяй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 сайте каждого вуза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50" dirty="0"/>
          </a:p>
        </p:txBody>
      </p:sp>
      <p:sp>
        <p:nvSpPr>
          <p:cNvPr id="19" name="text-18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0" name="shape-19"/>
          <p:cNvSpPr/>
          <p:nvPr/>
        </p:nvSpPr>
        <p:spPr>
          <a:xfrm rot="-180000">
            <a:off x="958850" y="7048500"/>
            <a:ext cx="4940300" cy="4635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text-20"/>
          <p:cNvSpPr txBox="1"/>
          <p:nvPr/>
        </p:nvSpPr>
        <p:spPr>
          <a:xfrm rot="-180000">
            <a:off x="1136650" y="7150100"/>
            <a:ext cx="4859782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сохрани и отправь другу, который пересдаёт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2026-10-20T15:03:20Z</dcterms:created>
  <dcterms:modified xsi:type="dcterms:W3CDTF">2026-10-20T15:03:20Z</dcterms:modified>
</cp:coreProperties>
</file>