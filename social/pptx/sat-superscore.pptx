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6858000" cy="8572500"/>
  <p:notesSz cx="85725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jpeg"/><Relationship Id="rId4" Type="http://schemas.openxmlformats.org/officeDocument/2006/relationships/image" Target="../media/image-1-4.jpe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jpe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1"/>
          <p:cNvSpPr/>
          <p:nvPr/>
        </p:nvSpPr>
        <p:spPr>
          <a:xfrm>
            <a:off x="457200" y="406400"/>
            <a:ext cx="1866900" cy="3238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</p:spPr>
      </p:sp>
      <p:pic>
        <p:nvPicPr>
          <p:cNvPr id="3" name="sv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498475"/>
            <a:ext cx="139700" cy="139700"/>
          </a:xfrm>
          <a:prstGeom prst="rect">
            <a:avLst/>
          </a:prstGeom>
        </p:spPr>
      </p:pic>
      <p:sp>
        <p:nvSpPr>
          <p:cNvPr id="4" name="text-3"/>
          <p:cNvSpPr txBox="1"/>
          <p:nvPr/>
        </p:nvSpPr>
        <p:spPr>
          <a:xfrm>
            <a:off x="787400" y="482600"/>
            <a:ext cx="149428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SAT · СУПЕРСКОР</a:t>
            </a:r>
            <a:endParaRPr lang="en-US" sz="1000" dirty="0"/>
          </a:p>
        </p:txBody>
      </p:sp>
      <p:sp>
        <p:nvSpPr>
          <p:cNvPr id="5" name="text-4"/>
          <p:cNvSpPr txBox="1"/>
          <p:nvPr/>
        </p:nvSpPr>
        <p:spPr>
          <a:xfrm>
            <a:off x="5741640" y="482600"/>
            <a:ext cx="700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/ 10</a:t>
            </a:r>
            <a:endParaRPr lang="en-US" sz="1000" dirty="0"/>
          </a:p>
        </p:txBody>
      </p:sp>
      <p:sp>
        <p:nvSpPr>
          <p:cNvPr id="6" name="text-5"/>
          <p:cNvSpPr txBox="1"/>
          <p:nvPr/>
        </p:nvSpPr>
        <p:spPr>
          <a:xfrm>
            <a:off x="457200" y="953889"/>
            <a:ext cx="6300216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90"/>
              </a:lnSpc>
              <a:buNone/>
            </a:pPr>
            <a:r>
              <a:rPr lang="en-US" sz="4300" b="1" spc="-15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Я ни разу не набрал 1560 </a:t>
            </a:r>
            <a:pPr algn="l" indent="0" marL="0">
              <a:lnSpc>
                <a:spcPts val="4390"/>
              </a:lnSpc>
              <a:buNone/>
            </a:pPr>
            <a:r>
              <a:rPr lang="en-US" sz="4800" i="1" spc="-100" kern="0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за один раз</a:t>
            </a:r>
            <a:endParaRPr lang="en-US" sz="4300" dirty="0"/>
          </a:p>
        </p:txBody>
      </p:sp>
      <p:sp>
        <p:nvSpPr>
          <p:cNvPr id="7" name="text-6"/>
          <p:cNvSpPr txBox="1"/>
          <p:nvPr/>
        </p:nvSpPr>
        <p:spPr>
          <a:xfrm>
            <a:off x="457696" y="2263378"/>
            <a:ext cx="588962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B2A2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Но в заявке у меня стоит 1560, и вузы это принимают. Рассказываю, как работает суперскор.</a:t>
            </a:r>
            <a:endParaRPr lang="en-US" sz="1500" dirty="0"/>
          </a:p>
        </p:txBody>
      </p:sp>
      <p:sp>
        <p:nvSpPr>
          <p:cNvPr id="8" name="shape-7"/>
          <p:cNvSpPr/>
          <p:nvPr/>
        </p:nvSpPr>
        <p:spPr>
          <a:xfrm rot="-300000">
            <a:off x="762000" y="3049240"/>
            <a:ext cx="2222500" cy="36195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9" name="shape-8"/>
          <p:cNvSpPr/>
          <p:nvPr/>
        </p:nvSpPr>
        <p:spPr>
          <a:xfrm rot="-480000">
            <a:off x="1241376" y="2940495"/>
            <a:ext cx="952500" cy="279400"/>
          </a:xfrm>
          <a:prstGeom prst="rect">
            <a:avLst/>
          </a:prstGeom>
          <a:solidFill>
            <a:srgbClr val="D5D5D4">
              <a:alpha val="90000"/>
            </a:srgbClr>
          </a:solidFill>
          <a:ln/>
        </p:spPr>
      </p:sp>
      <p:pic>
        <p:nvPicPr>
          <p:cNvPr id="10" name="img-9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300000">
            <a:off x="839278" y="3138648"/>
            <a:ext cx="2044700" cy="3175000"/>
          </a:xfrm>
          <a:prstGeom prst="rect">
            <a:avLst/>
          </a:prstGeom>
        </p:spPr>
      </p:pic>
      <p:sp>
        <p:nvSpPr>
          <p:cNvPr id="11" name="text-10"/>
          <p:cNvSpPr txBox="1"/>
          <p:nvPr/>
        </p:nvSpPr>
        <p:spPr>
          <a:xfrm rot="-300000">
            <a:off x="857401" y="6327324"/>
            <a:ext cx="23114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май 2025</a:t>
            </a:r>
            <a:endParaRPr lang="en-US" sz="1500" dirty="0"/>
          </a:p>
        </p:txBody>
      </p:sp>
      <p:sp>
        <p:nvSpPr>
          <p:cNvPr id="12" name="shape-11"/>
          <p:cNvSpPr/>
          <p:nvPr/>
        </p:nvSpPr>
        <p:spPr>
          <a:xfrm rot="240000">
            <a:off x="3873500" y="3239740"/>
            <a:ext cx="2222500" cy="36195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13" name="shape-12"/>
          <p:cNvSpPr/>
          <p:nvPr/>
        </p:nvSpPr>
        <p:spPr>
          <a:xfrm rot="60000">
            <a:off x="4633057" y="3128550"/>
            <a:ext cx="952500" cy="279400"/>
          </a:xfrm>
          <a:prstGeom prst="rect">
            <a:avLst/>
          </a:prstGeom>
          <a:solidFill>
            <a:srgbClr val="D5D5D4">
              <a:alpha val="90000"/>
            </a:srgbClr>
          </a:solidFill>
          <a:ln/>
        </p:spPr>
      </p:sp>
      <p:pic>
        <p:nvPicPr>
          <p:cNvPr id="14" name="img-1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40000">
            <a:off x="3971702" y="3328965"/>
            <a:ext cx="2044700" cy="3175000"/>
          </a:xfrm>
          <a:prstGeom prst="rect">
            <a:avLst/>
          </a:prstGeom>
        </p:spPr>
      </p:pic>
      <p:sp>
        <p:nvSpPr>
          <p:cNvPr id="15" name="text-14"/>
          <p:cNvSpPr txBox="1"/>
          <p:nvPr/>
        </p:nvSpPr>
        <p:spPr>
          <a:xfrm rot="240000">
            <a:off x="3717118" y="6520022"/>
            <a:ext cx="23114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декабрь 2025</a:t>
            </a:r>
            <a:endParaRPr lang="en-US" sz="1500" dirty="0"/>
          </a:p>
        </p:txBody>
      </p:sp>
      <p:pic>
        <p:nvPicPr>
          <p:cNvPr id="16" name="svg-1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2000" y="2984500"/>
            <a:ext cx="279400" cy="279400"/>
          </a:xfrm>
          <a:prstGeom prst="rect">
            <a:avLst/>
          </a:prstGeom>
        </p:spPr>
      </p:pic>
      <p:sp>
        <p:nvSpPr>
          <p:cNvPr id="17" name="text-16"/>
          <p:cNvSpPr txBox="1"/>
          <p:nvPr/>
        </p:nvSpPr>
        <p:spPr>
          <a:xfrm>
            <a:off x="457845" y="7969250"/>
            <a:ext cx="8952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@NURZYCOM</a:t>
            </a:r>
            <a:endParaRPr lang="en-US" sz="1000" dirty="0"/>
          </a:p>
        </p:txBody>
      </p:sp>
      <p:sp>
        <p:nvSpPr>
          <p:cNvPr id="18" name="shape-17"/>
          <p:cNvSpPr/>
          <p:nvPr/>
        </p:nvSpPr>
        <p:spPr>
          <a:xfrm>
            <a:off x="5340945" y="7893050"/>
            <a:ext cx="1060450" cy="32385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</p:sp>
      <p:sp>
        <p:nvSpPr>
          <p:cNvPr id="19" name="text-18"/>
          <p:cNvSpPr txBox="1"/>
          <p:nvPr/>
        </p:nvSpPr>
        <p:spPr>
          <a:xfrm>
            <a:off x="5480645" y="7969250"/>
            <a:ext cx="5990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ЛИСТАЙ</a:t>
            </a:r>
            <a:endParaRPr lang="en-US" sz="1000" dirty="0"/>
          </a:p>
        </p:txBody>
      </p:sp>
      <p:pic>
        <p:nvPicPr>
          <p:cNvPr id="20" name="svg-19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1400" y="7985125"/>
            <a:ext cx="139700" cy="139700"/>
          </a:xfrm>
          <a:prstGeom prst="rect">
            <a:avLst/>
          </a:prstGeom>
        </p:spPr>
      </p:pic>
      <p:sp>
        <p:nvSpPr>
          <p:cNvPr id="21" name="shape-20"/>
          <p:cNvSpPr/>
          <p:nvPr/>
        </p:nvSpPr>
        <p:spPr>
          <a:xfrm rot="-180000">
            <a:off x="2181225" y="7175500"/>
            <a:ext cx="2495550" cy="55880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22" name="text-21"/>
          <p:cNvSpPr txBox="1"/>
          <p:nvPr/>
        </p:nvSpPr>
        <p:spPr>
          <a:xfrm rot="-180000">
            <a:off x="2384425" y="7289800"/>
            <a:ext cx="221449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spc="-20" kern="0" dirty="0">
                <a:solidFill>
                  <a:srgbClr val="FAF8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760 + 800 = 1560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1"/>
          <p:cNvSpPr/>
          <p:nvPr/>
        </p:nvSpPr>
        <p:spPr>
          <a:xfrm>
            <a:off x="458490" y="406400"/>
            <a:ext cx="2616200" cy="3238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</p:spPr>
      </p:sp>
      <p:pic>
        <p:nvPicPr>
          <p:cNvPr id="3" name="sv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498475"/>
            <a:ext cx="139700" cy="139700"/>
          </a:xfrm>
          <a:prstGeom prst="rect">
            <a:avLst/>
          </a:prstGeom>
        </p:spPr>
      </p:pic>
      <p:sp>
        <p:nvSpPr>
          <p:cNvPr id="4" name="text-3"/>
          <p:cNvSpPr txBox="1"/>
          <p:nvPr/>
        </p:nvSpPr>
        <p:spPr>
          <a:xfrm>
            <a:off x="788690" y="482600"/>
            <a:ext cx="22885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SAT · КАК ЭТО СЧИТАЕТСЯ</a:t>
            </a:r>
            <a:endParaRPr lang="en-US" sz="1000" dirty="0"/>
          </a:p>
        </p:txBody>
      </p:sp>
      <p:sp>
        <p:nvSpPr>
          <p:cNvPr id="5" name="text-4"/>
          <p:cNvSpPr txBox="1"/>
          <p:nvPr/>
        </p:nvSpPr>
        <p:spPr>
          <a:xfrm>
            <a:off x="5741640" y="482600"/>
            <a:ext cx="700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/ 10</a:t>
            </a:r>
            <a:endParaRPr lang="en-US" sz="1000" dirty="0"/>
          </a:p>
        </p:txBody>
      </p:sp>
      <p:sp>
        <p:nvSpPr>
          <p:cNvPr id="6" name="text-5"/>
          <p:cNvSpPr txBox="1"/>
          <p:nvPr/>
        </p:nvSpPr>
        <p:spPr>
          <a:xfrm>
            <a:off x="457200" y="951458"/>
            <a:ext cx="6300216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80"/>
              </a:lnSpc>
              <a:buNone/>
            </a:pPr>
            <a:r>
              <a:rPr lang="en-US" sz="4200" b="1" spc="-15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Как получилось </a:t>
            </a:r>
            <a:pPr algn="l" indent="0" marL="0">
              <a:lnSpc>
                <a:spcPts val="4280"/>
              </a:lnSpc>
              <a:buNone/>
            </a:pPr>
            <a:r>
              <a:rPr lang="en-US" sz="4800" i="1" spc="-100" kern="0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1560</a:t>
            </a:r>
            <a:endParaRPr lang="en-US" sz="4200" dirty="0"/>
          </a:p>
        </p:txBody>
      </p:sp>
      <p:sp>
        <p:nvSpPr>
          <p:cNvPr id="7" name="text-6"/>
          <p:cNvSpPr txBox="1"/>
          <p:nvPr/>
        </p:nvSpPr>
        <p:spPr>
          <a:xfrm>
            <a:off x="457696" y="1706066"/>
            <a:ext cx="588962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B2A2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Вуз берёт лучший балл по каждой секции из разных попыток.</a:t>
            </a:r>
            <a:endParaRPr lang="en-US" sz="1500" dirty="0"/>
          </a:p>
        </p:txBody>
      </p:sp>
      <p:sp>
        <p:nvSpPr>
          <p:cNvPr id="8" name="shape-7"/>
          <p:cNvSpPr/>
          <p:nvPr/>
        </p:nvSpPr>
        <p:spPr>
          <a:xfrm rot="-90000">
            <a:off x="457200" y="2667000"/>
            <a:ext cx="2895600" cy="217805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9" name="text-8"/>
          <p:cNvSpPr txBox="1"/>
          <p:nvPr/>
        </p:nvSpPr>
        <p:spPr>
          <a:xfrm rot="-90000">
            <a:off x="638791" y="2857783"/>
            <a:ext cx="2638552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5A58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МАЙ 2025</a:t>
            </a:r>
            <a:endParaRPr lang="en-US" sz="900" dirty="0"/>
          </a:p>
        </p:txBody>
      </p:sp>
      <p:sp>
        <p:nvSpPr>
          <p:cNvPr id="10" name="text-9"/>
          <p:cNvSpPr txBox="1"/>
          <p:nvPr/>
        </p:nvSpPr>
        <p:spPr>
          <a:xfrm rot="-90000">
            <a:off x="648016" y="3054512"/>
            <a:ext cx="2638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i="1" dirty="0">
                <a:solidFill>
                  <a:srgbClr val="5A5852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1490</a:t>
            </a:r>
            <a:endParaRPr lang="en-US" sz="3600" dirty="0"/>
          </a:p>
        </p:txBody>
      </p:sp>
      <p:sp>
        <p:nvSpPr>
          <p:cNvPr id="11" name="shape-10"/>
          <p:cNvSpPr/>
          <p:nvPr/>
        </p:nvSpPr>
        <p:spPr>
          <a:xfrm rot="-90000">
            <a:off x="662976" y="3625816"/>
            <a:ext cx="2489200" cy="457200"/>
          </a:xfrm>
          <a:prstGeom prst="roundRect">
            <a:avLst>
              <a:gd name="adj" fmla="val 19444"/>
            </a:avLst>
          </a:prstGeom>
          <a:solidFill>
            <a:srgbClr val="0A0A0A"/>
          </a:solidFill>
          <a:ln/>
        </p:spPr>
      </p:sp>
      <p:sp>
        <p:nvSpPr>
          <p:cNvPr id="12" name="text-11"/>
          <p:cNvSpPr txBox="1"/>
          <p:nvPr/>
        </p:nvSpPr>
        <p:spPr>
          <a:xfrm rot="-90000">
            <a:off x="751876" y="3689316"/>
            <a:ext cx="245008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FAF8F3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Reading &amp; Writing </a:t>
            </a:r>
            <a:pPr algn="l" indent="0" marL="0">
              <a:lnSpc>
                <a:spcPts val="1680"/>
              </a:lnSpc>
              <a:buNone/>
            </a:pPr>
            <a:r>
              <a:rPr lang="en-US" sz="2000" b="1" dirty="0">
                <a:solidFill>
                  <a:srgbClr val="FAF8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760</a:t>
            </a:r>
            <a:endParaRPr lang="en-US" sz="1400" dirty="0"/>
          </a:p>
        </p:txBody>
      </p:sp>
      <p:sp>
        <p:nvSpPr>
          <p:cNvPr id="13" name="text-12"/>
          <p:cNvSpPr txBox="1"/>
          <p:nvPr/>
        </p:nvSpPr>
        <p:spPr>
          <a:xfrm rot="-90000">
            <a:off x="766837" y="4260620"/>
            <a:ext cx="245008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0A0A0A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Math </a:t>
            </a:r>
            <a:pPr algn="l" indent="0" marL="0">
              <a:lnSpc>
                <a:spcPts val="1680"/>
              </a:lnSpc>
              <a:buNone/>
            </a:pPr>
            <a:r>
              <a:rPr lang="en-US" sz="2000" dirty="0">
                <a:solidFill>
                  <a:srgbClr val="9A988F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730</a:t>
            </a:r>
            <a:endParaRPr lang="en-US" sz="1400" dirty="0"/>
          </a:p>
        </p:txBody>
      </p:sp>
      <p:sp>
        <p:nvSpPr>
          <p:cNvPr id="14" name="shape-13"/>
          <p:cNvSpPr/>
          <p:nvPr/>
        </p:nvSpPr>
        <p:spPr>
          <a:xfrm rot="90000">
            <a:off x="3505200" y="2667000"/>
            <a:ext cx="2895600" cy="217805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15" name="text-14"/>
          <p:cNvSpPr txBox="1"/>
          <p:nvPr/>
        </p:nvSpPr>
        <p:spPr>
          <a:xfrm rot="90000">
            <a:off x="3730009" y="2857783"/>
            <a:ext cx="2638552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5A58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ДЕКАБРЬ 2025</a:t>
            </a:r>
            <a:endParaRPr lang="en-US" sz="900" dirty="0"/>
          </a:p>
        </p:txBody>
      </p:sp>
      <p:sp>
        <p:nvSpPr>
          <p:cNvPr id="16" name="text-15"/>
          <p:cNvSpPr txBox="1"/>
          <p:nvPr/>
        </p:nvSpPr>
        <p:spPr>
          <a:xfrm rot="90000">
            <a:off x="3720784" y="3054512"/>
            <a:ext cx="2638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i="1" dirty="0">
                <a:solidFill>
                  <a:srgbClr val="5A5852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1520</a:t>
            </a:r>
            <a:endParaRPr lang="en-US" sz="3600" dirty="0"/>
          </a:p>
        </p:txBody>
      </p:sp>
      <p:sp>
        <p:nvSpPr>
          <p:cNvPr id="17" name="text-16"/>
          <p:cNvSpPr txBox="1"/>
          <p:nvPr/>
        </p:nvSpPr>
        <p:spPr>
          <a:xfrm rot="90000">
            <a:off x="3794724" y="3689316"/>
            <a:ext cx="245008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0A0A0A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Reading &amp; Writing </a:t>
            </a:r>
            <a:pPr algn="l" indent="0" marL="0">
              <a:lnSpc>
                <a:spcPts val="1680"/>
              </a:lnSpc>
              <a:buNone/>
            </a:pPr>
            <a:r>
              <a:rPr lang="en-US" sz="2000" dirty="0">
                <a:solidFill>
                  <a:srgbClr val="9A988F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720</a:t>
            </a:r>
            <a:endParaRPr lang="en-US" sz="1400" dirty="0"/>
          </a:p>
        </p:txBody>
      </p:sp>
      <p:sp>
        <p:nvSpPr>
          <p:cNvPr id="18" name="shape-17"/>
          <p:cNvSpPr/>
          <p:nvPr/>
        </p:nvSpPr>
        <p:spPr>
          <a:xfrm rot="90000">
            <a:off x="3690863" y="4197120"/>
            <a:ext cx="2489200" cy="457200"/>
          </a:xfrm>
          <a:prstGeom prst="roundRect">
            <a:avLst>
              <a:gd name="adj" fmla="val 19444"/>
            </a:avLst>
          </a:prstGeom>
          <a:solidFill>
            <a:srgbClr val="0A0A0A"/>
          </a:solidFill>
          <a:ln/>
        </p:spPr>
      </p:sp>
      <p:sp>
        <p:nvSpPr>
          <p:cNvPr id="19" name="text-18"/>
          <p:cNvSpPr txBox="1"/>
          <p:nvPr/>
        </p:nvSpPr>
        <p:spPr>
          <a:xfrm rot="90000">
            <a:off x="3779763" y="4260620"/>
            <a:ext cx="245008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FAF8F3"/>
                </a:solidFill>
                <a:latin typeface="Geist Medium" pitchFamily="34" charset="0"/>
                <a:ea typeface="Geist Medium" pitchFamily="34" charset="-122"/>
                <a:cs typeface="Geist Medium" pitchFamily="34" charset="-120"/>
              </a:rPr>
              <a:t>Math </a:t>
            </a:r>
            <a:pPr algn="l" indent="0" marL="0">
              <a:lnSpc>
                <a:spcPts val="1680"/>
              </a:lnSpc>
              <a:buNone/>
            </a:pPr>
            <a:r>
              <a:rPr lang="en-US" sz="2000" b="1" dirty="0">
                <a:solidFill>
                  <a:srgbClr val="FAF8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800</a:t>
            </a:r>
            <a:endParaRPr lang="en-US" sz="1400" dirty="0"/>
          </a:p>
        </p:txBody>
      </p:sp>
      <p:sp>
        <p:nvSpPr>
          <p:cNvPr id="20" name="text-19"/>
          <p:cNvSpPr txBox="1"/>
          <p:nvPr/>
        </p:nvSpPr>
        <p:spPr>
          <a:xfrm>
            <a:off x="338328" y="5842000"/>
            <a:ext cx="6181344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650"/>
              </a:lnSpc>
              <a:buNone/>
            </a:pPr>
            <a:r>
              <a:rPr lang="en-US" sz="8500" i="1" spc="-340" kern="0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760 + 800</a:t>
            </a:r>
            <a:endParaRPr lang="en-US" sz="8500" dirty="0"/>
          </a:p>
        </p:txBody>
      </p:sp>
      <p:sp>
        <p:nvSpPr>
          <p:cNvPr id="21" name="text-20"/>
          <p:cNvSpPr txBox="1"/>
          <p:nvPr/>
        </p:nvSpPr>
        <p:spPr>
          <a:xfrm>
            <a:off x="338328" y="6877050"/>
            <a:ext cx="6181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2B2A2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= </a:t>
            </a:r>
            <a:pPr algn="ctr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2B2A2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1560</a:t>
            </a:r>
            <a:pPr algn="ctr"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2B2A2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мой суперскор</a:t>
            </a:r>
            <a:endParaRPr lang="en-US" sz="1400" dirty="0"/>
          </a:p>
        </p:txBody>
      </p:sp>
      <p:sp>
        <p:nvSpPr>
          <p:cNvPr id="22" name="text-21"/>
          <p:cNvSpPr txBox="1"/>
          <p:nvPr/>
        </p:nvSpPr>
        <p:spPr>
          <a:xfrm>
            <a:off x="457845" y="7969250"/>
            <a:ext cx="8952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@NURZYCOM</a:t>
            </a:r>
            <a:endParaRPr lang="en-US" sz="1000" dirty="0"/>
          </a:p>
        </p:txBody>
      </p:sp>
      <p:sp>
        <p:nvSpPr>
          <p:cNvPr id="23" name="shape-22"/>
          <p:cNvSpPr/>
          <p:nvPr/>
        </p:nvSpPr>
        <p:spPr>
          <a:xfrm>
            <a:off x="5340945" y="7893050"/>
            <a:ext cx="1060450" cy="32385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</p:sp>
      <p:sp>
        <p:nvSpPr>
          <p:cNvPr id="24" name="text-23"/>
          <p:cNvSpPr txBox="1"/>
          <p:nvPr/>
        </p:nvSpPr>
        <p:spPr>
          <a:xfrm>
            <a:off x="5480645" y="7969250"/>
            <a:ext cx="5990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ЛИСТАЙ</a:t>
            </a:r>
            <a:endParaRPr lang="en-US" sz="1000" dirty="0"/>
          </a:p>
        </p:txBody>
      </p:sp>
      <p:pic>
        <p:nvPicPr>
          <p:cNvPr id="25" name="svg-24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1400" y="7985125"/>
            <a:ext cx="139700" cy="1397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1"/>
          <p:cNvSpPr/>
          <p:nvPr/>
        </p:nvSpPr>
        <p:spPr>
          <a:xfrm>
            <a:off x="457200" y="406400"/>
            <a:ext cx="1397000" cy="3238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</p:spPr>
      </p:sp>
      <p:pic>
        <p:nvPicPr>
          <p:cNvPr id="3" name="sv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498475"/>
            <a:ext cx="139700" cy="139700"/>
          </a:xfrm>
          <a:prstGeom prst="rect">
            <a:avLst/>
          </a:prstGeom>
        </p:spPr>
      </p:pic>
      <p:sp>
        <p:nvSpPr>
          <p:cNvPr id="4" name="text-3"/>
          <p:cNvSpPr txBox="1"/>
          <p:nvPr/>
        </p:nvSpPr>
        <p:spPr>
          <a:xfrm>
            <a:off x="787400" y="482600"/>
            <a:ext cx="99618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SAT · 1926</a:t>
            </a:r>
            <a:endParaRPr lang="en-US" sz="1000" dirty="0"/>
          </a:p>
        </p:txBody>
      </p:sp>
      <p:sp>
        <p:nvSpPr>
          <p:cNvPr id="5" name="text-4"/>
          <p:cNvSpPr txBox="1"/>
          <p:nvPr/>
        </p:nvSpPr>
        <p:spPr>
          <a:xfrm>
            <a:off x="5741640" y="482600"/>
            <a:ext cx="700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/ 10</a:t>
            </a:r>
            <a:endParaRPr lang="en-US" sz="1000" dirty="0"/>
          </a:p>
        </p:txBody>
      </p:sp>
      <p:sp>
        <p:nvSpPr>
          <p:cNvPr id="6" name="text-5"/>
          <p:cNvSpPr txBox="1"/>
          <p:nvPr/>
        </p:nvSpPr>
        <p:spPr>
          <a:xfrm>
            <a:off x="457200" y="951458"/>
            <a:ext cx="6300216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80"/>
              </a:lnSpc>
              <a:buNone/>
            </a:pPr>
            <a:r>
              <a:rPr lang="en-US" sz="4200" b="1" spc="-15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SAT уже </a:t>
            </a:r>
            <a:pPr algn="l" indent="0" marL="0">
              <a:lnSpc>
                <a:spcPts val="4280"/>
              </a:lnSpc>
              <a:buNone/>
            </a:pPr>
            <a:r>
              <a:rPr lang="en-US" sz="4800" i="1" spc="-100" kern="0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100 лет</a:t>
            </a:r>
            <a:endParaRPr lang="en-US" sz="4200" dirty="0"/>
          </a:p>
        </p:txBody>
      </p:sp>
      <p:sp>
        <p:nvSpPr>
          <p:cNvPr id="7" name="text-6"/>
          <p:cNvSpPr txBox="1"/>
          <p:nvPr/>
        </p:nvSpPr>
        <p:spPr>
          <a:xfrm>
            <a:off x="457696" y="1706066"/>
            <a:ext cx="588962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B2A2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Первый SAT прошёл 23 июня 1926 года. Его сдавали около 8 000 школьников: 315 вопросов за 97 минут.</a:t>
            </a:r>
            <a:endParaRPr lang="en-US" sz="1500" dirty="0"/>
          </a:p>
        </p:txBody>
      </p:sp>
      <p:sp>
        <p:nvSpPr>
          <p:cNvPr id="8" name="shape-7"/>
          <p:cNvSpPr/>
          <p:nvPr/>
        </p:nvSpPr>
        <p:spPr>
          <a:xfrm rot="-90000">
            <a:off x="457200" y="2730550"/>
            <a:ext cx="5943600" cy="304165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9" name="shape-8"/>
          <p:cNvSpPr/>
          <p:nvPr/>
        </p:nvSpPr>
        <p:spPr>
          <a:xfrm rot="-270000">
            <a:off x="2913603" y="2616712"/>
            <a:ext cx="952500" cy="279400"/>
          </a:xfrm>
          <a:prstGeom prst="rect">
            <a:avLst/>
          </a:prstGeom>
          <a:solidFill>
            <a:srgbClr val="D5D5D4">
              <a:alpha val="90000"/>
            </a:srgbClr>
          </a:solidFill>
          <a:ln/>
        </p:spPr>
      </p:sp>
      <p:pic>
        <p:nvPicPr>
          <p:cNvPr id="10" name="img-9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90000">
            <a:off x="632191" y="2909031"/>
            <a:ext cx="5588000" cy="2470150"/>
          </a:xfrm>
          <a:prstGeom prst="rect">
            <a:avLst/>
          </a:prstGeom>
        </p:spPr>
      </p:pic>
      <p:sp>
        <p:nvSpPr>
          <p:cNvPr id="11" name="text-10"/>
          <p:cNvSpPr txBox="1"/>
          <p:nvPr/>
        </p:nvSpPr>
        <p:spPr>
          <a:xfrm rot="-90000">
            <a:off x="668512" y="5454955"/>
            <a:ext cx="59232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spc="70" kern="0" dirty="0">
                <a:solidFill>
                  <a:srgbClr val="5A58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SAT 1926 ГОДА · СКАН ИЗ ОТЧЁТА COLLEGE BOARD 2003-3</a:t>
            </a:r>
            <a:endParaRPr lang="en-US" sz="850" dirty="0"/>
          </a:p>
        </p:txBody>
      </p:sp>
      <p:sp>
        <p:nvSpPr>
          <p:cNvPr id="12" name="text-11"/>
          <p:cNvSpPr txBox="1"/>
          <p:nvPr/>
        </p:nvSpPr>
        <p:spPr>
          <a:xfrm rot="-120000">
            <a:off x="457200" y="6222305"/>
            <a:ext cx="6300216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первый вопрос: сколько стоят 5 галлонов бензина по 24 цента</a:t>
            </a:r>
            <a:endParaRPr lang="en-US" sz="1800" dirty="0"/>
          </a:p>
        </p:txBody>
      </p:sp>
      <p:sp>
        <p:nvSpPr>
          <p:cNvPr id="13" name="text-12"/>
          <p:cNvSpPr txBox="1"/>
          <p:nvPr/>
        </p:nvSpPr>
        <p:spPr>
          <a:xfrm>
            <a:off x="457845" y="7969250"/>
            <a:ext cx="8952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@NURZYCOM</a:t>
            </a:r>
            <a:endParaRPr lang="en-US" sz="1000" dirty="0"/>
          </a:p>
        </p:txBody>
      </p:sp>
      <p:sp>
        <p:nvSpPr>
          <p:cNvPr id="14" name="shape-13"/>
          <p:cNvSpPr/>
          <p:nvPr/>
        </p:nvSpPr>
        <p:spPr>
          <a:xfrm>
            <a:off x="5340945" y="7893050"/>
            <a:ext cx="1060450" cy="32385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</p:sp>
      <p:sp>
        <p:nvSpPr>
          <p:cNvPr id="15" name="text-14"/>
          <p:cNvSpPr txBox="1"/>
          <p:nvPr/>
        </p:nvSpPr>
        <p:spPr>
          <a:xfrm>
            <a:off x="5480645" y="7969250"/>
            <a:ext cx="5990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ЛИСТАЙ</a:t>
            </a:r>
            <a:endParaRPr lang="en-US" sz="1000" dirty="0"/>
          </a:p>
        </p:txBody>
      </p:sp>
      <p:pic>
        <p:nvPicPr>
          <p:cNvPr id="16" name="svg-15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1400" y="7985125"/>
            <a:ext cx="139700" cy="1397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1"/>
          <p:cNvSpPr/>
          <p:nvPr/>
        </p:nvSpPr>
        <p:spPr>
          <a:xfrm>
            <a:off x="458490" y="406400"/>
            <a:ext cx="1676400" cy="3238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</p:spPr>
      </p:sp>
      <p:pic>
        <p:nvPicPr>
          <p:cNvPr id="3" name="sv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498475"/>
            <a:ext cx="139700" cy="139700"/>
          </a:xfrm>
          <a:prstGeom prst="rect">
            <a:avLst/>
          </a:prstGeom>
        </p:spPr>
      </p:pic>
      <p:sp>
        <p:nvSpPr>
          <p:cNvPr id="4" name="text-3"/>
          <p:cNvSpPr txBox="1"/>
          <p:nvPr/>
        </p:nvSpPr>
        <p:spPr>
          <a:xfrm>
            <a:off x="788690" y="482600"/>
            <a:ext cx="129235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SAT · ИСТОРИЯ</a:t>
            </a:r>
            <a:endParaRPr lang="en-US" sz="1000" dirty="0"/>
          </a:p>
        </p:txBody>
      </p:sp>
      <p:sp>
        <p:nvSpPr>
          <p:cNvPr id="5" name="text-4"/>
          <p:cNvSpPr txBox="1"/>
          <p:nvPr/>
        </p:nvSpPr>
        <p:spPr>
          <a:xfrm>
            <a:off x="5741640" y="482600"/>
            <a:ext cx="700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/ 10</a:t>
            </a:r>
            <a:endParaRPr lang="en-US" sz="1000" dirty="0"/>
          </a:p>
        </p:txBody>
      </p:sp>
      <p:sp>
        <p:nvSpPr>
          <p:cNvPr id="6" name="text-5"/>
          <p:cNvSpPr txBox="1"/>
          <p:nvPr/>
        </p:nvSpPr>
        <p:spPr>
          <a:xfrm>
            <a:off x="457200" y="951458"/>
            <a:ext cx="6300216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80"/>
              </a:lnSpc>
              <a:buNone/>
            </a:pPr>
            <a:r>
              <a:rPr lang="en-US" sz="4200" b="1" spc="-15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Как менялся </a:t>
            </a:r>
            <a:pPr algn="l" indent="0" marL="0">
              <a:lnSpc>
                <a:spcPts val="4280"/>
              </a:lnSpc>
              <a:buNone/>
            </a:pPr>
            <a:r>
              <a:rPr lang="en-US" sz="4800" i="1" spc="-100" kern="0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SAT</a:t>
            </a:r>
            <a:endParaRPr lang="en-US" sz="4200" dirty="0"/>
          </a:p>
        </p:txBody>
      </p:sp>
      <p:sp>
        <p:nvSpPr>
          <p:cNvPr id="7" name="shape-6"/>
          <p:cNvSpPr/>
          <p:nvPr/>
        </p:nvSpPr>
        <p:spPr>
          <a:xfrm rot="-48000">
            <a:off x="457200" y="2095500"/>
            <a:ext cx="5943600" cy="635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8" name="text-7"/>
          <p:cNvSpPr txBox="1"/>
          <p:nvPr/>
        </p:nvSpPr>
        <p:spPr>
          <a:xfrm rot="-48000">
            <a:off x="622521" y="2241452"/>
            <a:ext cx="114427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32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1926</a:t>
            </a:r>
            <a:endParaRPr lang="en-US" sz="3200" dirty="0"/>
          </a:p>
        </p:txBody>
      </p:sp>
      <p:sp>
        <p:nvSpPr>
          <p:cNvPr id="9" name="text-8"/>
          <p:cNvSpPr txBox="1"/>
          <p:nvPr/>
        </p:nvSpPr>
        <p:spPr>
          <a:xfrm rot="-48000">
            <a:off x="1854140" y="2293275"/>
            <a:ext cx="464439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30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Первый SAT. Девять подтестов, почти всё на скорость.</a:t>
            </a:r>
            <a:endParaRPr lang="en-US" sz="1300" dirty="0"/>
          </a:p>
        </p:txBody>
      </p:sp>
      <p:sp>
        <p:nvSpPr>
          <p:cNvPr id="10" name="shape-9"/>
          <p:cNvSpPr/>
          <p:nvPr/>
        </p:nvSpPr>
        <p:spPr>
          <a:xfrm rot="48000">
            <a:off x="457200" y="2832100"/>
            <a:ext cx="5943600" cy="635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11" name="text-10"/>
          <p:cNvSpPr txBox="1"/>
          <p:nvPr/>
        </p:nvSpPr>
        <p:spPr>
          <a:xfrm rot="48000">
            <a:off x="622521" y="2914748"/>
            <a:ext cx="114427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32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2005</a:t>
            </a:r>
            <a:endParaRPr lang="en-US" sz="3200" dirty="0"/>
          </a:p>
        </p:txBody>
      </p:sp>
      <p:sp>
        <p:nvSpPr>
          <p:cNvPr id="12" name="text-11"/>
          <p:cNvSpPr txBox="1"/>
          <p:nvPr/>
        </p:nvSpPr>
        <p:spPr>
          <a:xfrm rot="48000">
            <a:off x="1854140" y="3047075"/>
            <a:ext cx="464439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30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Добавили Writing, максимум вырос до 2400.</a:t>
            </a:r>
            <a:endParaRPr lang="en-US" sz="1300" dirty="0"/>
          </a:p>
        </p:txBody>
      </p:sp>
      <p:sp>
        <p:nvSpPr>
          <p:cNvPr id="13" name="shape-12"/>
          <p:cNvSpPr/>
          <p:nvPr/>
        </p:nvSpPr>
        <p:spPr>
          <a:xfrm rot="-48000">
            <a:off x="457200" y="3568700"/>
            <a:ext cx="5943600" cy="635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14" name="text-13"/>
          <p:cNvSpPr txBox="1"/>
          <p:nvPr/>
        </p:nvSpPr>
        <p:spPr>
          <a:xfrm rot="-48000">
            <a:off x="622521" y="3714652"/>
            <a:ext cx="114427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32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2016</a:t>
            </a:r>
            <a:endParaRPr lang="en-US" sz="3200" dirty="0"/>
          </a:p>
        </p:txBody>
      </p:sp>
      <p:sp>
        <p:nvSpPr>
          <p:cNvPr id="15" name="text-14"/>
          <p:cNvSpPr txBox="1"/>
          <p:nvPr/>
        </p:nvSpPr>
        <p:spPr>
          <a:xfrm rot="-48000">
            <a:off x="1854140" y="3766475"/>
            <a:ext cx="464439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30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Writing убрали. Снова 1600: Reading &amp; Writing и Math.</a:t>
            </a:r>
            <a:endParaRPr lang="en-US" sz="1300" dirty="0"/>
          </a:p>
        </p:txBody>
      </p:sp>
      <p:sp>
        <p:nvSpPr>
          <p:cNvPr id="16" name="shape-15"/>
          <p:cNvSpPr/>
          <p:nvPr/>
        </p:nvSpPr>
        <p:spPr>
          <a:xfrm rot="48000">
            <a:off x="457200" y="4305895"/>
            <a:ext cx="5943600" cy="6731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17" name="text-16"/>
          <p:cNvSpPr txBox="1"/>
          <p:nvPr/>
        </p:nvSpPr>
        <p:spPr>
          <a:xfrm rot="48000">
            <a:off x="622521" y="4407594"/>
            <a:ext cx="114427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32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2023</a:t>
            </a:r>
            <a:endParaRPr lang="en-US" sz="3200" dirty="0"/>
          </a:p>
        </p:txBody>
      </p:sp>
      <p:sp>
        <p:nvSpPr>
          <p:cNvPr id="18" name="text-17"/>
          <p:cNvSpPr txBox="1"/>
          <p:nvPr/>
        </p:nvSpPr>
        <p:spPr>
          <a:xfrm rot="48000">
            <a:off x="1854140" y="4428795"/>
            <a:ext cx="464439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30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Цифровой SAT в Bluebook для сдающих за пределами США. Тест подстраивается под ответы.</a:t>
            </a:r>
            <a:endParaRPr lang="en-US" sz="1300" dirty="0"/>
          </a:p>
        </p:txBody>
      </p:sp>
      <p:sp>
        <p:nvSpPr>
          <p:cNvPr id="19" name="shape-18"/>
          <p:cNvSpPr/>
          <p:nvPr/>
        </p:nvSpPr>
        <p:spPr>
          <a:xfrm rot="-48000">
            <a:off x="457200" y="5081191"/>
            <a:ext cx="5943600" cy="635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20" name="text-19"/>
          <p:cNvSpPr txBox="1"/>
          <p:nvPr/>
        </p:nvSpPr>
        <p:spPr>
          <a:xfrm rot="-48000">
            <a:off x="622521" y="5227142"/>
            <a:ext cx="114427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32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2024</a:t>
            </a:r>
            <a:endParaRPr lang="en-US" sz="3200" dirty="0"/>
          </a:p>
        </p:txBody>
      </p:sp>
      <p:sp>
        <p:nvSpPr>
          <p:cNvPr id="21" name="text-20"/>
          <p:cNvSpPr txBox="1"/>
          <p:nvPr/>
        </p:nvSpPr>
        <p:spPr>
          <a:xfrm rot="-48000">
            <a:off x="1854140" y="5278966"/>
            <a:ext cx="464439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30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Цифровой SAT и в США. Бумажных версий больше нет.</a:t>
            </a:r>
            <a:endParaRPr lang="en-US" sz="1300" dirty="0"/>
          </a:p>
        </p:txBody>
      </p:sp>
      <p:sp>
        <p:nvSpPr>
          <p:cNvPr id="22" name="shape-21"/>
          <p:cNvSpPr/>
          <p:nvPr/>
        </p:nvSpPr>
        <p:spPr>
          <a:xfrm rot="48000">
            <a:off x="457200" y="5817791"/>
            <a:ext cx="5943600" cy="635000"/>
          </a:xfrm>
          <a:prstGeom prst="rect">
            <a:avLst/>
          </a:prstGeom>
          <a:solidFill>
            <a:srgbClr val="0A0A0A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23" name="text-22"/>
          <p:cNvSpPr txBox="1"/>
          <p:nvPr/>
        </p:nvSpPr>
        <p:spPr>
          <a:xfrm rot="48000">
            <a:off x="622521" y="5900439"/>
            <a:ext cx="114427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3200" i="1" dirty="0">
                <a:solidFill>
                  <a:srgbClr val="FAF8F3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2026</a:t>
            </a:r>
            <a:endParaRPr lang="en-US" sz="3200" dirty="0"/>
          </a:p>
        </p:txBody>
      </p:sp>
      <p:sp>
        <p:nvSpPr>
          <p:cNvPr id="24" name="text-23"/>
          <p:cNvSpPr txBox="1"/>
          <p:nvPr/>
        </p:nvSpPr>
        <p:spPr>
          <a:xfrm rot="48000">
            <a:off x="1854140" y="6032765"/>
            <a:ext cx="464439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300" dirty="0">
                <a:solidFill>
                  <a:srgbClr val="FAF8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23 июня SAT исполнилось 100 лет.</a:t>
            </a:r>
            <a:endParaRPr lang="en-US" sz="1300" dirty="0"/>
          </a:p>
        </p:txBody>
      </p:sp>
      <p:sp>
        <p:nvSpPr>
          <p:cNvPr id="25" name="text-24"/>
          <p:cNvSpPr txBox="1"/>
          <p:nvPr/>
        </p:nvSpPr>
        <p:spPr>
          <a:xfrm>
            <a:off x="457845" y="7969250"/>
            <a:ext cx="8952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@NURZYCOM</a:t>
            </a:r>
            <a:endParaRPr lang="en-US" sz="1000" dirty="0"/>
          </a:p>
        </p:txBody>
      </p:sp>
      <p:sp>
        <p:nvSpPr>
          <p:cNvPr id="26" name="shape-25"/>
          <p:cNvSpPr/>
          <p:nvPr/>
        </p:nvSpPr>
        <p:spPr>
          <a:xfrm>
            <a:off x="5340945" y="7893050"/>
            <a:ext cx="1060450" cy="32385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</p:sp>
      <p:sp>
        <p:nvSpPr>
          <p:cNvPr id="27" name="text-26"/>
          <p:cNvSpPr txBox="1"/>
          <p:nvPr/>
        </p:nvSpPr>
        <p:spPr>
          <a:xfrm>
            <a:off x="5480645" y="7969250"/>
            <a:ext cx="5990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ЛИСТАЙ</a:t>
            </a:r>
            <a:endParaRPr lang="en-US" sz="1000" dirty="0"/>
          </a:p>
        </p:txBody>
      </p:sp>
      <p:pic>
        <p:nvPicPr>
          <p:cNvPr id="28" name="svg-27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1400" y="7985125"/>
            <a:ext cx="139700" cy="1397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1"/>
          <p:cNvSpPr/>
          <p:nvPr/>
        </p:nvSpPr>
        <p:spPr>
          <a:xfrm>
            <a:off x="456605" y="406400"/>
            <a:ext cx="2432050" cy="3238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</p:spPr>
      </p:sp>
      <p:pic>
        <p:nvPicPr>
          <p:cNvPr id="3" name="sv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498475"/>
            <a:ext cx="139700" cy="139700"/>
          </a:xfrm>
          <a:prstGeom prst="rect">
            <a:avLst/>
          </a:prstGeom>
        </p:spPr>
      </p:pic>
      <p:sp>
        <p:nvSpPr>
          <p:cNvPr id="4" name="text-3"/>
          <p:cNvSpPr txBox="1"/>
          <p:nvPr/>
        </p:nvSpPr>
        <p:spPr>
          <a:xfrm>
            <a:off x="786805" y="482600"/>
            <a:ext cx="209334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SAT · ЗАЧЕМ СУПЕРСКОР</a:t>
            </a:r>
            <a:endParaRPr lang="en-US" sz="1000" dirty="0"/>
          </a:p>
        </p:txBody>
      </p:sp>
      <p:sp>
        <p:nvSpPr>
          <p:cNvPr id="5" name="text-4"/>
          <p:cNvSpPr txBox="1"/>
          <p:nvPr/>
        </p:nvSpPr>
        <p:spPr>
          <a:xfrm>
            <a:off x="5741640" y="482600"/>
            <a:ext cx="700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/ 10</a:t>
            </a:r>
            <a:endParaRPr lang="en-US" sz="1000" dirty="0"/>
          </a:p>
        </p:txBody>
      </p:sp>
      <p:sp>
        <p:nvSpPr>
          <p:cNvPr id="6" name="text-5"/>
          <p:cNvSpPr txBox="1"/>
          <p:nvPr/>
        </p:nvSpPr>
        <p:spPr>
          <a:xfrm>
            <a:off x="457200" y="953591"/>
            <a:ext cx="6300216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80"/>
              </a:lnSpc>
              <a:buNone/>
            </a:pPr>
            <a:r>
              <a:rPr lang="en-US" sz="4200" b="1" spc="-15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Зачем вузам </a:t>
            </a:r>
            <a:pPr algn="l" indent="0" marL="0">
              <a:lnSpc>
                <a:spcPts val="4280"/>
              </a:lnSpc>
              <a:buNone/>
            </a:pPr>
            <a:r>
              <a:rPr lang="en-US" sz="4800" i="1" spc="-100" kern="0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суперскор</a:t>
            </a:r>
            <a:endParaRPr lang="en-US" sz="4200" dirty="0"/>
          </a:p>
        </p:txBody>
      </p:sp>
      <p:sp>
        <p:nvSpPr>
          <p:cNvPr id="7" name="text-6"/>
          <p:cNvSpPr txBox="1"/>
          <p:nvPr/>
        </p:nvSpPr>
        <p:spPr>
          <a:xfrm>
            <a:off x="457696" y="2250083"/>
            <a:ext cx="588962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B2A2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Один день не показывает всё. Нервы, сон, неудачный набор вопросов.</a:t>
            </a:r>
            <a:endParaRPr lang="en-US" sz="1500" dirty="0"/>
          </a:p>
        </p:txBody>
      </p:sp>
      <p:sp>
        <p:nvSpPr>
          <p:cNvPr id="8" name="shape-7"/>
          <p:cNvSpPr/>
          <p:nvPr/>
        </p:nvSpPr>
        <p:spPr>
          <a:xfrm rot="-72000">
            <a:off x="457200" y="2984599"/>
            <a:ext cx="5943600" cy="1123950"/>
          </a:xfrm>
          <a:prstGeom prst="roundRect">
            <a:avLst>
              <a:gd name="adj" fmla="val 15819"/>
            </a:avLst>
          </a:prstGeom>
          <a:solidFill>
            <a:srgbClr val="0A0A0A"/>
          </a:solidFill>
          <a:ln/>
        </p:spPr>
      </p:sp>
      <p:sp>
        <p:nvSpPr>
          <p:cNvPr id="9" name="text-8"/>
          <p:cNvSpPr txBox="1"/>
          <p:nvPr/>
        </p:nvSpPr>
        <p:spPr>
          <a:xfrm rot="-72000">
            <a:off x="692514" y="3187763"/>
            <a:ext cx="5788660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ЭТО ПРИЗНАЁТ И САМ COLLEGE BOARD</a:t>
            </a:r>
            <a:endParaRPr lang="en-US" sz="900" dirty="0"/>
          </a:p>
        </p:txBody>
      </p:sp>
      <p:sp>
        <p:nvSpPr>
          <p:cNvPr id="10" name="text-9"/>
          <p:cNvSpPr txBox="1"/>
          <p:nvPr/>
        </p:nvSpPr>
        <p:spPr>
          <a:xfrm rot="-72000">
            <a:off x="700694" y="3397326"/>
            <a:ext cx="578866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FAF8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В каждом отчёте есть диапазон баллов, которые ты мог бы получить в другие дни. У меня в мае это было </a:t>
            </a:r>
            <a:pPr algn="l"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FAF8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1450–1530</a:t>
            </a:r>
            <a:pPr algn="l"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FAF8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</a:t>
            </a:r>
            <a:endParaRPr lang="en-US" sz="1450" dirty="0"/>
          </a:p>
        </p:txBody>
      </p:sp>
      <p:sp>
        <p:nvSpPr>
          <p:cNvPr id="11" name="shape-10"/>
          <p:cNvSpPr/>
          <p:nvPr/>
        </p:nvSpPr>
        <p:spPr>
          <a:xfrm rot="72000">
            <a:off x="457200" y="4571305"/>
            <a:ext cx="594360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12" name="shape-11"/>
          <p:cNvSpPr/>
          <p:nvPr/>
        </p:nvSpPr>
        <p:spPr>
          <a:xfrm rot="-108000">
            <a:off x="2968959" y="4457870"/>
            <a:ext cx="952500" cy="279400"/>
          </a:xfrm>
          <a:prstGeom prst="rect">
            <a:avLst/>
          </a:prstGeom>
          <a:solidFill>
            <a:srgbClr val="D5D5D4">
              <a:alpha val="90000"/>
            </a:srgbClr>
          </a:solidFill>
          <a:ln/>
        </p:spPr>
      </p:sp>
      <p:sp>
        <p:nvSpPr>
          <p:cNvPr id="13" name="text-12"/>
          <p:cNvSpPr txBox="1"/>
          <p:nvPr/>
        </p:nvSpPr>
        <p:spPr>
          <a:xfrm rot="72000">
            <a:off x="729099" y="4812065"/>
            <a:ext cx="5734812" cy="622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0"/>
              </a:lnSpc>
              <a:buNone/>
            </a:pPr>
            <a:r>
              <a:rPr lang="en-US" sz="20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We do this in order to consider all applicants in their best light.</a:t>
            </a:r>
            <a:endParaRPr lang="en-US" sz="2000" dirty="0"/>
          </a:p>
        </p:txBody>
      </p:sp>
      <p:sp>
        <p:nvSpPr>
          <p:cNvPr id="14" name="text-13"/>
          <p:cNvSpPr txBox="1"/>
          <p:nvPr/>
        </p:nvSpPr>
        <p:spPr>
          <a:xfrm rot="72000">
            <a:off x="719431" y="5508529"/>
            <a:ext cx="573481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spc="70" kern="0" dirty="0">
                <a:solidFill>
                  <a:srgbClr val="5A58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MIT ADMISSIONS · О СУПЕРСКОРЕ</a:t>
            </a:r>
            <a:endParaRPr lang="en-US" sz="850" dirty="0"/>
          </a:p>
        </p:txBody>
      </p:sp>
      <p:sp>
        <p:nvSpPr>
          <p:cNvPr id="15" name="text-14"/>
          <p:cNvSpPr txBox="1"/>
          <p:nvPr/>
        </p:nvSpPr>
        <p:spPr>
          <a:xfrm rot="72000">
            <a:off x="713834" y="5737665"/>
            <a:ext cx="57348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2B2A2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«Так мы видим каждого абитуриента с лучшей стороны».</a:t>
            </a:r>
            <a:endParaRPr lang="en-US" sz="1300" dirty="0"/>
          </a:p>
        </p:txBody>
      </p:sp>
      <p:sp>
        <p:nvSpPr>
          <p:cNvPr id="16" name="text-15"/>
          <p:cNvSpPr txBox="1"/>
          <p:nvPr/>
        </p:nvSpPr>
        <p:spPr>
          <a:xfrm>
            <a:off x="457845" y="7969250"/>
            <a:ext cx="8952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@NURZYCOM</a:t>
            </a:r>
            <a:endParaRPr lang="en-US" sz="1000" dirty="0"/>
          </a:p>
        </p:txBody>
      </p:sp>
      <p:sp>
        <p:nvSpPr>
          <p:cNvPr id="17" name="shape-16"/>
          <p:cNvSpPr/>
          <p:nvPr/>
        </p:nvSpPr>
        <p:spPr>
          <a:xfrm>
            <a:off x="5340945" y="7893050"/>
            <a:ext cx="1060450" cy="32385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</p:sp>
      <p:sp>
        <p:nvSpPr>
          <p:cNvPr id="18" name="text-17"/>
          <p:cNvSpPr txBox="1"/>
          <p:nvPr/>
        </p:nvSpPr>
        <p:spPr>
          <a:xfrm>
            <a:off x="5480645" y="7969250"/>
            <a:ext cx="5990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ЛИСТАЙ</a:t>
            </a:r>
            <a:endParaRPr lang="en-US" sz="1000" dirty="0"/>
          </a:p>
        </p:txBody>
      </p:sp>
      <p:pic>
        <p:nvPicPr>
          <p:cNvPr id="19" name="svg-18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1400" y="7985125"/>
            <a:ext cx="139700" cy="1397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1"/>
          <p:cNvSpPr/>
          <p:nvPr/>
        </p:nvSpPr>
        <p:spPr>
          <a:xfrm>
            <a:off x="457845" y="406400"/>
            <a:ext cx="2241550" cy="3238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</p:spPr>
      </p:sp>
      <p:pic>
        <p:nvPicPr>
          <p:cNvPr id="3" name="sv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498475"/>
            <a:ext cx="139700" cy="139700"/>
          </a:xfrm>
          <a:prstGeom prst="rect">
            <a:avLst/>
          </a:prstGeom>
        </p:spPr>
      </p:pic>
      <p:sp>
        <p:nvSpPr>
          <p:cNvPr id="4" name="text-3"/>
          <p:cNvSpPr txBox="1"/>
          <p:nvPr/>
        </p:nvSpPr>
        <p:spPr>
          <a:xfrm>
            <a:off x="788045" y="482600"/>
            <a:ext cx="189141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SAT · КТО ПРИНИМАЕТ</a:t>
            </a:r>
            <a:endParaRPr lang="en-US" sz="1000" dirty="0"/>
          </a:p>
        </p:txBody>
      </p:sp>
      <p:sp>
        <p:nvSpPr>
          <p:cNvPr id="5" name="text-4"/>
          <p:cNvSpPr txBox="1"/>
          <p:nvPr/>
        </p:nvSpPr>
        <p:spPr>
          <a:xfrm>
            <a:off x="5741640" y="482600"/>
            <a:ext cx="700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/ 10</a:t>
            </a:r>
            <a:endParaRPr lang="en-US" sz="1000" dirty="0"/>
          </a:p>
        </p:txBody>
      </p:sp>
      <p:sp>
        <p:nvSpPr>
          <p:cNvPr id="6" name="text-5"/>
          <p:cNvSpPr txBox="1"/>
          <p:nvPr/>
        </p:nvSpPr>
        <p:spPr>
          <a:xfrm>
            <a:off x="457200" y="951458"/>
            <a:ext cx="6300216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80"/>
              </a:lnSpc>
              <a:buNone/>
            </a:pPr>
            <a:r>
              <a:rPr lang="en-US" sz="4200" b="1" spc="-15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Кто </a:t>
            </a:r>
            <a:pPr algn="l" indent="0" marL="0">
              <a:lnSpc>
                <a:spcPts val="4280"/>
              </a:lnSpc>
              <a:buNone/>
            </a:pPr>
            <a:r>
              <a:rPr lang="en-US" sz="4800" i="1" spc="-100" kern="0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принимает</a:t>
            </a:r>
            <a:endParaRPr lang="en-US" sz="4200" dirty="0"/>
          </a:p>
        </p:txBody>
      </p:sp>
      <p:sp>
        <p:nvSpPr>
          <p:cNvPr id="7" name="shape-6"/>
          <p:cNvSpPr/>
          <p:nvPr/>
        </p:nvSpPr>
        <p:spPr>
          <a:xfrm rot="-72000">
            <a:off x="457200" y="2286595"/>
            <a:ext cx="29083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8" name="text-7"/>
          <p:cNvSpPr txBox="1"/>
          <p:nvPr/>
        </p:nvSpPr>
        <p:spPr>
          <a:xfrm rot="-72000">
            <a:off x="629402" y="2463859"/>
            <a:ext cx="2705862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8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MIT</a:t>
            </a:r>
            <a:endParaRPr lang="en-US" sz="3800" dirty="0"/>
          </a:p>
        </p:txBody>
      </p:sp>
      <p:sp>
        <p:nvSpPr>
          <p:cNvPr id="9" name="text-8"/>
          <p:cNvSpPr txBox="1"/>
          <p:nvPr/>
        </p:nvSpPr>
        <p:spPr>
          <a:xfrm rot="-72000">
            <a:off x="640718" y="3023136"/>
            <a:ext cx="270586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30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учитывает лучший балл по каждой секции</a:t>
            </a:r>
            <a:endParaRPr lang="en-US" sz="1300" dirty="0"/>
          </a:p>
        </p:txBody>
      </p:sp>
      <p:sp>
        <p:nvSpPr>
          <p:cNvPr id="10" name="shape-9"/>
          <p:cNvSpPr/>
          <p:nvPr/>
        </p:nvSpPr>
        <p:spPr>
          <a:xfrm rot="72000">
            <a:off x="3492500" y="2286595"/>
            <a:ext cx="29083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11" name="text-10"/>
          <p:cNvSpPr txBox="1"/>
          <p:nvPr/>
        </p:nvSpPr>
        <p:spPr>
          <a:xfrm rot="72000">
            <a:off x="3675898" y="2463859"/>
            <a:ext cx="2705862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8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Yale</a:t>
            </a:r>
            <a:endParaRPr lang="en-US" sz="3800" dirty="0"/>
          </a:p>
        </p:txBody>
      </p:sp>
      <p:sp>
        <p:nvSpPr>
          <p:cNvPr id="12" name="text-11"/>
          <p:cNvSpPr txBox="1"/>
          <p:nvPr/>
        </p:nvSpPr>
        <p:spPr>
          <a:xfrm rot="72000">
            <a:off x="3664582" y="3023136"/>
            <a:ext cx="270586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30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можно указать лучшие баллы по секциям из разных сдач</a:t>
            </a:r>
            <a:endParaRPr lang="en-US" sz="1300" dirty="0"/>
          </a:p>
        </p:txBody>
      </p:sp>
      <p:sp>
        <p:nvSpPr>
          <p:cNvPr id="13" name="shape-12"/>
          <p:cNvSpPr/>
          <p:nvPr/>
        </p:nvSpPr>
        <p:spPr>
          <a:xfrm rot="72000">
            <a:off x="457200" y="3786386"/>
            <a:ext cx="29083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14" name="text-13"/>
          <p:cNvSpPr txBox="1"/>
          <p:nvPr/>
        </p:nvSpPr>
        <p:spPr>
          <a:xfrm rot="72000">
            <a:off x="640598" y="3963649"/>
            <a:ext cx="2705862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8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Stanford</a:t>
            </a:r>
            <a:endParaRPr lang="en-US" sz="3800" dirty="0"/>
          </a:p>
        </p:txBody>
      </p:sp>
      <p:sp>
        <p:nvSpPr>
          <p:cNvPr id="15" name="text-14"/>
          <p:cNvSpPr txBox="1"/>
          <p:nvPr/>
        </p:nvSpPr>
        <p:spPr>
          <a:xfrm rot="72000">
            <a:off x="629282" y="4522926"/>
            <a:ext cx="270586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30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просит вписать лучшие баллы по каждой секции</a:t>
            </a:r>
            <a:endParaRPr lang="en-US" sz="1300" dirty="0"/>
          </a:p>
        </p:txBody>
      </p:sp>
      <p:sp>
        <p:nvSpPr>
          <p:cNvPr id="16" name="shape-15"/>
          <p:cNvSpPr/>
          <p:nvPr/>
        </p:nvSpPr>
        <p:spPr>
          <a:xfrm rot="-72000">
            <a:off x="3492500" y="3786386"/>
            <a:ext cx="29083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17" name="text-16"/>
          <p:cNvSpPr txBox="1"/>
          <p:nvPr/>
        </p:nvSpPr>
        <p:spPr>
          <a:xfrm rot="-72000">
            <a:off x="3664702" y="3963649"/>
            <a:ext cx="2705862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8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Columbia</a:t>
            </a:r>
            <a:endParaRPr lang="en-US" sz="3800" dirty="0"/>
          </a:p>
        </p:txBody>
      </p:sp>
      <p:sp>
        <p:nvSpPr>
          <p:cNvPr id="18" name="text-17"/>
          <p:cNvSpPr txBox="1"/>
          <p:nvPr/>
        </p:nvSpPr>
        <p:spPr>
          <a:xfrm rot="-72000">
            <a:off x="3676018" y="4522926"/>
            <a:ext cx="270586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30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оценивает по лучшему баллу в каждой секции</a:t>
            </a:r>
            <a:endParaRPr lang="en-US" sz="1300" dirty="0"/>
          </a:p>
        </p:txBody>
      </p:sp>
      <p:sp>
        <p:nvSpPr>
          <p:cNvPr id="19" name="shape-18"/>
          <p:cNvSpPr/>
          <p:nvPr/>
        </p:nvSpPr>
        <p:spPr>
          <a:xfrm>
            <a:off x="457200" y="6350099"/>
            <a:ext cx="5943600" cy="1123950"/>
          </a:xfrm>
          <a:prstGeom prst="roundRect">
            <a:avLst>
              <a:gd name="adj" fmla="val 15819"/>
            </a:avLst>
          </a:prstGeom>
          <a:solidFill>
            <a:srgbClr val="0A0A0A"/>
          </a:solidFill>
          <a:ln/>
        </p:spPr>
      </p:sp>
      <p:sp>
        <p:nvSpPr>
          <p:cNvPr id="20" name="text-19"/>
          <p:cNvSpPr txBox="1"/>
          <p:nvPr/>
        </p:nvSpPr>
        <p:spPr>
          <a:xfrm>
            <a:off x="698500" y="6553200"/>
            <a:ext cx="5788660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ВАЖНО</a:t>
            </a:r>
            <a:endParaRPr lang="en-US" sz="900" dirty="0"/>
          </a:p>
        </p:txBody>
      </p:sp>
      <p:sp>
        <p:nvSpPr>
          <p:cNvPr id="21" name="text-20"/>
          <p:cNvSpPr txBox="1"/>
          <p:nvPr/>
        </p:nvSpPr>
        <p:spPr>
          <a:xfrm>
            <a:off x="698500" y="6762849"/>
            <a:ext cx="578866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FAF8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Так пишут сами вузы на своих сайтах в октябре 2026. Правила меняются, проверяй их перед подачей.</a:t>
            </a:r>
            <a:endParaRPr lang="en-US" sz="1450" dirty="0"/>
          </a:p>
        </p:txBody>
      </p:sp>
      <p:sp>
        <p:nvSpPr>
          <p:cNvPr id="22" name="text-21"/>
          <p:cNvSpPr txBox="1"/>
          <p:nvPr/>
        </p:nvSpPr>
        <p:spPr>
          <a:xfrm>
            <a:off x="457845" y="7969250"/>
            <a:ext cx="8952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@NURZYCOM</a:t>
            </a:r>
            <a:endParaRPr lang="en-US" sz="1000" dirty="0"/>
          </a:p>
        </p:txBody>
      </p:sp>
      <p:sp>
        <p:nvSpPr>
          <p:cNvPr id="23" name="shape-22"/>
          <p:cNvSpPr/>
          <p:nvPr/>
        </p:nvSpPr>
        <p:spPr>
          <a:xfrm>
            <a:off x="5340945" y="7893050"/>
            <a:ext cx="1060450" cy="32385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</p:sp>
      <p:sp>
        <p:nvSpPr>
          <p:cNvPr id="24" name="text-23"/>
          <p:cNvSpPr txBox="1"/>
          <p:nvPr/>
        </p:nvSpPr>
        <p:spPr>
          <a:xfrm>
            <a:off x="5480645" y="7969250"/>
            <a:ext cx="5990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ЛИСТАЙ</a:t>
            </a:r>
            <a:endParaRPr lang="en-US" sz="1000" dirty="0"/>
          </a:p>
        </p:txBody>
      </p:sp>
      <p:pic>
        <p:nvPicPr>
          <p:cNvPr id="25" name="svg-24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1400" y="7985125"/>
            <a:ext cx="139700" cy="1397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1"/>
          <p:cNvSpPr/>
          <p:nvPr/>
        </p:nvSpPr>
        <p:spPr>
          <a:xfrm>
            <a:off x="455960" y="406400"/>
            <a:ext cx="2997200" cy="3238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</p:spPr>
      </p:sp>
      <p:pic>
        <p:nvPicPr>
          <p:cNvPr id="3" name="sv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498475"/>
            <a:ext cx="139700" cy="139700"/>
          </a:xfrm>
          <a:prstGeom prst="rect">
            <a:avLst/>
          </a:prstGeom>
        </p:spPr>
      </p:pic>
      <p:sp>
        <p:nvSpPr>
          <p:cNvPr id="4" name="text-3"/>
          <p:cNvSpPr txBox="1"/>
          <p:nvPr/>
        </p:nvSpPr>
        <p:spPr>
          <a:xfrm>
            <a:off x="786160" y="482600"/>
            <a:ext cx="26924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SAT · НАЗАРБАЕВ УНИВЕРСИТЕТ</a:t>
            </a:r>
            <a:endParaRPr lang="en-US" sz="1000" dirty="0"/>
          </a:p>
        </p:txBody>
      </p:sp>
      <p:sp>
        <p:nvSpPr>
          <p:cNvPr id="5" name="text-4"/>
          <p:cNvSpPr txBox="1"/>
          <p:nvPr/>
        </p:nvSpPr>
        <p:spPr>
          <a:xfrm>
            <a:off x="5741640" y="482600"/>
            <a:ext cx="700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 / 10</a:t>
            </a:r>
            <a:endParaRPr lang="en-US" sz="1000" dirty="0"/>
          </a:p>
        </p:txBody>
      </p:sp>
      <p:sp>
        <p:nvSpPr>
          <p:cNvPr id="6" name="text-5"/>
          <p:cNvSpPr txBox="1"/>
          <p:nvPr/>
        </p:nvSpPr>
        <p:spPr>
          <a:xfrm>
            <a:off x="457200" y="951458"/>
            <a:ext cx="6300216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80"/>
              </a:lnSpc>
              <a:buNone/>
            </a:pPr>
            <a:r>
              <a:rPr lang="en-US" sz="4200" b="1" spc="-15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А в НУ </a:t>
            </a:r>
            <a:pPr algn="l" indent="0" marL="0">
              <a:lnSpc>
                <a:spcPts val="4280"/>
              </a:lnSpc>
              <a:buNone/>
            </a:pPr>
            <a:r>
              <a:rPr lang="en-US" sz="4800" i="1" spc="-100" kern="0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нет</a:t>
            </a:r>
            <a:endParaRPr lang="en-US" sz="4200" dirty="0"/>
          </a:p>
        </p:txBody>
      </p:sp>
      <p:sp>
        <p:nvSpPr>
          <p:cNvPr id="7" name="text-6"/>
          <p:cNvSpPr txBox="1"/>
          <p:nvPr/>
        </p:nvSpPr>
        <p:spPr>
          <a:xfrm>
            <a:off x="457696" y="1706066"/>
            <a:ext cx="588962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B2A2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Если у тебя несколько сертификатов SAT, НУ берёт один, с лучшим общим баллом. Секции из разных сдач не складывают.</a:t>
            </a:r>
            <a:endParaRPr lang="en-US" sz="1500" dirty="0"/>
          </a:p>
        </p:txBody>
      </p:sp>
      <p:sp>
        <p:nvSpPr>
          <p:cNvPr id="8" name="shape-7"/>
          <p:cNvSpPr/>
          <p:nvPr/>
        </p:nvSpPr>
        <p:spPr>
          <a:xfrm rot="-72000">
            <a:off x="457200" y="2985095"/>
            <a:ext cx="594360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9" name="shape-8"/>
          <p:cNvSpPr/>
          <p:nvPr/>
        </p:nvSpPr>
        <p:spPr>
          <a:xfrm rot="-252000">
            <a:off x="2936513" y="2870370"/>
            <a:ext cx="952500" cy="279400"/>
          </a:xfrm>
          <a:prstGeom prst="rect">
            <a:avLst/>
          </a:prstGeom>
          <a:solidFill>
            <a:srgbClr val="D5D5D4">
              <a:alpha val="90000"/>
            </a:srgbClr>
          </a:solidFill>
          <a:ln/>
        </p:spPr>
      </p:sp>
      <p:sp>
        <p:nvSpPr>
          <p:cNvPr id="10" name="text-9"/>
          <p:cNvSpPr txBox="1"/>
          <p:nvPr/>
        </p:nvSpPr>
        <p:spPr>
          <a:xfrm rot="-72000">
            <a:off x="721919" y="3227061"/>
            <a:ext cx="5734812" cy="927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0"/>
              </a:lnSpc>
              <a:buNone/>
            </a:pPr>
            <a:r>
              <a:rPr lang="en-US" sz="20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…the certificate with the best overall results will be considered in the competition without superscoring.</a:t>
            </a:r>
            <a:endParaRPr lang="en-US" sz="2000" dirty="0"/>
          </a:p>
        </p:txBody>
      </p:sp>
      <p:sp>
        <p:nvSpPr>
          <p:cNvPr id="11" name="text-10"/>
          <p:cNvSpPr txBox="1"/>
          <p:nvPr/>
        </p:nvSpPr>
        <p:spPr>
          <a:xfrm rot="-72000">
            <a:off x="734831" y="4230821"/>
            <a:ext cx="573481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spc="70" kern="0" dirty="0">
                <a:solidFill>
                  <a:srgbClr val="5A58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ПРАВИЛА ПРИЁМА НУ · УТВЕРЖДЕНЫ 11.03.2026</a:t>
            </a:r>
            <a:endParaRPr lang="en-US" sz="850" dirty="0"/>
          </a:p>
        </p:txBody>
      </p:sp>
      <p:sp>
        <p:nvSpPr>
          <p:cNvPr id="12" name="shape-11"/>
          <p:cNvSpPr/>
          <p:nvPr/>
        </p:nvSpPr>
        <p:spPr>
          <a:xfrm>
            <a:off x="457200" y="5270500"/>
            <a:ext cx="2908300" cy="920750"/>
          </a:xfrm>
          <a:prstGeom prst="roundRect">
            <a:avLst>
              <a:gd name="adj" fmla="val 17931"/>
            </a:avLst>
          </a:prstGeom>
          <a:ln w="12700">
            <a:solidFill>
              <a:srgbClr val="0A0A0A"/>
            </a:solidFill>
            <a:prstDash val="solid"/>
          </a:ln>
        </p:spPr>
      </p:sp>
      <p:sp>
        <p:nvSpPr>
          <p:cNvPr id="13" name="text-12"/>
          <p:cNvSpPr txBox="1"/>
          <p:nvPr/>
        </p:nvSpPr>
        <p:spPr>
          <a:xfrm>
            <a:off x="647700" y="5435600"/>
            <a:ext cx="2678938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5A58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МИНИМУМ ДЛЯ БАКАЛАВРИАТА</a:t>
            </a:r>
            <a:endParaRPr lang="en-US" sz="900" dirty="0"/>
          </a:p>
        </p:txBody>
      </p:sp>
      <p:sp>
        <p:nvSpPr>
          <p:cNvPr id="14" name="text-13"/>
          <p:cNvSpPr txBox="1"/>
          <p:nvPr/>
        </p:nvSpPr>
        <p:spPr>
          <a:xfrm>
            <a:off x="647700" y="5619750"/>
            <a:ext cx="2678938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32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1240</a:t>
            </a:r>
            <a:endParaRPr lang="en-US" sz="3200" dirty="0"/>
          </a:p>
        </p:txBody>
      </p:sp>
      <p:sp>
        <p:nvSpPr>
          <p:cNvPr id="15" name="shape-14"/>
          <p:cNvSpPr/>
          <p:nvPr/>
        </p:nvSpPr>
        <p:spPr>
          <a:xfrm>
            <a:off x="3492500" y="5270500"/>
            <a:ext cx="2908300" cy="920750"/>
          </a:xfrm>
          <a:prstGeom prst="roundRect">
            <a:avLst>
              <a:gd name="adj" fmla="val 17931"/>
            </a:avLst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6" name="text-15"/>
          <p:cNvSpPr txBox="1"/>
          <p:nvPr/>
        </p:nvSpPr>
        <p:spPr>
          <a:xfrm>
            <a:off x="3683000" y="5435600"/>
            <a:ext cx="2678938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ДЛЯ НУ У МЕНЯ СЧИТАЛСЯ БЫ</a:t>
            </a:r>
            <a:endParaRPr lang="en-US" sz="900" dirty="0"/>
          </a:p>
        </p:txBody>
      </p:sp>
      <p:sp>
        <p:nvSpPr>
          <p:cNvPr id="17" name="text-16"/>
          <p:cNvSpPr txBox="1"/>
          <p:nvPr/>
        </p:nvSpPr>
        <p:spPr>
          <a:xfrm>
            <a:off x="3683000" y="5619750"/>
            <a:ext cx="2678938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3200" i="1" dirty="0">
                <a:solidFill>
                  <a:srgbClr val="FAF8F3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1520</a:t>
            </a:r>
            <a:endParaRPr lang="en-US" sz="3200" dirty="0"/>
          </a:p>
        </p:txBody>
      </p:sp>
      <p:sp>
        <p:nvSpPr>
          <p:cNvPr id="18" name="text-17"/>
          <p:cNvSpPr txBox="1"/>
          <p:nvPr/>
        </p:nvSpPr>
        <p:spPr>
          <a:xfrm>
            <a:off x="457845" y="7969250"/>
            <a:ext cx="8952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@NURZYCOM</a:t>
            </a:r>
            <a:endParaRPr lang="en-US" sz="1000" dirty="0"/>
          </a:p>
        </p:txBody>
      </p:sp>
      <p:sp>
        <p:nvSpPr>
          <p:cNvPr id="19" name="shape-18"/>
          <p:cNvSpPr/>
          <p:nvPr/>
        </p:nvSpPr>
        <p:spPr>
          <a:xfrm>
            <a:off x="5340945" y="7893050"/>
            <a:ext cx="1060450" cy="32385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</p:sp>
      <p:sp>
        <p:nvSpPr>
          <p:cNvPr id="20" name="text-19"/>
          <p:cNvSpPr txBox="1"/>
          <p:nvPr/>
        </p:nvSpPr>
        <p:spPr>
          <a:xfrm>
            <a:off x="5480645" y="7969250"/>
            <a:ext cx="5990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ЛИСТАЙ</a:t>
            </a:r>
            <a:endParaRPr lang="en-US" sz="1000" dirty="0"/>
          </a:p>
        </p:txBody>
      </p:sp>
      <p:pic>
        <p:nvPicPr>
          <p:cNvPr id="21" name="svg-2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1400" y="7985125"/>
            <a:ext cx="139700" cy="1397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1"/>
          <p:cNvSpPr/>
          <p:nvPr/>
        </p:nvSpPr>
        <p:spPr>
          <a:xfrm>
            <a:off x="458490" y="406400"/>
            <a:ext cx="2146300" cy="3238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</p:spPr>
      </p:sp>
      <p:pic>
        <p:nvPicPr>
          <p:cNvPr id="3" name="sv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498475"/>
            <a:ext cx="139700" cy="139700"/>
          </a:xfrm>
          <a:prstGeom prst="rect">
            <a:avLst/>
          </a:prstGeom>
        </p:spPr>
      </p:pic>
      <p:sp>
        <p:nvSpPr>
          <p:cNvPr id="4" name="text-3"/>
          <p:cNvSpPr txBox="1"/>
          <p:nvPr/>
        </p:nvSpPr>
        <p:spPr>
          <a:xfrm>
            <a:off x="788690" y="482600"/>
            <a:ext cx="179044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SAT · SCORE CHOICE</a:t>
            </a:r>
            <a:endParaRPr lang="en-US" sz="1000" dirty="0"/>
          </a:p>
        </p:txBody>
      </p:sp>
      <p:sp>
        <p:nvSpPr>
          <p:cNvPr id="5" name="text-4"/>
          <p:cNvSpPr txBox="1"/>
          <p:nvPr/>
        </p:nvSpPr>
        <p:spPr>
          <a:xfrm>
            <a:off x="5741640" y="482600"/>
            <a:ext cx="700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 / 10</a:t>
            </a:r>
            <a:endParaRPr lang="en-US" sz="1000" dirty="0"/>
          </a:p>
        </p:txBody>
      </p:sp>
      <p:sp>
        <p:nvSpPr>
          <p:cNvPr id="6" name="text-5"/>
          <p:cNvSpPr txBox="1"/>
          <p:nvPr/>
        </p:nvSpPr>
        <p:spPr>
          <a:xfrm>
            <a:off x="457200" y="951458"/>
            <a:ext cx="6300216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80"/>
              </a:lnSpc>
              <a:buNone/>
            </a:pPr>
            <a:r>
              <a:rPr lang="en-US" sz="4200" b="1" spc="-15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Это не одно и </a:t>
            </a:r>
            <a:pPr algn="l" indent="0" marL="0">
              <a:lnSpc>
                <a:spcPts val="4280"/>
              </a:lnSpc>
              <a:buNone/>
            </a:pPr>
            <a:r>
              <a:rPr lang="en-US" sz="4800" i="1" spc="-100" kern="0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то же</a:t>
            </a:r>
            <a:endParaRPr lang="en-US" sz="4200" dirty="0"/>
          </a:p>
        </p:txBody>
      </p:sp>
      <p:sp>
        <p:nvSpPr>
          <p:cNvPr id="7" name="shape-6"/>
          <p:cNvSpPr/>
          <p:nvPr/>
        </p:nvSpPr>
        <p:spPr>
          <a:xfrm rot="-84000">
            <a:off x="457200" y="2666405"/>
            <a:ext cx="2901950" cy="1752600"/>
          </a:xfrm>
          <a:prstGeom prst="roundRect">
            <a:avLst>
              <a:gd name="adj" fmla="val 942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8" name="text-7"/>
          <p:cNvSpPr txBox="1"/>
          <p:nvPr/>
        </p:nvSpPr>
        <p:spPr>
          <a:xfrm rot="-84000">
            <a:off x="632743" y="2857683"/>
            <a:ext cx="2672207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5A58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РЕШАЕШЬ ТЫ</a:t>
            </a:r>
            <a:endParaRPr lang="en-US" sz="900" dirty="0"/>
          </a:p>
        </p:txBody>
      </p:sp>
      <p:sp>
        <p:nvSpPr>
          <p:cNvPr id="9" name="text-8"/>
          <p:cNvSpPr txBox="1"/>
          <p:nvPr/>
        </p:nvSpPr>
        <p:spPr>
          <a:xfrm rot="-84000">
            <a:off x="640515" y="3055033"/>
            <a:ext cx="2672207" cy="38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60"/>
              </a:lnSpc>
              <a:buNone/>
            </a:pPr>
            <a:r>
              <a:rPr lang="en-US" sz="3000" i="1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Score Choice</a:t>
            </a:r>
            <a:endParaRPr lang="en-US" sz="3000" dirty="0"/>
          </a:p>
        </p:txBody>
      </p:sp>
      <p:sp>
        <p:nvSpPr>
          <p:cNvPr id="10" name="text-9"/>
          <p:cNvSpPr txBox="1"/>
          <p:nvPr/>
        </p:nvSpPr>
        <p:spPr>
          <a:xfrm rot="-84000">
            <a:off x="655782" y="3530501"/>
            <a:ext cx="267220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0"/>
              </a:lnSpc>
              <a:buNone/>
            </a:pPr>
            <a:r>
              <a:rPr lang="en-US" sz="130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Функция College Board: ты сам выбираешь, результаты каких дат отправить в вуз.</a:t>
            </a:r>
            <a:endParaRPr lang="en-US" sz="1300" dirty="0"/>
          </a:p>
        </p:txBody>
      </p:sp>
      <p:sp>
        <p:nvSpPr>
          <p:cNvPr id="11" name="shape-10"/>
          <p:cNvSpPr/>
          <p:nvPr/>
        </p:nvSpPr>
        <p:spPr>
          <a:xfrm rot="84000">
            <a:off x="3498850" y="2666405"/>
            <a:ext cx="2901950" cy="1752600"/>
          </a:xfrm>
          <a:prstGeom prst="roundRect">
            <a:avLst>
              <a:gd name="adj" fmla="val 9420"/>
            </a:avLst>
          </a:prstGeom>
          <a:solidFill>
            <a:srgbClr val="0A0A0A"/>
          </a:solidFill>
          <a:ln/>
        </p:spPr>
      </p:sp>
      <p:sp>
        <p:nvSpPr>
          <p:cNvPr id="12" name="text-11"/>
          <p:cNvSpPr txBox="1"/>
          <p:nvPr/>
        </p:nvSpPr>
        <p:spPr>
          <a:xfrm rot="84000">
            <a:off x="3704307" y="2857683"/>
            <a:ext cx="2672207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РЕШАЕТ ВУЗ</a:t>
            </a:r>
            <a:endParaRPr lang="en-US" sz="900" dirty="0"/>
          </a:p>
        </p:txBody>
      </p:sp>
      <p:sp>
        <p:nvSpPr>
          <p:cNvPr id="13" name="text-12"/>
          <p:cNvSpPr txBox="1"/>
          <p:nvPr/>
        </p:nvSpPr>
        <p:spPr>
          <a:xfrm rot="84000">
            <a:off x="3696535" y="3055033"/>
            <a:ext cx="2672207" cy="38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60"/>
              </a:lnSpc>
              <a:buNone/>
            </a:pPr>
            <a:r>
              <a:rPr lang="en-US" sz="3000" i="1" dirty="0">
                <a:solidFill>
                  <a:srgbClr val="FAF8F3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Superscore</a:t>
            </a:r>
            <a:endParaRPr lang="en-US" sz="3000" dirty="0"/>
          </a:p>
        </p:txBody>
      </p:sp>
      <p:sp>
        <p:nvSpPr>
          <p:cNvPr id="14" name="text-13"/>
          <p:cNvSpPr txBox="1"/>
          <p:nvPr/>
        </p:nvSpPr>
        <p:spPr>
          <a:xfrm rot="84000">
            <a:off x="3681268" y="3530501"/>
            <a:ext cx="267220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0"/>
              </a:lnSpc>
              <a:buNone/>
            </a:pPr>
            <a:r>
              <a:rPr lang="en-US" sz="1300" dirty="0">
                <a:solidFill>
                  <a:srgbClr val="FAF8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Вуз складывает твои лучшие секции из всех присланных сдач.</a:t>
            </a:r>
            <a:endParaRPr lang="en-US" sz="1300" dirty="0"/>
          </a:p>
        </p:txBody>
      </p:sp>
      <p:sp>
        <p:nvSpPr>
          <p:cNvPr id="15" name="shape-14"/>
          <p:cNvSpPr/>
          <p:nvPr/>
        </p:nvSpPr>
        <p:spPr>
          <a:xfrm>
            <a:off x="457200" y="5332611"/>
            <a:ext cx="5943600" cy="1193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16" name="shape-15"/>
          <p:cNvSpPr/>
          <p:nvPr/>
        </p:nvSpPr>
        <p:spPr>
          <a:xfrm rot="-180000">
            <a:off x="2952750" y="5219700"/>
            <a:ext cx="952500" cy="279400"/>
          </a:xfrm>
          <a:prstGeom prst="rect">
            <a:avLst/>
          </a:prstGeom>
          <a:solidFill>
            <a:srgbClr val="D5D5D4">
              <a:alpha val="90000"/>
            </a:srgbClr>
          </a:solidFill>
          <a:ln/>
        </p:spPr>
      </p:sp>
      <p:sp>
        <p:nvSpPr>
          <p:cNvPr id="17" name="text-16"/>
          <p:cNvSpPr txBox="1"/>
          <p:nvPr/>
        </p:nvSpPr>
        <p:spPr>
          <a:xfrm>
            <a:off x="723900" y="5573911"/>
            <a:ext cx="5734812" cy="749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B2A2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Некоторые вузы просят прислать все результаты. MIT, например, просит указать каждую сдачу и сам считает суперскор.</a:t>
            </a:r>
            <a:endParaRPr lang="en-US" sz="1400" dirty="0"/>
          </a:p>
        </p:txBody>
      </p:sp>
      <p:sp>
        <p:nvSpPr>
          <p:cNvPr id="18" name="text-17"/>
          <p:cNvSpPr txBox="1"/>
          <p:nvPr/>
        </p:nvSpPr>
        <p:spPr>
          <a:xfrm>
            <a:off x="457845" y="7969250"/>
            <a:ext cx="8952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@NURZYCOM</a:t>
            </a:r>
            <a:endParaRPr lang="en-US" sz="1000" dirty="0"/>
          </a:p>
        </p:txBody>
      </p:sp>
      <p:sp>
        <p:nvSpPr>
          <p:cNvPr id="19" name="shape-18"/>
          <p:cNvSpPr/>
          <p:nvPr/>
        </p:nvSpPr>
        <p:spPr>
          <a:xfrm>
            <a:off x="5340945" y="7893050"/>
            <a:ext cx="1060450" cy="32385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</p:sp>
      <p:sp>
        <p:nvSpPr>
          <p:cNvPr id="20" name="text-19"/>
          <p:cNvSpPr txBox="1"/>
          <p:nvPr/>
        </p:nvSpPr>
        <p:spPr>
          <a:xfrm>
            <a:off x="5480645" y="7969250"/>
            <a:ext cx="5990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ЛИСТАЙ</a:t>
            </a:r>
            <a:endParaRPr lang="en-US" sz="1000" dirty="0"/>
          </a:p>
        </p:txBody>
      </p:sp>
      <p:pic>
        <p:nvPicPr>
          <p:cNvPr id="21" name="svg-2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1400" y="7985125"/>
            <a:ext cx="139700" cy="1397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1"/>
          <p:cNvSpPr/>
          <p:nvPr/>
        </p:nvSpPr>
        <p:spPr>
          <a:xfrm>
            <a:off x="456605" y="406400"/>
            <a:ext cx="1962150" cy="3238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</p:spPr>
      </p:sp>
      <p:pic>
        <p:nvPicPr>
          <p:cNvPr id="3" name="sv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498475"/>
            <a:ext cx="139700" cy="139700"/>
          </a:xfrm>
          <a:prstGeom prst="rect">
            <a:avLst/>
          </a:prstGeom>
        </p:spPr>
      </p:pic>
      <p:sp>
        <p:nvSpPr>
          <p:cNvPr id="4" name="text-3"/>
          <p:cNvSpPr txBox="1"/>
          <p:nvPr/>
        </p:nvSpPr>
        <p:spPr>
          <a:xfrm>
            <a:off x="786805" y="482600"/>
            <a:ext cx="159524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SAT · ЧТО ДЕЛАТЬ</a:t>
            </a:r>
            <a:endParaRPr lang="en-US" sz="1000" dirty="0"/>
          </a:p>
        </p:txBody>
      </p:sp>
      <p:sp>
        <p:nvSpPr>
          <p:cNvPr id="5" name="text-4"/>
          <p:cNvSpPr txBox="1"/>
          <p:nvPr/>
        </p:nvSpPr>
        <p:spPr>
          <a:xfrm>
            <a:off x="5741640" y="482600"/>
            <a:ext cx="700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 / 10</a:t>
            </a:r>
            <a:endParaRPr lang="en-US" sz="1000" dirty="0"/>
          </a:p>
        </p:txBody>
      </p:sp>
      <p:sp>
        <p:nvSpPr>
          <p:cNvPr id="6" name="text-5"/>
          <p:cNvSpPr txBox="1"/>
          <p:nvPr/>
        </p:nvSpPr>
        <p:spPr>
          <a:xfrm>
            <a:off x="457200" y="951458"/>
            <a:ext cx="6300216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80"/>
              </a:lnSpc>
              <a:buNone/>
            </a:pPr>
            <a:r>
              <a:rPr lang="en-US" sz="4200" b="1" spc="-15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Что делать </a:t>
            </a:r>
            <a:pPr algn="l" indent="0" marL="0">
              <a:lnSpc>
                <a:spcPts val="4280"/>
              </a:lnSpc>
              <a:buNone/>
            </a:pPr>
            <a:r>
              <a:rPr lang="en-US" sz="4800" i="1" spc="-100" kern="0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тебе</a:t>
            </a:r>
            <a:endParaRPr lang="en-US" sz="4200" dirty="0"/>
          </a:p>
        </p:txBody>
      </p:sp>
      <p:sp>
        <p:nvSpPr>
          <p:cNvPr id="7" name="shape-6"/>
          <p:cNvSpPr/>
          <p:nvPr/>
        </p:nvSpPr>
        <p:spPr>
          <a:xfrm rot="-60000">
            <a:off x="457200" y="2095599"/>
            <a:ext cx="5943600" cy="1123950"/>
          </a:xfrm>
          <a:prstGeom prst="roundRect">
            <a:avLst>
              <a:gd name="adj" fmla="val 15819"/>
            </a:avLst>
          </a:prstGeom>
          <a:solidFill>
            <a:srgbClr val="0A0A0A"/>
          </a:solidFill>
          <a:ln/>
        </p:spPr>
      </p:sp>
      <p:sp>
        <p:nvSpPr>
          <p:cNvPr id="8" name="text-7"/>
          <p:cNvSpPr txBox="1"/>
          <p:nvPr/>
        </p:nvSpPr>
        <p:spPr>
          <a:xfrm rot="-60000">
            <a:off x="693511" y="2298744"/>
            <a:ext cx="5788660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-8"/>
          <p:cNvSpPr txBox="1"/>
          <p:nvPr/>
        </p:nvSpPr>
        <p:spPr>
          <a:xfrm rot="-60000">
            <a:off x="700329" y="2508333"/>
            <a:ext cx="578866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FAF8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Нужен высокий балл? Закладывай </a:t>
            </a:r>
            <a:pPr algn="l"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FAF8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две попытки</a:t>
            </a:r>
            <a:pPr algn="l"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FAF8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 Тогда у суперскора есть из чего выбирать.</a:t>
            </a:r>
            <a:endParaRPr lang="en-US" sz="1450" dirty="0"/>
          </a:p>
        </p:txBody>
      </p:sp>
      <p:sp>
        <p:nvSpPr>
          <p:cNvPr id="10" name="shape-9"/>
          <p:cNvSpPr/>
          <p:nvPr/>
        </p:nvSpPr>
        <p:spPr>
          <a:xfrm rot="60000">
            <a:off x="457200" y="3334048"/>
            <a:ext cx="5943600" cy="1123950"/>
          </a:xfrm>
          <a:prstGeom prst="roundRect">
            <a:avLst>
              <a:gd name="adj" fmla="val 15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11" name="text-10"/>
          <p:cNvSpPr txBox="1"/>
          <p:nvPr/>
        </p:nvSpPr>
        <p:spPr>
          <a:xfrm rot="60000">
            <a:off x="703489" y="3537192"/>
            <a:ext cx="5788660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5A58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-11"/>
          <p:cNvSpPr txBox="1"/>
          <p:nvPr/>
        </p:nvSpPr>
        <p:spPr>
          <a:xfrm rot="60000">
            <a:off x="696671" y="3746782"/>
            <a:ext cx="578866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На каждой сдаче старайся по </a:t>
            </a:r>
            <a:pPr algn="l"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обеим секциям</a:t>
            </a:r>
            <a:pPr algn="l"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 MIT пишет, что большой разрыв между попытками могут учесть.</a:t>
            </a:r>
            <a:endParaRPr lang="en-US" sz="1450" dirty="0"/>
          </a:p>
        </p:txBody>
      </p:sp>
      <p:sp>
        <p:nvSpPr>
          <p:cNvPr id="13" name="shape-12"/>
          <p:cNvSpPr/>
          <p:nvPr/>
        </p:nvSpPr>
        <p:spPr>
          <a:xfrm rot="-60000">
            <a:off x="457200" y="4572496"/>
            <a:ext cx="5943600" cy="1123950"/>
          </a:xfrm>
          <a:prstGeom prst="roundRect">
            <a:avLst>
              <a:gd name="adj" fmla="val 15819"/>
            </a:avLst>
          </a:prstGeom>
          <a:solidFill>
            <a:srgbClr val="0A0A0A"/>
          </a:solidFill>
          <a:ln/>
        </p:spPr>
      </p:sp>
      <p:sp>
        <p:nvSpPr>
          <p:cNvPr id="14" name="text-13"/>
          <p:cNvSpPr txBox="1"/>
          <p:nvPr/>
        </p:nvSpPr>
        <p:spPr>
          <a:xfrm rot="-60000">
            <a:off x="693511" y="4775640"/>
            <a:ext cx="5788660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900" dirty="0"/>
          </a:p>
        </p:txBody>
      </p:sp>
      <p:sp>
        <p:nvSpPr>
          <p:cNvPr id="15" name="text-14"/>
          <p:cNvSpPr txBox="1"/>
          <p:nvPr/>
        </p:nvSpPr>
        <p:spPr>
          <a:xfrm rot="-60000">
            <a:off x="700329" y="4985230"/>
            <a:ext cx="578866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FAF8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Поступаешь в НУ? Там важен </a:t>
            </a:r>
            <a:pPr algn="l"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FAF8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лучший общий балл за одну сдачу</a:t>
            </a:r>
            <a:pPr algn="l"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FAF8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</a:t>
            </a:r>
            <a:endParaRPr lang="en-US" sz="1450" dirty="0"/>
          </a:p>
        </p:txBody>
      </p:sp>
      <p:sp>
        <p:nvSpPr>
          <p:cNvPr id="16" name="shape-15"/>
          <p:cNvSpPr/>
          <p:nvPr/>
        </p:nvSpPr>
        <p:spPr>
          <a:xfrm rot="60000">
            <a:off x="457200" y="5810945"/>
            <a:ext cx="5943600" cy="1123950"/>
          </a:xfrm>
          <a:prstGeom prst="roundRect">
            <a:avLst>
              <a:gd name="adj" fmla="val 15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17" name="text-16"/>
          <p:cNvSpPr txBox="1"/>
          <p:nvPr/>
        </p:nvSpPr>
        <p:spPr>
          <a:xfrm rot="60000">
            <a:off x="703489" y="6014089"/>
            <a:ext cx="5788660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spc="140" kern="0" dirty="0">
                <a:solidFill>
                  <a:srgbClr val="5A58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900" dirty="0"/>
          </a:p>
        </p:txBody>
      </p:sp>
      <p:sp>
        <p:nvSpPr>
          <p:cNvPr id="18" name="text-17"/>
          <p:cNvSpPr txBox="1"/>
          <p:nvPr/>
        </p:nvSpPr>
        <p:spPr>
          <a:xfrm rot="60000">
            <a:off x="696671" y="6223678"/>
            <a:ext cx="578866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Правила проверяй </a:t>
            </a:r>
            <a:pPr algn="l"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на сайте каждого вуза</a:t>
            </a:r>
            <a:pPr algn="l"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а не в чужих списках.</a:t>
            </a:r>
            <a:endParaRPr lang="en-US" sz="1450" dirty="0"/>
          </a:p>
        </p:txBody>
      </p:sp>
      <p:sp>
        <p:nvSpPr>
          <p:cNvPr id="19" name="text-18"/>
          <p:cNvSpPr txBox="1"/>
          <p:nvPr/>
        </p:nvSpPr>
        <p:spPr>
          <a:xfrm>
            <a:off x="457845" y="7969250"/>
            <a:ext cx="8952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@NURZYCOM</a:t>
            </a:r>
            <a:endParaRPr lang="en-US" sz="1000" dirty="0"/>
          </a:p>
        </p:txBody>
      </p:sp>
      <p:sp>
        <p:nvSpPr>
          <p:cNvPr id="20" name="shape-19"/>
          <p:cNvSpPr/>
          <p:nvPr/>
        </p:nvSpPr>
        <p:spPr>
          <a:xfrm>
            <a:off x="5340945" y="7893050"/>
            <a:ext cx="1060450" cy="32385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</p:spPr>
      </p:sp>
      <p:sp>
        <p:nvSpPr>
          <p:cNvPr id="21" name="text-20"/>
          <p:cNvSpPr txBox="1"/>
          <p:nvPr/>
        </p:nvSpPr>
        <p:spPr>
          <a:xfrm>
            <a:off x="5480645" y="7969250"/>
            <a:ext cx="5990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FAF8F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ЛИСТАЙ</a:t>
            </a:r>
            <a:endParaRPr lang="en-US" sz="1000" dirty="0"/>
          </a:p>
        </p:txBody>
      </p:sp>
      <p:pic>
        <p:nvPicPr>
          <p:cNvPr id="22" name="svg-2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1400" y="7985125"/>
            <a:ext cx="139700" cy="1397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-1"/>
          <p:cNvSpPr/>
          <p:nvPr/>
        </p:nvSpPr>
        <p:spPr>
          <a:xfrm>
            <a:off x="457200" y="406400"/>
            <a:ext cx="1397000" cy="323850"/>
          </a:xfrm>
          <a:prstGeom prst="roundRect">
            <a:avLst>
              <a:gd name="adj" fmla="val 50000"/>
            </a:avLst>
          </a:prstGeom>
          <a:solidFill>
            <a:srgbClr val="FAF8F3"/>
          </a:solidFill>
          <a:ln w="12700">
            <a:solidFill>
              <a:srgbClr val="0A0A0A"/>
            </a:solidFill>
            <a:prstDash val="solid"/>
          </a:ln>
        </p:spPr>
      </p:sp>
      <p:pic>
        <p:nvPicPr>
          <p:cNvPr id="3" name="svg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498475"/>
            <a:ext cx="139700" cy="139700"/>
          </a:xfrm>
          <a:prstGeom prst="rect">
            <a:avLst/>
          </a:prstGeom>
        </p:spPr>
      </p:pic>
      <p:sp>
        <p:nvSpPr>
          <p:cNvPr id="4" name="text-3"/>
          <p:cNvSpPr txBox="1"/>
          <p:nvPr/>
        </p:nvSpPr>
        <p:spPr>
          <a:xfrm>
            <a:off x="787400" y="482600"/>
            <a:ext cx="99618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SAT · ИТОГ</a:t>
            </a:r>
            <a:endParaRPr lang="en-US" sz="1000" dirty="0"/>
          </a:p>
        </p:txBody>
      </p:sp>
      <p:sp>
        <p:nvSpPr>
          <p:cNvPr id="5" name="text-4"/>
          <p:cNvSpPr txBox="1"/>
          <p:nvPr/>
        </p:nvSpPr>
        <p:spPr>
          <a:xfrm>
            <a:off x="5741640" y="482600"/>
            <a:ext cx="7000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 / 10</a:t>
            </a:r>
            <a:endParaRPr lang="en-US" sz="1000" dirty="0"/>
          </a:p>
        </p:txBody>
      </p:sp>
      <p:sp>
        <p:nvSpPr>
          <p:cNvPr id="6" name="text-5"/>
          <p:cNvSpPr txBox="1"/>
          <p:nvPr/>
        </p:nvSpPr>
        <p:spPr>
          <a:xfrm>
            <a:off x="457200" y="951458"/>
            <a:ext cx="6300216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80"/>
              </a:lnSpc>
              <a:buNone/>
            </a:pPr>
            <a:r>
              <a:rPr lang="en-US" sz="4200" b="1" spc="-150" kern="0" dirty="0">
                <a:solidFill>
                  <a:srgbClr val="0A0A0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Коротко</a:t>
            </a:r>
            <a:endParaRPr lang="en-US" sz="4200" dirty="0"/>
          </a:p>
        </p:txBody>
      </p:sp>
      <p:sp>
        <p:nvSpPr>
          <p:cNvPr id="7" name="text-6"/>
          <p:cNvSpPr txBox="1"/>
          <p:nvPr/>
        </p:nvSpPr>
        <p:spPr>
          <a:xfrm>
            <a:off x="338328" y="2413000"/>
            <a:ext cx="6181344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700"/>
              </a:lnSpc>
              <a:buNone/>
            </a:pPr>
            <a:r>
              <a:rPr lang="en-US" sz="13000" i="1" spc="-520" kern="0" dirty="0">
                <a:solidFill>
                  <a:srgbClr val="0A0A0A"/>
                </a:solidFill>
                <a:latin typeface="Noto Serif Display Light" pitchFamily="34" charset="0"/>
                <a:ea typeface="Noto Serif Display Light" pitchFamily="34" charset="-122"/>
                <a:cs typeface="Noto Serif Display Light" pitchFamily="34" charset="-120"/>
              </a:rPr>
              <a:t>1560</a:t>
            </a:r>
            <a:endParaRPr lang="en-US" sz="13000" dirty="0"/>
          </a:p>
        </p:txBody>
      </p:sp>
      <p:sp>
        <p:nvSpPr>
          <p:cNvPr id="8" name="text-7"/>
          <p:cNvSpPr txBox="1"/>
          <p:nvPr/>
        </p:nvSpPr>
        <p:spPr>
          <a:xfrm>
            <a:off x="338328" y="4065240"/>
            <a:ext cx="6181344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B2A2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Две сдачи, лучший Reading &amp; Writing из одной и лучший Math из другой. В США это обычная практика. В НУ считают одну сдачу.</a:t>
            </a:r>
            <a:endParaRPr lang="en-US" sz="1600" dirty="0"/>
          </a:p>
        </p:txBody>
      </p:sp>
      <p:pic>
        <p:nvPicPr>
          <p:cNvPr id="9" name="svg-8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6600" y="2667000"/>
            <a:ext cx="279400" cy="279400"/>
          </a:xfrm>
          <a:prstGeom prst="rect">
            <a:avLst/>
          </a:prstGeom>
        </p:spPr>
      </p:pic>
      <p:pic>
        <p:nvPicPr>
          <p:cNvPr id="10" name="svg-9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" y="7302500"/>
            <a:ext cx="190500" cy="190500"/>
          </a:xfrm>
          <a:prstGeom prst="rect">
            <a:avLst/>
          </a:prstGeom>
        </p:spPr>
      </p:pic>
      <p:sp>
        <p:nvSpPr>
          <p:cNvPr id="11" name="text-10"/>
          <p:cNvSpPr txBox="1"/>
          <p:nvPr/>
        </p:nvSpPr>
        <p:spPr>
          <a:xfrm>
            <a:off x="457845" y="8045450"/>
            <a:ext cx="8952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140" kern="0" dirty="0">
                <a:solidFill>
                  <a:srgbClr val="0A0A0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@NURZYCOM</a:t>
            </a:r>
            <a:endParaRPr lang="en-US" sz="1000" dirty="0"/>
          </a:p>
        </p:txBody>
      </p:sp>
      <p:sp>
        <p:nvSpPr>
          <p:cNvPr id="12" name="shape-11"/>
          <p:cNvSpPr/>
          <p:nvPr/>
        </p:nvSpPr>
        <p:spPr>
          <a:xfrm rot="-180000">
            <a:off x="815975" y="6096000"/>
            <a:ext cx="5226050" cy="48260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/>
          <a:effectLst>
            <a:outerShdw sx="100000" sy="100000" kx="0" ky="0" algn="bl" rotWithShape="0" blurRad="177800" dist="76200" dir="5400000">
              <a:srgbClr val="000000">
                <a:alpha val="22000"/>
              </a:srgbClr>
            </a:outerShdw>
          </a:effectLst>
        </p:spPr>
      </p:sp>
      <p:sp>
        <p:nvSpPr>
          <p:cNvPr id="13" name="text-12"/>
          <p:cNvSpPr txBox="1"/>
          <p:nvPr/>
        </p:nvSpPr>
        <p:spPr>
          <a:xfrm rot="-180000">
            <a:off x="993775" y="6197600"/>
            <a:ext cx="5162677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spc="-20" kern="0" dirty="0">
                <a:solidFill>
                  <a:srgbClr val="FAF8F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сохрани и отправь другу, который пересдаёт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is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is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Я отказался от 170 000 000 ₸</dc:title>
  <dc:subject>PptxGenJS Presentation</dc:subject>
  <dc:creator>PptxGenJS</dc:creator>
  <cp:lastModifiedBy>PptxGenJS</cp:lastModifiedBy>
  <cp:revision>1</cp:revision>
  <dcterms:created xsi:type="dcterms:W3CDTF">2026-10-20T12:13:43Z</dcterms:created>
  <dcterms:modified xsi:type="dcterms:W3CDTF">2026-10-20T12:13:43Z</dcterms:modified>
</cp:coreProperties>
</file>